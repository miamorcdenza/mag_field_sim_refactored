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0" r:id="rId2"/>
  </p:sldMasterIdLst>
  <p:notesMasterIdLst>
    <p:notesMasterId r:id="rId28"/>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Lst>
  <p:sldSz cx="12192000" cy="6858000"/>
  <p:notesSz cx="6858000" cy="9144000"/>
  <p:defaultTex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L="457200"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L="914400"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L="1371600"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L="1828800"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L="2286000"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L="2743200"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L="3200400"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L="3657600"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620" userDrawn="1">
          <p15:clr>
            <a:srgbClr val="747775"/>
          </p15:clr>
        </p15:guide>
        <p15:guide id="2" pos="2880"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howGuides="1">
      <p:cViewPr varScale="1">
        <p:scale>
          <a:sx n="63" d="100"/>
          <a:sy n="63" d="100"/>
        </p:scale>
        <p:origin x="740" y="64"/>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08.06.2026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大家好，欢迎参加本次科研训练汇报。今天我将为大家分享我们关于“带电粒子在地球磁场中的运动”这一课题的研究成果。我们将从基本的物理理论出发，逐步深入到复杂的运动模式，并展示如何通过现代计算技术进行精确的仿真模拟。希望通过这次汇报，能让大家对这个看不见的宇宙剧场有更深刻的理解。</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本次汇报将分为五个部分。首先，我们将介绍研究的背景和相关的核心物理现象。接着，深入探讨支配粒子运动的理论基础。然后，我们会展示我们采用的研究方法和仿真项目架构。之后，将重点分析仿真结果并进行可视化展示。最后，对整个研究进行总结并对未来工作进行展望。</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现在，让我们进入第一部分：研究背景与核心现象。在这一章，我们将了解为什么研究带电粒子在地球磁场中的运动如此重要，以及这些运动在自然界中表现出的壮观景象。</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我们的地球被一层无形而强大的力量所笼罩——地球磁场。它就像一个巨大的保护罩，保护我们免受太阳风和宇宙射线的侵袭。这些高能粒子是宇宙的信使，而它们在地球磁场中的运动，正是我们研究的核心。这项研究不仅是空间物理学的基础，更直接关系到我们的现代科技安全和未来的深空探索。</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些粒子的运动并非杂乱无章，而是形成了一些非常著名的现象。比如，范艾伦辐射带，这是被地球磁场囚禁的高能粒子“监狱”。还有我们熟知的极光，那是粒子与大气碰撞的火花。此外，这些粒子的漂移还会形成环电流，影响地球的磁场环境。这些都是我们研究中需要解释和模拟的核心现象。</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接下来，我们将进入第二部分，深入探讨支配这些粒子运动的无形之手——也就是背后的物理理论基础。我们将从最基本的洛伦兹力开始，逐步揭示粒子运动的复杂规律。</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支配带电粒子在磁场中运动的根本法则是洛伦兹力。其公式为 F = q(v × B)。这个公式告诉我们两件非常重要的事情：首先，这个力的方向总是垂直于粒子的运动方向；其次，因为力与运动方向垂直，所以洛伦兹力永远不做功，它只改变粒子的运动方向，而不改变其速度大小。这是理解后续所有运动形式的基础。</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在一个理想的均匀磁场中，我们可以把粒子的运动分解成两个部分。第一部分是沿着磁力线方向的匀速直线运动，因为在这个方向上没有力的作用。第二部分是垂直于磁力线方向的匀速圆周运动，这是由洛伦兹力提供向心力导致的，我们称之为回旋运动。为了简化分析，我们通常关注回旋圆周的圆心，也就是“引导中心”的运动。</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在第8页我们知道，粒子垂直于磁场的运动是匀速圆周运动。那么这个圆周的半径和频率是如何确定的呢？这一页我们就来做详细推导。核心原理非常简单：洛伦兹力提供了圆周运动所需的向心力。我们将洛伦兹力的公式和向心力的公式联立，就可以解出回旋半径的表达式。它和粒子的动量成正比，和磁场强度成反比。再结合圆周运动的角速度公式，我们就能得到回旋频率。这个推导完美地连接了第8页的物理图像和第9页的关键参数。</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回旋运动有几个关键参数。首先是回旋半径，它决定了粒子转圈的大小，能量越高的粒子转的圈越大。其次是回旋频率，即粒子每秒转多少圈，这个频率只和粒子本身以及磁场强度有关。最后是磁矩，这是一个非常重要的守恒量，它在解释磁镜效应时扮演着关键角色。</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地球磁场并非均匀，而是像一个两头收紧的瓶子。当带电粒子从磁场较弱的赤道向磁场较强的两极运动时，会发生一种有趣的现象——磁镜效应。由于磁矩守恒，粒子在磁场强的地方，其垂直方向的动能会增加，平行方向的动能会减少。当平行动能减到零时，粒子就会被“反弹”回来，就像光遇到镜子一样。正是这种来回的弹跳，将粒子困在了地球磁场中。</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除了弹跳，粒子的引导中心还会在垂直于磁场的方向上缓慢移动，这就是漂移。主要有两种漂移：一种是因为磁场强度不均匀导致的梯度漂移；另一种是因为磁力线本身是弯曲的导致的曲率漂移。有趣的是，这两种漂移的方向都和粒子的电荷有关，正电荷和负电荷会向相反的方向漂移，这就形成了环绕地球的电流。</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理论部分就介绍到这里。接下来，我们将进入第三部分，看看如何将这些理论转化为实际的仿真工具。我们将介绍我们的研究方法和项目架构。</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在我们的研究过程中，我们主要使用了两款AI工具：豆包和DeepSeek Coder。豆包在理解我们的研究背景和需求方面表现出色，尤其擅长将复杂的物理概念转化为易于理解的语言。而DeepSeek Coder则在代码生成和优化方面给予了我们巨大的帮助，特别是在重构C++后端和优化网络性能方面，它提供了关键的代码实现思路。两者各有优劣，结合使用可以最大化AI的辅助价值。</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为了高效地进行仿真，我们采用了前后端分离的架构。后端使用C++语言，负责最核心的物理计算，比如求解粒子的运动轨迹，我们使用了高精度的四阶龙格-库塔法，并且通过并行计算来加快速度。前端则基于Web技术，负责提供一个友好的用户界面，让我们可以方便地调整参数，并实时看到三维的仿真结果。</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在与AI的互动中，我们深入讨论了性能优化和架构演进的问题。AI帮助我们分析了当前仿真器在处理大量粒子时的性能瓶颈，并提出了使用`InstancedMesh`进行实例化渲染的优化方案。同时，我们还探讨了将后端从Python混合架构重构为纯C++的可行性，并分析了其中涉及的技术挑战，特别是对`geopack`库的依赖问题。</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在后续的互动中，我们聚焦于实际的问题排查和解决方案。AI指导我们如何使用PyInstaller将项目打包成独立的EXE文件，以实现“免配置”运行，并帮助我们解决了打包过程中遇到的文件缺失问题。此外，我们还一起排查了粒子生成后位置不动的bug，并通过修改代码成功修复了边界条件和粒子重生的逻辑。</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最后，我们对整个研究过程进行了总结和展示。首先，我们深入解析了仿真中出现的阿尔芬层不对称性这一重要物理现象。接着，我们展示了实现这一切的核心代码，包括粒子的生成逻辑和关键的Boris步进器算法。这些代码是整个仿真器能够准确模拟粒子运动的基础。</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我们仿真的核心算法是四阶龙格-库塔法，也就是RK4。这是一种高精度的数值积分方法，能确保我们计算出的粒子轨迹足够准确和稳定。同时，我们的交互界面设计也借鉴了先进的理念，就像这张图展示的一样，用户可以通过滑块实时调整各种参数，比如粒子的能量、投掷角等，并立刻看到结果的变化，非常直观。</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理论和方法都准备好了，现在让我们看看实际的仿真结果。第四部分，我们将对仿真结果进行分析和可视化展示。</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就是我们仿真得到的结果。大家可以看到，图中每一条彩色的线都代表一个带电粒子的运动轨迹。从细节上看，轨迹是螺旋状的，这对应着快速的回旋运动。从整体上看，粒子在两极之间来回弹跳，并且整体上绕着地球漂移，形成了类似范艾伦辐射带的结构。这完美地复现了我们之前讨论的所有物理现象。</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静态的结果图很直观，但交互式的探索更能加深理解。在第五部分，我们将展示如何通过动态交互来探索不同参数对粒子运动的影响。</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通过我们的交互界面，我们可以设计很多有趣的学习场景。比如，我们可以通过减小投掷角，观察粒子如何深入到更高纬度的区域，直观理解磁镜效应。我们也可以分别发射质子和电子，亲眼看到它们向相反的方向漂移。还可以调整粒子能量，观察回旋半径和运动范围的变化。这种“玩中学”的方式，让抽象的物理概念变得非常具体。</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最后，对本次研究进行总结。我们成功地模拟并解释了带电粒子在地球磁场中的回旋、弹跳和漂移运动，并揭示了磁镜效应对范艾伦辐射带形成的关键作用。当然，我们的模型还有局限，比如没有考虑更复杂的磁场环境。未来，我们计划引入更精确的模型，并探索多物理场耦合以及机器学习等前沿技术的应用，以期更深入地揭开空间的奥秘。</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我的汇报到此结束，感谢大家的聆听！</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标题幻灯片" type="title">
  <p:cSld name="TITLE">
    <p:spTree>
      <p:nvGrpSpPr>
        <p:cNvPr id="1" name="Shape 11"/>
        <p:cNvGrpSpPr/>
        <p:nvPr/>
      </p:nvGrpSpPr>
      <p:grpSpPr>
        <a:xfrm>
          <a:off x="0" y="0"/>
          <a:ext cx="0" cy="0"/>
          <a:chOff x="0" y="0"/>
          <a:chExt cx="0" cy="0"/>
        </a:xfrm>
      </p:grpSpPr>
      <p:sp>
        <p:nvSpPr>
          <p:cNvPr id="12" name="Shape 30"/>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3" name="Shape 31"/>
          <p:cNvSpPr txBox="1">
            <a:spLocks noGrp="1"/>
          </p:cNvSpPr>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a:p>
        </p:txBody>
      </p:sp>
      <p:sp>
        <p:nvSpPr>
          <p:cNvPr id="14" name="Shape 3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5" name="Shape 3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6" name="Shape 3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标题和内容" type="obj">
  <p:cSld name="OBJECT">
    <p:spTree>
      <p:nvGrpSpPr>
        <p:cNvPr id="1" name="Shape 17"/>
        <p:cNvGrpSpPr/>
        <p:nvPr/>
      </p:nvGrpSpPr>
      <p:grpSpPr>
        <a:xfrm>
          <a:off x="0" y="0"/>
          <a:ext cx="0" cy="0"/>
          <a:chOff x="0" y="0"/>
          <a:chExt cx="0" cy="0"/>
        </a:xfrm>
      </p:grpSpPr>
      <p:sp>
        <p:nvSpPr>
          <p:cNvPr id="18" name="Shape 54"/>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9" name="Shape 55"/>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0" name="Shape 5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1" name="Shape 5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2" name="Shape 5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节标题" type="secHead">
  <p:cSld name="SECTION_HEADER">
    <p:spTree>
      <p:nvGrpSpPr>
        <p:cNvPr id="1" name="Shape 23"/>
        <p:cNvGrpSpPr/>
        <p:nvPr/>
      </p:nvGrpSpPr>
      <p:grpSpPr>
        <a:xfrm>
          <a:off x="0" y="0"/>
          <a:ext cx="0" cy="0"/>
          <a:chOff x="0" y="0"/>
          <a:chExt cx="0" cy="0"/>
        </a:xfrm>
      </p:grpSpPr>
      <p:sp>
        <p:nvSpPr>
          <p:cNvPr id="24" name="Shape 59"/>
          <p:cNvSpPr txBox="1">
            <a:spLocks noGrp="1"/>
          </p:cNvSpPr>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25" name="Shape 60"/>
          <p:cNvSpPr txBox="1">
            <a:spLocks noGrp="1"/>
          </p:cNvSpPr>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a:endParaRPr/>
          </a:p>
        </p:txBody>
      </p:sp>
      <p:sp>
        <p:nvSpPr>
          <p:cNvPr id="26" name="Shape 6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7" name="Shape 6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8" name="Shape 6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两栏内容" type="twoObj">
  <p:cSld name="TWO_OBJECTS">
    <p:spTree>
      <p:nvGrpSpPr>
        <p:cNvPr id="1" name="Shape 29"/>
        <p:cNvGrpSpPr/>
        <p:nvPr/>
      </p:nvGrpSpPr>
      <p:grpSpPr>
        <a:xfrm>
          <a:off x="0" y="0"/>
          <a:ext cx="0" cy="0"/>
          <a:chOff x="0" y="0"/>
          <a:chExt cx="0" cy="0"/>
        </a:xfrm>
      </p:grpSpPr>
      <p:sp>
        <p:nvSpPr>
          <p:cNvPr id="30" name="Shape 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1" name="Shape 10"/>
          <p:cNvSpPr txBox="1">
            <a:spLocks noGrp="1"/>
          </p:cNvSpPr>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2" name="Shape 11"/>
          <p:cNvSpPr txBox="1">
            <a:spLocks noGrp="1"/>
          </p:cNvSpPr>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3" name="Shape 1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4" name="Shape 1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5" name="Shape 1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比较" type="twoTxTwoObj">
  <p:cSld name="TWO_OBJECTS_WITH_TEXT">
    <p:spTree>
      <p:nvGrpSpPr>
        <p:cNvPr id="1" name="Shape 36"/>
        <p:cNvGrpSpPr/>
        <p:nvPr/>
      </p:nvGrpSpPr>
      <p:grpSpPr>
        <a:xfrm>
          <a:off x="0" y="0"/>
          <a:ext cx="0" cy="0"/>
          <a:chOff x="0" y="0"/>
          <a:chExt cx="0" cy="0"/>
        </a:xfrm>
      </p:grpSpPr>
      <p:sp>
        <p:nvSpPr>
          <p:cNvPr id="37" name="Shape 35"/>
          <p:cNvSpPr txBox="1">
            <a:spLocks noGrp="1"/>
          </p:cNvSpPr>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8" name="Shape 36"/>
          <p:cNvSpPr txBox="1">
            <a:spLocks noGrp="1"/>
          </p:cNvSpPr>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39" name="Shape 37"/>
          <p:cNvSpPr txBox="1">
            <a:spLocks noGrp="1"/>
          </p:cNvSpPr>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0" name="Shape 38"/>
          <p:cNvSpPr txBox="1">
            <a:spLocks noGrp="1"/>
          </p:cNvSpPr>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41" name="Shape 39"/>
          <p:cNvSpPr txBox="1">
            <a:spLocks noGrp="1"/>
          </p:cNvSpPr>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2" name="Shape 40"/>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3" name="Shape 41"/>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4" name="Shape 42"/>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仅标题" type="titleOnly">
  <p:cSld name="TITLE_ONLY">
    <p:spTree>
      <p:nvGrpSpPr>
        <p:cNvPr id="1" name="Shape 45"/>
        <p:cNvGrpSpPr/>
        <p:nvPr/>
      </p:nvGrpSpPr>
      <p:grpSpPr>
        <a:xfrm>
          <a:off x="0" y="0"/>
          <a:ext cx="0" cy="0"/>
          <a:chOff x="0" y="0"/>
          <a:chExt cx="0" cy="0"/>
        </a:xfrm>
      </p:grpSpPr>
      <p:sp>
        <p:nvSpPr>
          <p:cNvPr id="46" name="Shape 20"/>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47" name="Shape 2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8" name="Shape 2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9" name="Shape 2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空白" type="blank">
  <p:cSld name="BLANK">
    <p:spTree>
      <p:nvGrpSpPr>
        <p:cNvPr id="1" name="Shape 50"/>
        <p:cNvGrpSpPr/>
        <p:nvPr/>
      </p:nvGrpSpPr>
      <p:grpSpPr>
        <a:xfrm>
          <a:off x="0" y="0"/>
          <a:ext cx="0" cy="0"/>
          <a:chOff x="0" y="0"/>
          <a:chExt cx="0" cy="0"/>
        </a:xfrm>
      </p:grpSpPr>
      <p:sp>
        <p:nvSpPr>
          <p:cNvPr id="51" name="Shape 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2" name="Shape 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3" name="Shape 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内容与标题" type="objTx">
  <p:cSld name="OBJECT_WITH_CAPTION_TEXT">
    <p:spTree>
      <p:nvGrpSpPr>
        <p:cNvPr id="1" name="Shape 54"/>
        <p:cNvGrpSpPr/>
        <p:nvPr/>
      </p:nvGrpSpPr>
      <p:grpSpPr>
        <a:xfrm>
          <a:off x="0" y="0"/>
          <a:ext cx="0" cy="0"/>
          <a:chOff x="0" y="0"/>
          <a:chExt cx="0" cy="0"/>
        </a:xfrm>
      </p:grpSpPr>
      <p:sp>
        <p:nvSpPr>
          <p:cNvPr id="55" name="Shape 43"/>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56" name="Shape 44"/>
          <p:cNvSpPr txBox="1">
            <a:spLocks noGrp="1"/>
          </p:cNvSpPr>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a:endParaRPr/>
          </a:p>
        </p:txBody>
      </p:sp>
      <p:sp>
        <p:nvSpPr>
          <p:cNvPr id="57" name="Shape 45"/>
          <p:cNvSpPr txBox="1">
            <a:spLocks noGrp="1"/>
          </p:cNvSpPr>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58" name="Shape 4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9" name="Shape 4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0" name="Shape 4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图片与标题" type="picTx">
  <p:cSld name="PICTURE_WITH_CAPTION_TEXT">
    <p:spTree>
      <p:nvGrpSpPr>
        <p:cNvPr id="1" name="Shape 61"/>
        <p:cNvGrpSpPr/>
        <p:nvPr/>
      </p:nvGrpSpPr>
      <p:grpSpPr>
        <a:xfrm>
          <a:off x="0" y="0"/>
          <a:ext cx="0" cy="0"/>
          <a:chOff x="0" y="0"/>
          <a:chExt cx="0" cy="0"/>
        </a:xfrm>
      </p:grpSpPr>
      <p:sp>
        <p:nvSpPr>
          <p:cNvPr id="62" name="Shape 24"/>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63" name="Shape 25"/>
          <p:cNvSpPr>
            <a:spLocks noGrp="1"/>
          </p:cNvSpPr>
          <p:nvPr>
            <p:ph type="pic" idx="2"/>
          </p:nvPr>
        </p:nvSpPr>
        <p:spPr>
          <a:xfrm>
            <a:off x="3887391" y="740569"/>
            <a:ext cx="4629150" cy="3655219"/>
          </a:xfrm>
          <a:prstGeom prst="rect">
            <a:avLst/>
          </a:prstGeom>
          <a:noFill/>
          <a:ln>
            <a:noFill/>
          </a:ln>
        </p:spPr>
      </p:sp>
      <p:sp>
        <p:nvSpPr>
          <p:cNvPr id="64" name="Shape 26"/>
          <p:cNvSpPr txBox="1">
            <a:spLocks noGrp="1"/>
          </p:cNvSpPr>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65" name="Shape 2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6" name="Shape 2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7" name="Shape 2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标题和竖排文字" type="vertTx">
  <p:cSld name="VERTICAL_TEXT">
    <p:spTree>
      <p:nvGrpSpPr>
        <p:cNvPr id="1" name="Shape 68"/>
        <p:cNvGrpSpPr/>
        <p:nvPr/>
      </p:nvGrpSpPr>
      <p:grpSpPr>
        <a:xfrm>
          <a:off x="0" y="0"/>
          <a:ext cx="0" cy="0"/>
          <a:chOff x="0" y="0"/>
          <a:chExt cx="0" cy="0"/>
        </a:xfrm>
      </p:grpSpPr>
      <p:sp>
        <p:nvSpPr>
          <p:cNvPr id="69" name="Shape 4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0" name="Shape 50"/>
          <p:cNvSpPr txBox="1">
            <a:spLocks noGrp="1"/>
          </p:cNvSpPr>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1" name="Shape 5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2" name="Shape 5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3" name="Shape 5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竖排标题与文本" type="vertTitleAndTx">
  <p:cSld name="VERTICAL_TITLE_AND_VERTICAL_TEXT">
    <p:spTree>
      <p:nvGrpSpPr>
        <p:cNvPr id="1" name="Shape 74"/>
        <p:cNvGrpSpPr/>
        <p:nvPr/>
      </p:nvGrpSpPr>
      <p:grpSpPr>
        <a:xfrm>
          <a:off x="0" y="0"/>
          <a:ext cx="0" cy="0"/>
          <a:chOff x="0" y="0"/>
          <a:chExt cx="0" cy="0"/>
        </a:xfrm>
      </p:grpSpPr>
      <p:sp>
        <p:nvSpPr>
          <p:cNvPr id="75" name="Shape 15"/>
          <p:cNvSpPr txBox="1">
            <a:spLocks noGrp="1"/>
          </p:cNvSpPr>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6" name="Shape 16"/>
          <p:cNvSpPr txBox="1">
            <a:spLocks noGrp="1"/>
          </p:cNvSpPr>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7" name="Shape 1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8" name="Shape 1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9" name="Shape 1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Shape 1"/>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panose="020B0604020202020204"/>
              <a:buNone/>
              <a:defRPr sz="33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a:p>
        </p:txBody>
      </p:sp>
      <p:sp>
        <p:nvSpPr>
          <p:cNvPr id="7" name="Shape 2"/>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panose="020B0604020202020204"/>
              <a:buChar char="•"/>
              <a:defRPr sz="21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342900" algn="l" rtl="0">
              <a:lnSpc>
                <a:spcPct val="90000"/>
              </a:lnSpc>
              <a:spcBef>
                <a:spcPts val="4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323850" algn="l" rtl="0">
              <a:lnSpc>
                <a:spcPct val="90000"/>
              </a:lnSpc>
              <a:spcBef>
                <a:spcPts val="400"/>
              </a:spcBef>
              <a:spcAft>
                <a:spcPts val="0"/>
              </a:spcAft>
              <a:buClr>
                <a:schemeClr val="dk1"/>
              </a:buClr>
              <a:buSzPts val="1500"/>
              <a:buFont typeface="Arial" panose="020B0604020202020204"/>
              <a:buChar char="•"/>
              <a:defRPr sz="15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endParaRPr/>
          </a:p>
        </p:txBody>
      </p:sp>
      <p:sp>
        <p:nvSpPr>
          <p:cNvPr id="8" name="Shape 3"/>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endParaRPr/>
          </a:p>
        </p:txBody>
      </p:sp>
      <p:sp>
        <p:nvSpPr>
          <p:cNvPr id="9" name="Shape 4"/>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endParaRPr/>
          </a:p>
        </p:txBody>
      </p:sp>
      <p:sp>
        <p:nvSpPr>
          <p:cNvPr id="10" name="Shape 5"/>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xml"/><Relationship Id="rId1" Type="http://schemas.openxmlformats.org/officeDocument/2006/relationships/slideLayout" Target="../slideLayouts/slideLayout12.xml"/><Relationship Id="rId5" Type="http://schemas.openxmlformats.org/officeDocument/2006/relationships/image" Target="../media/image4.jpe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xml"/><Relationship Id="rId1" Type="http://schemas.openxmlformats.org/officeDocument/2006/relationships/slideLayout" Target="../slideLayouts/slideLayout12.xml"/><Relationship Id="rId6" Type="http://schemas.openxmlformats.org/officeDocument/2006/relationships/image" Target="../media/image7.jpeg"/><Relationship Id="rId5" Type="http://schemas.openxmlformats.org/officeDocument/2006/relationships/image" Target="../media/image6.jpeg"/><Relationship Id="rId4" Type="http://schemas.openxmlformats.org/officeDocument/2006/relationships/image" Target="../media/image5.jpeg"/></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7.xml"/><Relationship Id="rId1" Type="http://schemas.openxmlformats.org/officeDocument/2006/relationships/slideLayout" Target="../slideLayouts/slideLayout12.xml"/><Relationship Id="rId4" Type="http://schemas.openxmlformats.org/officeDocument/2006/relationships/image" Target="../media/image8.jpeg"/></Relationships>
</file>

<file path=ppt/slides/_rels/slide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0.xml"/><Relationship Id="rId1" Type="http://schemas.openxmlformats.org/officeDocument/2006/relationships/slideLayout" Target="../slideLayouts/slideLayout12.xml"/><Relationship Id="rId4" Type="http://schemas.openxmlformats.org/officeDocument/2006/relationships/image" Target="../media/image9.jpeg"/></Relationships>
</file>

<file path=ppt/slides/_rels/slide1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1.xml"/><Relationship Id="rId1" Type="http://schemas.openxmlformats.org/officeDocument/2006/relationships/slideLayout" Target="../slideLayouts/slideLayout12.xml"/><Relationship Id="rId4" Type="http://schemas.openxmlformats.org/officeDocument/2006/relationships/image" Target="../media/image10.jpeg"/></Relationships>
</file>

<file path=ppt/slides/_rels/slide1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2.xml"/><Relationship Id="rId1" Type="http://schemas.openxmlformats.org/officeDocument/2006/relationships/slideLayout" Target="../slideLayouts/slideLayout12.xml"/><Relationship Id="rId4" Type="http://schemas.openxmlformats.org/officeDocument/2006/relationships/image" Target="../media/image11.jpeg"/></Relationships>
</file>

<file path=ppt/slides/_rels/slide1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8.xml"/><Relationship Id="rId1" Type="http://schemas.openxmlformats.org/officeDocument/2006/relationships/slideLayout" Target="../slideLayouts/slideLayout12.xml"/><Relationship Id="rId5" Type="http://schemas.openxmlformats.org/officeDocument/2006/relationships/image" Target="../media/image16.png"/><Relationship Id="rId4" Type="http://schemas.openxmlformats.org/officeDocument/2006/relationships/image" Target="../media/image15.png"/></Relationships>
</file>

<file path=ppt/slides/_rels/slide1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9.xml"/><Relationship Id="rId1" Type="http://schemas.openxmlformats.org/officeDocument/2006/relationships/slideLayout" Target="../slideLayouts/slideLayout12.xml"/><Relationship Id="rId4" Type="http://schemas.openxmlformats.org/officeDocument/2006/relationships/image" Target="../media/image17.png"/></Relationships>
</file>

<file path=ppt/slides/_rels/slide2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1.xml"/><Relationship Id="rId1" Type="http://schemas.openxmlformats.org/officeDocument/2006/relationships/slideLayout" Target="../slideLayouts/slideLayout12.xml"/><Relationship Id="rId4" Type="http://schemas.openxmlformats.org/officeDocument/2006/relationships/image" Target="../media/image18.png"/></Relationships>
</file>

<file path=ppt/slides/_rels/slide2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1016000" y="198755"/>
            <a:ext cx="10160000" cy="3434715"/>
          </a:xfrm>
          <a:prstGeom prst="rect">
            <a:avLst/>
          </a:prstGeom>
          <a:noFill/>
          <a:ln w="12700" cap="flat" cmpd="sng">
            <a:noFill/>
            <a:prstDash val="solid"/>
            <a:round/>
          </a:ln>
        </p:spPr>
        <p:txBody>
          <a:bodyPr vert="horz" wrap="square" lIns="0" tIns="0" rIns="0" bIns="0" rtlCol="0" anchor="ctr" anchorCtr="0"/>
          <a:lstStyle/>
          <a:p>
            <a:pPr marL="0" indent="0" algn="ctr">
              <a:lnSpc>
                <a:spcPct val="108000"/>
              </a:lnSpc>
              <a:defRPr/>
            </a:pPr>
            <a:r>
              <a:rPr lang="en-US" sz="40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带电粒子在地球磁场中的运动</a:t>
            </a:r>
            <a:endParaRPr lang="en-US" sz="1100"/>
          </a:p>
          <a:p>
            <a:pPr marL="0" indent="0" algn="ctr">
              <a:lnSpc>
                <a:spcPct val="108000"/>
              </a:lnSpc>
            </a:pPr>
            <a:r>
              <a:rPr lang="en-US" sz="28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从理论到仿真的科研训练汇报</a:t>
            </a:r>
          </a:p>
        </p:txBody>
      </p:sp>
      <p:sp>
        <p:nvSpPr>
          <p:cNvPr id="4" name="AutoShape 4"/>
          <p:cNvSpPr/>
          <p:nvPr/>
        </p:nvSpPr>
        <p:spPr>
          <a:xfrm>
            <a:off x="3665855" y="2862580"/>
            <a:ext cx="4335145" cy="2448560"/>
          </a:xfrm>
          <a:prstGeom prst="rect">
            <a:avLst/>
          </a:prstGeom>
          <a:noFill/>
          <a:ln w="12700" cap="flat" cmpd="sng">
            <a:noFill/>
            <a:prstDash val="solid"/>
            <a:round/>
          </a:ln>
        </p:spPr>
        <p:txBody>
          <a:bodyPr vert="horz" wrap="square" lIns="0" tIns="0" rIns="0" bIns="0" rtlCol="0" anchor="ctr" anchorCtr="0"/>
          <a:lstStyle/>
          <a:p>
            <a:pPr marL="0" indent="0" algn="ctr">
              <a:lnSpc>
                <a:spcPct val="100000"/>
              </a:lnSpc>
              <a:defRPr/>
            </a:pPr>
            <a:r>
              <a:rPr lang="zh-CN" altLang="en-US" sz="2800" b="1">
                <a:latin typeface="华文隶书" panose="02010800040101010101" charset="-122"/>
                <a:ea typeface="华文隶书" panose="02010800040101010101" charset="-122"/>
              </a:rPr>
              <a:t>小组成员介绍</a:t>
            </a:r>
          </a:p>
          <a:p>
            <a:pPr marL="0" indent="0" algn="ctr">
              <a:lnSpc>
                <a:spcPct val="100000"/>
              </a:lnSpc>
              <a:defRPr/>
            </a:pPr>
            <a:r>
              <a:rPr lang="zh-CN" altLang="en-US" sz="2400" b="1">
                <a:latin typeface="华文楷体" panose="02010600040101010101" charset="-122"/>
                <a:ea typeface="华文楷体" panose="02010600040101010101" charset="-122"/>
              </a:rPr>
              <a:t>汇报人：周海晨</a:t>
            </a:r>
          </a:p>
          <a:p>
            <a:pPr marL="0" indent="0" algn="ctr">
              <a:lnSpc>
                <a:spcPct val="100000"/>
              </a:lnSpc>
              <a:defRPr/>
            </a:pPr>
            <a:r>
              <a:rPr lang="zh-CN" altLang="en-US" sz="2400" b="1">
                <a:latin typeface="华文楷体" panose="02010600040101010101" charset="-122"/>
                <a:ea typeface="华文楷体" panose="02010600040101010101" charset="-122"/>
              </a:rPr>
              <a:t>模型设计及</a:t>
            </a:r>
            <a:r>
              <a:rPr lang="en-US" altLang="zh-CN" sz="2400" b="1">
                <a:latin typeface="华文楷体" panose="02010600040101010101" charset="-122"/>
                <a:ea typeface="华文楷体" panose="02010600040101010101" charset="-122"/>
              </a:rPr>
              <a:t>AI</a:t>
            </a:r>
            <a:r>
              <a:rPr lang="zh-CN" altLang="en-US" sz="2400" b="1">
                <a:latin typeface="华文楷体" panose="02010600040101010101" charset="-122"/>
                <a:ea typeface="华文楷体" panose="02010600040101010101" charset="-122"/>
              </a:rPr>
              <a:t>对话：徐铄博</a:t>
            </a:r>
          </a:p>
          <a:p>
            <a:pPr marL="0" indent="0" algn="ctr">
              <a:lnSpc>
                <a:spcPct val="100000"/>
              </a:lnSpc>
              <a:defRPr/>
            </a:pPr>
            <a:r>
              <a:rPr lang="zh-CN" altLang="en-US" sz="2400" b="1">
                <a:latin typeface="华文楷体" panose="02010600040101010101" charset="-122"/>
                <a:ea typeface="华文楷体" panose="02010600040101010101" charset="-122"/>
              </a:rPr>
              <a:t>资料整理及</a:t>
            </a:r>
            <a:r>
              <a:rPr lang="en-US" altLang="zh-CN" sz="2400" b="1">
                <a:latin typeface="华文楷体" panose="02010600040101010101" charset="-122"/>
                <a:ea typeface="华文楷体" panose="02010600040101010101" charset="-122"/>
              </a:rPr>
              <a:t>PPT</a:t>
            </a:r>
            <a:r>
              <a:rPr lang="zh-CN" altLang="en-US" sz="2400" b="1">
                <a:latin typeface="华文楷体" panose="02010600040101010101" charset="-122"/>
                <a:ea typeface="华文楷体" panose="02010600040101010101" charset="-122"/>
              </a:rPr>
              <a:t>制作：胥经佳</a:t>
            </a:r>
          </a:p>
          <a:p>
            <a:pPr marL="0" indent="0" algn="ctr">
              <a:lnSpc>
                <a:spcPct val="100000"/>
              </a:lnSpc>
              <a:defRPr/>
            </a:pPr>
            <a:r>
              <a:rPr lang="zh-CN" altLang="en-US" sz="2400" b="1">
                <a:latin typeface="华文楷体" panose="02010600040101010101" charset="-122"/>
                <a:ea typeface="华文楷体" panose="02010600040101010101" charset="-122"/>
              </a:rPr>
              <a:t>小组辅助：李雨函</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228600" y="177800"/>
            <a:ext cx="11747500" cy="6489700"/>
          </a:xfrm>
          <a:prstGeom prst="roundRect">
            <a:avLst>
              <a:gd name="adj" fmla="val 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4" name="Picture 4"/>
          <p:cNvPicPr>
            <a:picLocks noChangeAspect="1"/>
          </p:cNvPicPr>
          <p:nvPr/>
        </p:nvPicPr>
        <p:blipFill>
          <a:blip r:embed="rId4"/>
          <a:srcRect l="1825" r="1825"/>
          <a:stretch>
            <a:fillRect/>
          </a:stretch>
        </p:blipFill>
        <p:spPr>
          <a:xfrm>
            <a:off x="9994900" y="5575300"/>
            <a:ext cx="2197100" cy="1282700"/>
          </a:xfrm>
          <a:prstGeom prst="rect">
            <a:avLst/>
          </a:prstGeom>
          <a:noFill/>
          <a:ln w="25400" cap="flat" cmpd="sng">
            <a:noFill/>
            <a:prstDash val="solid"/>
            <a:round/>
          </a:ln>
        </p:spPr>
      </p:pic>
      <p:pic>
        <p:nvPicPr>
          <p:cNvPr id="5" name="Picture 5"/>
          <p:cNvPicPr>
            <a:picLocks noChangeAspect="1"/>
          </p:cNvPicPr>
          <p:nvPr/>
        </p:nvPicPr>
        <p:blipFill>
          <a:blip r:embed="rId4"/>
          <a:srcRect l="22702" r="22702"/>
          <a:stretch>
            <a:fillRect/>
          </a:stretch>
        </p:blipFill>
        <p:spPr>
          <a:xfrm>
            <a:off x="0" y="0"/>
            <a:ext cx="1257300" cy="1295400"/>
          </a:xfrm>
          <a:prstGeom prst="rect">
            <a:avLst/>
          </a:prstGeom>
          <a:noFill/>
          <a:ln w="25400" cap="flat" cmpd="sng">
            <a:noFill/>
            <a:prstDash val="solid"/>
            <a:round/>
          </a:ln>
        </p:spPr>
      </p:pic>
      <p:sp>
        <p:nvSpPr>
          <p:cNvPr id="6" name="AutoShape 6"/>
          <p:cNvSpPr/>
          <p:nvPr/>
        </p:nvSpPr>
        <p:spPr>
          <a:xfrm>
            <a:off x="762000" y="2667000"/>
            <a:ext cx="2362200" cy="457200"/>
          </a:xfrm>
          <a:prstGeom prst="rect">
            <a:avLst/>
          </a:prstGeom>
          <a:noFill/>
          <a:ln w="12700" cap="flat" cmpd="sng">
            <a:noFill/>
            <a:prstDash val="solid"/>
            <a:round/>
          </a:ln>
        </p:spPr>
        <p:txBody>
          <a:bodyPr vert="horz" wrap="square" lIns="0" tIns="0" rIns="0" bIns="0" rtlCol="0" anchor="t" anchorCtr="0"/>
          <a:lstStyle/>
          <a:p>
            <a:pPr marL="0" indent="0" algn="ctr">
              <a:lnSpc>
                <a:spcPct val="125000"/>
              </a:lnSpc>
              <a:defRPr/>
            </a:pPr>
            <a:r>
              <a:rPr lang="en-US" sz="2400" b="0" i="0" u="none" strike="noStrike">
                <a:solidFill>
                  <a:srgbClr val="000000"/>
                </a:solidFill>
                <a:latin typeface="Arial" panose="020B0604020202020204"/>
                <a:ea typeface="Arial" panose="020B0604020202020204"/>
                <a:cs typeface="Arial" panose="020B0604020202020204"/>
                <a:sym typeface="Arial" panose="020B0604020202020204"/>
              </a:rPr>
              <a:t>CONTENTS</a:t>
            </a:r>
            <a:endParaRPr lang="en-US" sz="1100"/>
          </a:p>
        </p:txBody>
      </p:sp>
      <p:sp>
        <p:nvSpPr>
          <p:cNvPr id="7" name="AutoShape 7"/>
          <p:cNvSpPr/>
          <p:nvPr/>
        </p:nvSpPr>
        <p:spPr>
          <a:xfrm>
            <a:off x="762000" y="3175000"/>
            <a:ext cx="2362200" cy="762000"/>
          </a:xfrm>
          <a:prstGeom prst="rect">
            <a:avLst/>
          </a:prstGeom>
          <a:noFill/>
          <a:ln w="12700" cap="flat" cmpd="sng">
            <a:noFill/>
            <a:prstDash val="solid"/>
            <a:round/>
          </a:ln>
        </p:spPr>
        <p:txBody>
          <a:bodyPr vert="horz" wrap="square" lIns="0" tIns="0" rIns="0" bIns="0" rtlCol="0" anchor="t" anchorCtr="0"/>
          <a:lstStyle/>
          <a:p>
            <a:pPr marL="0" indent="0" algn="ctr">
              <a:lnSpc>
                <a:spcPct val="100000"/>
              </a:lnSpc>
              <a:defRPr/>
            </a:pPr>
            <a:r>
              <a:rPr lang="en-US" sz="4500" b="1" i="0" u="none" strike="noStrike">
                <a:solidFill>
                  <a:srgbClr val="000000"/>
                </a:solidFill>
                <a:effectLst>
                  <a:outerShdw algn="tl" rotWithShape="0">
                    <a:srgbClr val="FFFFFF">
                      <a:alpha val="100000"/>
                    </a:srgbClr>
                  </a:outerShdw>
                </a:effectLst>
                <a:latin typeface="微软雅黑" panose="020B0503020204020204" charset="-122"/>
                <a:ea typeface="微软雅黑" panose="020B0503020204020204" charset="-122"/>
                <a:cs typeface="微软雅黑" panose="020B0503020204020204" charset="-122"/>
                <a:sym typeface="微软雅黑" panose="020B0503020204020204" charset="-122"/>
              </a:rPr>
              <a:t>目录</a:t>
            </a:r>
            <a:endParaRPr lang="en-US" sz="1100"/>
          </a:p>
        </p:txBody>
      </p:sp>
      <p:sp>
        <p:nvSpPr>
          <p:cNvPr id="8" name="AutoShape 8"/>
          <p:cNvSpPr/>
          <p:nvPr/>
        </p:nvSpPr>
        <p:spPr>
          <a:xfrm>
            <a:off x="4076700" y="1447800"/>
            <a:ext cx="596900" cy="508000"/>
          </a:xfrm>
          <a:prstGeom prst="rect">
            <a:avLst/>
          </a:prstGeom>
          <a:noFill/>
          <a:ln w="12700" cap="flat" cmpd="sng">
            <a:noFill/>
            <a:prstDash val="solid"/>
            <a:round/>
          </a:ln>
        </p:spPr>
        <p:txBody>
          <a:bodyPr vert="horz" wrap="none" lIns="0" tIns="0" rIns="0" bIns="0" rtlCol="0" anchor="ctr" anchorCtr="0"/>
          <a:lstStyle/>
          <a:p>
            <a:pPr marL="0" indent="0" algn="ctr">
              <a:lnSpc>
                <a:spcPct val="108000"/>
              </a:lnSpc>
              <a:defRPr/>
            </a:pPr>
            <a:r>
              <a:rPr lang="en-US" sz="4000" b="0" i="0" u="none" strike="noStrike">
                <a:solidFill>
                  <a:srgbClr val="023047"/>
                </a:solidFill>
                <a:latin typeface="Arial" panose="020B0604020202020204"/>
                <a:ea typeface="Arial" panose="020B0604020202020204"/>
                <a:cs typeface="Arial" panose="020B0604020202020204"/>
                <a:sym typeface="Arial" panose="020B0604020202020204"/>
              </a:rPr>
              <a:t>01</a:t>
            </a:r>
            <a:endParaRPr lang="en-US" sz="1100"/>
          </a:p>
        </p:txBody>
      </p:sp>
      <p:sp>
        <p:nvSpPr>
          <p:cNvPr id="9" name="AutoShape 9"/>
          <p:cNvSpPr/>
          <p:nvPr/>
        </p:nvSpPr>
        <p:spPr>
          <a:xfrm>
            <a:off x="4851400" y="1371600"/>
            <a:ext cx="25400" cy="762000"/>
          </a:xfrm>
          <a:prstGeom prst="roundRect">
            <a:avLst>
              <a:gd name="adj" fmla="val 0"/>
            </a:avLst>
          </a:prstGeom>
          <a:solidFill>
            <a:srgbClr val="023047">
              <a:alpha val="50000"/>
            </a:srgbClr>
          </a:solidFill>
          <a:ln w="25400" cap="flat" cmpd="sng">
            <a:noFill/>
            <a:prstDash val="solid"/>
            <a:round/>
          </a:ln>
        </p:spPr>
        <p:txBody>
          <a:bodyPr vert="horz" wrap="square" lIns="0" tIns="0" rIns="0" bIns="0" rtlCol="0" anchor="ctr" anchorCtr="0"/>
          <a:lstStyle/>
          <a:p>
            <a:pPr algn="ctr">
              <a:defRPr/>
            </a:pPr>
            <a:endParaRPr/>
          </a:p>
        </p:txBody>
      </p:sp>
      <p:sp>
        <p:nvSpPr>
          <p:cNvPr id="10" name="AutoShape 10"/>
          <p:cNvSpPr/>
          <p:nvPr/>
        </p:nvSpPr>
        <p:spPr>
          <a:xfrm>
            <a:off x="5080000" y="1295400"/>
            <a:ext cx="2324100" cy="9144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24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研究背景与核心现象</a:t>
            </a:r>
            <a:endParaRPr lang="en-US" sz="1100"/>
          </a:p>
        </p:txBody>
      </p:sp>
      <p:sp>
        <p:nvSpPr>
          <p:cNvPr id="11" name="AutoShape 11"/>
          <p:cNvSpPr/>
          <p:nvPr/>
        </p:nvSpPr>
        <p:spPr>
          <a:xfrm>
            <a:off x="8001000" y="1447800"/>
            <a:ext cx="596900" cy="508000"/>
          </a:xfrm>
          <a:prstGeom prst="rect">
            <a:avLst/>
          </a:prstGeom>
          <a:noFill/>
          <a:ln w="12700" cap="flat" cmpd="sng">
            <a:noFill/>
            <a:prstDash val="solid"/>
            <a:round/>
          </a:ln>
        </p:spPr>
        <p:txBody>
          <a:bodyPr vert="horz" wrap="none" lIns="0" tIns="0" rIns="0" bIns="0" rtlCol="0" anchor="ctr" anchorCtr="0"/>
          <a:lstStyle/>
          <a:p>
            <a:pPr marL="0" indent="0" algn="ctr">
              <a:lnSpc>
                <a:spcPct val="108000"/>
              </a:lnSpc>
              <a:defRPr/>
            </a:pPr>
            <a:r>
              <a:rPr lang="en-US" sz="4000" b="0" i="0" u="none" strike="noStrike">
                <a:solidFill>
                  <a:srgbClr val="023047"/>
                </a:solidFill>
                <a:latin typeface="Arial" panose="020B0604020202020204"/>
                <a:ea typeface="Arial" panose="020B0604020202020204"/>
                <a:cs typeface="Arial" panose="020B0604020202020204"/>
                <a:sym typeface="Arial" panose="020B0604020202020204"/>
              </a:rPr>
              <a:t>02</a:t>
            </a:r>
            <a:endParaRPr lang="en-US" sz="1100"/>
          </a:p>
        </p:txBody>
      </p:sp>
      <p:sp>
        <p:nvSpPr>
          <p:cNvPr id="12" name="AutoShape 12"/>
          <p:cNvSpPr/>
          <p:nvPr/>
        </p:nvSpPr>
        <p:spPr>
          <a:xfrm>
            <a:off x="8775700" y="1371600"/>
            <a:ext cx="25400" cy="762000"/>
          </a:xfrm>
          <a:prstGeom prst="roundRect">
            <a:avLst>
              <a:gd name="adj" fmla="val 0"/>
            </a:avLst>
          </a:prstGeom>
          <a:solidFill>
            <a:srgbClr val="023047">
              <a:alpha val="50000"/>
            </a:srgbClr>
          </a:solidFill>
          <a:ln w="25400" cap="flat" cmpd="sng">
            <a:noFill/>
            <a:prstDash val="solid"/>
            <a:round/>
          </a:ln>
        </p:spPr>
        <p:txBody>
          <a:bodyPr vert="horz" wrap="square" lIns="0" tIns="0" rIns="0" bIns="0" rtlCol="0" anchor="ctr" anchorCtr="0"/>
          <a:lstStyle/>
          <a:p>
            <a:pPr algn="ctr">
              <a:defRPr/>
            </a:pPr>
            <a:endParaRPr/>
          </a:p>
        </p:txBody>
      </p:sp>
      <p:sp>
        <p:nvSpPr>
          <p:cNvPr id="13" name="AutoShape 13"/>
          <p:cNvSpPr/>
          <p:nvPr/>
        </p:nvSpPr>
        <p:spPr>
          <a:xfrm>
            <a:off x="9004300" y="1295400"/>
            <a:ext cx="2324100" cy="9144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24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理论基础与物理规律</a:t>
            </a:r>
            <a:endParaRPr lang="en-US" sz="1100"/>
          </a:p>
        </p:txBody>
      </p:sp>
      <p:sp>
        <p:nvSpPr>
          <p:cNvPr id="14" name="AutoShape 14"/>
          <p:cNvSpPr/>
          <p:nvPr/>
        </p:nvSpPr>
        <p:spPr>
          <a:xfrm>
            <a:off x="4076700" y="3124200"/>
            <a:ext cx="596900" cy="508000"/>
          </a:xfrm>
          <a:prstGeom prst="rect">
            <a:avLst/>
          </a:prstGeom>
          <a:noFill/>
          <a:ln w="12700" cap="flat" cmpd="sng">
            <a:noFill/>
            <a:prstDash val="solid"/>
            <a:round/>
          </a:ln>
        </p:spPr>
        <p:txBody>
          <a:bodyPr vert="horz" wrap="none" lIns="0" tIns="0" rIns="0" bIns="0" rtlCol="0" anchor="ctr" anchorCtr="0"/>
          <a:lstStyle/>
          <a:p>
            <a:pPr marL="0" indent="0" algn="ctr">
              <a:lnSpc>
                <a:spcPct val="108000"/>
              </a:lnSpc>
              <a:defRPr/>
            </a:pPr>
            <a:r>
              <a:rPr lang="en-US" sz="4000" b="0" i="0" u="none" strike="noStrike">
                <a:solidFill>
                  <a:srgbClr val="023047"/>
                </a:solidFill>
                <a:latin typeface="Arial" panose="020B0604020202020204"/>
                <a:ea typeface="Arial" panose="020B0604020202020204"/>
                <a:cs typeface="Arial" panose="020B0604020202020204"/>
                <a:sym typeface="Arial" panose="020B0604020202020204"/>
              </a:rPr>
              <a:t>03</a:t>
            </a:r>
            <a:endParaRPr lang="en-US" sz="1100"/>
          </a:p>
        </p:txBody>
      </p:sp>
      <p:sp>
        <p:nvSpPr>
          <p:cNvPr id="15" name="AutoShape 15"/>
          <p:cNvSpPr/>
          <p:nvPr/>
        </p:nvSpPr>
        <p:spPr>
          <a:xfrm>
            <a:off x="4851400" y="3048000"/>
            <a:ext cx="25400" cy="762000"/>
          </a:xfrm>
          <a:prstGeom prst="roundRect">
            <a:avLst>
              <a:gd name="adj" fmla="val 0"/>
            </a:avLst>
          </a:prstGeom>
          <a:solidFill>
            <a:srgbClr val="023047">
              <a:alpha val="50000"/>
            </a:srgbClr>
          </a:solidFill>
          <a:ln w="25400" cap="flat" cmpd="sng">
            <a:noFill/>
            <a:prstDash val="solid"/>
            <a:round/>
          </a:ln>
        </p:spPr>
        <p:txBody>
          <a:bodyPr vert="horz" wrap="square" lIns="0" tIns="0" rIns="0" bIns="0" rtlCol="0" anchor="ctr" anchorCtr="0"/>
          <a:lstStyle/>
          <a:p>
            <a:pPr algn="ctr">
              <a:defRPr/>
            </a:pPr>
            <a:endParaRPr/>
          </a:p>
        </p:txBody>
      </p:sp>
      <p:sp>
        <p:nvSpPr>
          <p:cNvPr id="16" name="AutoShape 16"/>
          <p:cNvSpPr/>
          <p:nvPr/>
        </p:nvSpPr>
        <p:spPr>
          <a:xfrm>
            <a:off x="5080000" y="2971800"/>
            <a:ext cx="2324100" cy="9144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24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研究方法与仿真架构</a:t>
            </a:r>
            <a:endParaRPr lang="en-US" sz="1100"/>
          </a:p>
        </p:txBody>
      </p:sp>
      <p:sp>
        <p:nvSpPr>
          <p:cNvPr id="17" name="AutoShape 17"/>
          <p:cNvSpPr/>
          <p:nvPr/>
        </p:nvSpPr>
        <p:spPr>
          <a:xfrm>
            <a:off x="8001000" y="3124200"/>
            <a:ext cx="596900" cy="508000"/>
          </a:xfrm>
          <a:prstGeom prst="rect">
            <a:avLst/>
          </a:prstGeom>
          <a:noFill/>
          <a:ln w="12700" cap="flat" cmpd="sng">
            <a:noFill/>
            <a:prstDash val="solid"/>
            <a:round/>
          </a:ln>
        </p:spPr>
        <p:txBody>
          <a:bodyPr vert="horz" wrap="none" lIns="0" tIns="0" rIns="0" bIns="0" rtlCol="0" anchor="ctr" anchorCtr="0"/>
          <a:lstStyle/>
          <a:p>
            <a:pPr marL="0" indent="0" algn="ctr">
              <a:lnSpc>
                <a:spcPct val="108000"/>
              </a:lnSpc>
              <a:defRPr/>
            </a:pPr>
            <a:r>
              <a:rPr lang="en-US" sz="4000" b="0" i="0" u="none" strike="noStrike">
                <a:solidFill>
                  <a:srgbClr val="023047"/>
                </a:solidFill>
                <a:latin typeface="Arial" panose="020B0604020202020204"/>
                <a:ea typeface="Arial" panose="020B0604020202020204"/>
                <a:cs typeface="Arial" panose="020B0604020202020204"/>
                <a:sym typeface="Arial" panose="020B0604020202020204"/>
              </a:rPr>
              <a:t>04</a:t>
            </a:r>
            <a:endParaRPr lang="en-US" sz="1100"/>
          </a:p>
        </p:txBody>
      </p:sp>
      <p:sp>
        <p:nvSpPr>
          <p:cNvPr id="18" name="AutoShape 18"/>
          <p:cNvSpPr/>
          <p:nvPr/>
        </p:nvSpPr>
        <p:spPr>
          <a:xfrm>
            <a:off x="8775700" y="3048000"/>
            <a:ext cx="25400" cy="762000"/>
          </a:xfrm>
          <a:prstGeom prst="roundRect">
            <a:avLst>
              <a:gd name="adj" fmla="val 0"/>
            </a:avLst>
          </a:prstGeom>
          <a:solidFill>
            <a:srgbClr val="023047">
              <a:alpha val="50000"/>
            </a:srgbClr>
          </a:solidFill>
          <a:ln w="25400" cap="flat" cmpd="sng">
            <a:noFill/>
            <a:prstDash val="solid"/>
            <a:round/>
          </a:ln>
        </p:spPr>
        <p:txBody>
          <a:bodyPr vert="horz" wrap="square" lIns="0" tIns="0" rIns="0" bIns="0" rtlCol="0" anchor="ctr" anchorCtr="0"/>
          <a:lstStyle/>
          <a:p>
            <a:pPr algn="ctr">
              <a:defRPr/>
            </a:pPr>
            <a:endParaRPr/>
          </a:p>
        </p:txBody>
      </p:sp>
      <p:sp>
        <p:nvSpPr>
          <p:cNvPr id="19" name="AutoShape 19"/>
          <p:cNvSpPr/>
          <p:nvPr/>
        </p:nvSpPr>
        <p:spPr>
          <a:xfrm>
            <a:off x="9004300" y="2971800"/>
            <a:ext cx="2324100" cy="9144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24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结果分析与可视化</a:t>
            </a:r>
            <a:endParaRPr lang="en-US" sz="1100"/>
          </a:p>
        </p:txBody>
      </p:sp>
      <p:sp>
        <p:nvSpPr>
          <p:cNvPr id="20" name="AutoShape 20"/>
          <p:cNvSpPr/>
          <p:nvPr/>
        </p:nvSpPr>
        <p:spPr>
          <a:xfrm>
            <a:off x="4076700" y="4800600"/>
            <a:ext cx="596900" cy="508000"/>
          </a:xfrm>
          <a:prstGeom prst="rect">
            <a:avLst/>
          </a:prstGeom>
          <a:noFill/>
          <a:ln w="12700" cap="flat" cmpd="sng">
            <a:noFill/>
            <a:prstDash val="solid"/>
            <a:round/>
          </a:ln>
        </p:spPr>
        <p:txBody>
          <a:bodyPr vert="horz" wrap="none" lIns="0" tIns="0" rIns="0" bIns="0" rtlCol="0" anchor="ctr" anchorCtr="0"/>
          <a:lstStyle/>
          <a:p>
            <a:pPr marL="0" indent="0" algn="ctr">
              <a:lnSpc>
                <a:spcPct val="108000"/>
              </a:lnSpc>
              <a:defRPr/>
            </a:pPr>
            <a:r>
              <a:rPr lang="en-US" sz="4000" b="0" i="0" u="none" strike="noStrike">
                <a:solidFill>
                  <a:srgbClr val="023047"/>
                </a:solidFill>
                <a:latin typeface="Arial" panose="020B0604020202020204"/>
                <a:ea typeface="Arial" panose="020B0604020202020204"/>
                <a:cs typeface="Arial" panose="020B0604020202020204"/>
                <a:sym typeface="Arial" panose="020B0604020202020204"/>
              </a:rPr>
              <a:t>05</a:t>
            </a:r>
            <a:endParaRPr lang="en-US" sz="1100"/>
          </a:p>
        </p:txBody>
      </p:sp>
      <p:sp>
        <p:nvSpPr>
          <p:cNvPr id="21" name="AutoShape 21"/>
          <p:cNvSpPr/>
          <p:nvPr/>
        </p:nvSpPr>
        <p:spPr>
          <a:xfrm>
            <a:off x="4851400" y="4724400"/>
            <a:ext cx="25400" cy="762000"/>
          </a:xfrm>
          <a:prstGeom prst="roundRect">
            <a:avLst>
              <a:gd name="adj" fmla="val 0"/>
            </a:avLst>
          </a:prstGeom>
          <a:solidFill>
            <a:srgbClr val="023047">
              <a:alpha val="50000"/>
            </a:srgbClr>
          </a:solidFill>
          <a:ln w="25400" cap="flat" cmpd="sng">
            <a:noFill/>
            <a:prstDash val="solid"/>
            <a:round/>
          </a:ln>
        </p:spPr>
        <p:txBody>
          <a:bodyPr vert="horz" wrap="square" lIns="0" tIns="0" rIns="0" bIns="0" rtlCol="0" anchor="ctr" anchorCtr="0"/>
          <a:lstStyle/>
          <a:p>
            <a:pPr algn="ctr">
              <a:defRPr/>
            </a:pPr>
            <a:endParaRPr/>
          </a:p>
        </p:txBody>
      </p:sp>
      <p:sp>
        <p:nvSpPr>
          <p:cNvPr id="22" name="AutoShape 22"/>
          <p:cNvSpPr/>
          <p:nvPr/>
        </p:nvSpPr>
        <p:spPr>
          <a:xfrm>
            <a:off x="5080000" y="4648200"/>
            <a:ext cx="2324100" cy="9144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24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总结与未来展望</a:t>
            </a:r>
            <a:endParaRPr lang="en-US" sz="11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0"/>
            </a:srgbClr>
          </a:solidFill>
          <a:ln w="25400" cap="flat" cmpd="sng">
            <a:noFill/>
            <a:prstDash val="solid"/>
            <a:round/>
          </a:ln>
        </p:spPr>
        <p:txBody>
          <a:bodyPr vert="horz" wrap="square" lIns="0" tIns="0" rIns="0" bIns="0" rtlCol="0" anchor="ctr" anchorCtr="0"/>
          <a:lstStyle/>
          <a:p>
            <a:pPr algn="ctr">
              <a:defRPr/>
            </a:pPr>
            <a:endParaRPr/>
          </a:p>
        </p:txBody>
      </p:sp>
      <p:pic>
        <p:nvPicPr>
          <p:cNvPr id="3" name="Picture 3"/>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4" name="AutoShape 4"/>
          <p:cNvSpPr/>
          <p:nvPr/>
        </p:nvSpPr>
        <p:spPr>
          <a:xfrm>
            <a:off x="1016000" y="1905000"/>
            <a:ext cx="1524000" cy="1524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7200" b="1" i="0" u="none" strike="noStrike">
                <a:solidFill>
                  <a:srgbClr val="FFFFFF"/>
                </a:solidFill>
                <a:latin typeface="Arial" panose="020B0604020202020204"/>
                <a:ea typeface="Arial" panose="020B0604020202020204"/>
                <a:cs typeface="Arial" panose="020B0604020202020204"/>
                <a:sym typeface="Arial" panose="020B0604020202020204"/>
              </a:rPr>
              <a:t>01</a:t>
            </a:r>
            <a:endParaRPr lang="en-US" sz="1100"/>
          </a:p>
        </p:txBody>
      </p:sp>
      <p:sp>
        <p:nvSpPr>
          <p:cNvPr id="5" name="AutoShape 5"/>
          <p:cNvSpPr/>
          <p:nvPr/>
        </p:nvSpPr>
        <p:spPr>
          <a:xfrm>
            <a:off x="1016000" y="3530600"/>
            <a:ext cx="7620000" cy="1524000"/>
          </a:xfrm>
          <a:prstGeom prst="rect">
            <a:avLst/>
          </a:prstGeom>
          <a:noFill/>
          <a:ln w="12700" cap="flat" cmpd="sng">
            <a:noFill/>
            <a:prstDash val="solid"/>
            <a:round/>
          </a:ln>
        </p:spPr>
        <p:txBody>
          <a:bodyPr vert="horz" wrap="square" lIns="0" tIns="0" rIns="0" bIns="0" rtlCol="0" anchor="t" anchorCtr="0"/>
          <a:lstStyle/>
          <a:p>
            <a:pPr marL="0" indent="0" algn="l">
              <a:lnSpc>
                <a:spcPct val="100000"/>
              </a:lnSpc>
              <a:defRPr/>
            </a:pPr>
            <a:r>
              <a:rPr lang="en-US" sz="4800" b="0"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研究背景与核心现象</a:t>
            </a:r>
            <a:endParaRPr lang="en-US" sz="11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blipFill>
            <a:blip r:embed="rId3"/>
            <a:stretch>
              <a:fillRect/>
            </a:stretch>
          </a:blipFill>
          <a:ln w="25400" cap="flat" cmpd="sng">
            <a:noFill/>
            <a:prstDash val="solid"/>
            <a:round/>
          </a:ln>
        </p:spPr>
        <p:txBody>
          <a:bodyPr vert="horz" wrap="square" lIns="0" tIns="0" rIns="0" bIns="0" rtlCol="0" anchor="ctr" anchorCtr="0"/>
          <a:lstStyle/>
          <a:p>
            <a:pPr algn="ctr">
              <a:defRPr/>
            </a:pPr>
            <a:endParaRPr/>
          </a:p>
        </p:txBody>
      </p:sp>
      <p:sp>
        <p:nvSpPr>
          <p:cNvPr id="3" name="AutoShape 3"/>
          <p:cNvSpPr/>
          <p:nvPr/>
        </p:nvSpPr>
        <p:spPr>
          <a:xfrm>
            <a:off x="228600" y="177800"/>
            <a:ext cx="11747500" cy="6489700"/>
          </a:xfrm>
          <a:prstGeom prst="roundRect">
            <a:avLst>
              <a:gd name="adj" fmla="val 0"/>
            </a:avLst>
          </a:prstGeom>
          <a:solidFill>
            <a:srgbClr val="FFFFFF">
              <a:alpha val="0"/>
            </a:srgbClr>
          </a:solidFill>
          <a:ln w="25400" cap="flat" cmpd="sng">
            <a:noFill/>
            <a:prstDash val="solid"/>
            <a:round/>
          </a:ln>
        </p:spPr>
        <p:txBody>
          <a:bodyPr vert="horz" wrap="square" lIns="0" tIns="0" rIns="0" bIns="0" rtlCol="0" anchor="ctr" anchorCtr="0"/>
          <a:lstStyle/>
          <a:p>
            <a:pPr algn="ctr">
              <a:defRPr/>
            </a:pPr>
            <a:endParaRPr/>
          </a:p>
        </p:txBody>
      </p:sp>
      <p:pic>
        <p:nvPicPr>
          <p:cNvPr id="4" name="Picture 4"/>
          <p:cNvPicPr>
            <a:picLocks noChangeAspect="1"/>
          </p:cNvPicPr>
          <p:nvPr/>
        </p:nvPicPr>
        <p:blipFill>
          <a:blip r:embed="rId4"/>
          <a:srcRect l="1825" r="1825"/>
          <a:stretch>
            <a:fillRect/>
          </a:stretch>
        </p:blipFill>
        <p:spPr>
          <a:xfrm>
            <a:off x="9994900" y="5575300"/>
            <a:ext cx="2197100" cy="1282700"/>
          </a:xfrm>
          <a:prstGeom prst="rect">
            <a:avLst/>
          </a:prstGeom>
          <a:noFill/>
          <a:ln w="25400" cap="flat" cmpd="sng">
            <a:noFill/>
            <a:prstDash val="solid"/>
            <a:round/>
          </a:ln>
        </p:spPr>
      </p:pic>
      <p:pic>
        <p:nvPicPr>
          <p:cNvPr id="5" name="Picture 5"/>
          <p:cNvPicPr>
            <a:picLocks noChangeAspect="1"/>
          </p:cNvPicPr>
          <p:nvPr/>
        </p:nvPicPr>
        <p:blipFill>
          <a:blip r:embed="rId4"/>
          <a:srcRect l="22702" r="22702"/>
          <a:stretch>
            <a:fillRect/>
          </a:stretch>
        </p:blipFill>
        <p:spPr>
          <a:xfrm>
            <a:off x="0" y="0"/>
            <a:ext cx="1257300" cy="1295400"/>
          </a:xfrm>
          <a:prstGeom prst="rect">
            <a:avLst/>
          </a:prstGeom>
          <a:noFill/>
          <a:ln w="25400" cap="flat" cmpd="sng">
            <a:noFill/>
            <a:prstDash val="solid"/>
            <a:round/>
          </a:ln>
        </p:spPr>
      </p:pic>
      <p:sp>
        <p:nvSpPr>
          <p:cNvPr id="6" name="AutoShape 6"/>
          <p:cNvSpPr/>
          <p:nvPr/>
        </p:nvSpPr>
        <p:spPr>
          <a:xfrm>
            <a:off x="609600" y="533400"/>
            <a:ext cx="7391400" cy="609600"/>
          </a:xfrm>
          <a:prstGeom prst="rect">
            <a:avLst/>
          </a:prstGeom>
          <a:noFill/>
          <a:ln w="12700" cap="flat" cmpd="sng">
            <a:noFill/>
            <a:prstDash val="solid"/>
            <a:round/>
          </a:ln>
        </p:spPr>
        <p:txBody>
          <a:bodyPr vert="horz" wrap="square" lIns="0" tIns="0" rIns="0" bIns="0" rtlCol="0" anchor="t" anchorCtr="0"/>
          <a:lstStyle/>
          <a:p>
            <a:pPr marL="0" indent="0" algn="l">
              <a:lnSpc>
                <a:spcPct val="108000"/>
              </a:lnSpc>
              <a:defRPr/>
            </a:pPr>
            <a:r>
              <a:rPr lang="en-US" sz="3300" b="0" i="0" u="none" strike="noStrike">
                <a:solidFill>
                  <a:srgbClr val="000000"/>
                </a:solidFill>
                <a:effectLst>
                  <a:outerShdw algn="tl" rotWithShape="0">
                    <a:srgbClr val="FFFFFF">
                      <a:alpha val="100000"/>
                    </a:srgbClr>
                  </a:outerShdw>
                </a:effectLst>
                <a:latin typeface="微软雅黑" panose="020B0503020204020204" charset="-122"/>
                <a:ea typeface="微软雅黑" panose="020B0503020204020204" charset="-122"/>
                <a:cs typeface="微软雅黑" panose="020B0503020204020204" charset="-122"/>
                <a:sym typeface="微软雅黑" panose="020B0503020204020204" charset="-122"/>
              </a:rPr>
              <a:t>地球的隐形护盾与宇宙信使</a:t>
            </a:r>
            <a:endParaRPr lang="en-US" sz="1100"/>
          </a:p>
        </p:txBody>
      </p:sp>
      <p:pic>
        <p:nvPicPr>
          <p:cNvPr id="7" name="Picture 7"/>
          <p:cNvPicPr>
            <a:picLocks noChangeAspect="1"/>
          </p:cNvPicPr>
          <p:nvPr/>
        </p:nvPicPr>
        <p:blipFill>
          <a:blip r:embed="rId5"/>
          <a:srcRect l="15789" r="15789"/>
          <a:stretch>
            <a:fillRect/>
          </a:stretch>
        </p:blipFill>
        <p:spPr>
          <a:xfrm>
            <a:off x="8636000" y="1397000"/>
            <a:ext cx="3302000" cy="4826000"/>
          </a:xfrm>
          <a:prstGeom prst="rect">
            <a:avLst/>
          </a:prstGeom>
          <a:noFill/>
          <a:ln w="25400" cap="flat" cmpd="sng">
            <a:noFill/>
            <a:prstDash val="solid"/>
            <a:round/>
          </a:ln>
        </p:spPr>
      </p:pic>
      <p:sp>
        <p:nvSpPr>
          <p:cNvPr id="8" name="AutoShape 8"/>
          <p:cNvSpPr/>
          <p:nvPr/>
        </p:nvSpPr>
        <p:spPr>
          <a:xfrm>
            <a:off x="609600" y="1930400"/>
            <a:ext cx="50800" cy="1727200"/>
          </a:xfrm>
          <a:prstGeom prst="roundRect">
            <a:avLst>
              <a:gd name="adj" fmla="val 0"/>
            </a:avLst>
          </a:prstGeom>
          <a:solidFill>
            <a:srgbClr val="527AE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9" name="AutoShape 9"/>
          <p:cNvSpPr/>
          <p:nvPr/>
        </p:nvSpPr>
        <p:spPr>
          <a:xfrm>
            <a:off x="762000" y="1930400"/>
            <a:ext cx="3314700" cy="406400"/>
          </a:xfrm>
          <a:prstGeom prst="rect">
            <a:avLst/>
          </a:prstGeom>
          <a:noFill/>
          <a:ln w="12700" cap="flat" cmpd="sng">
            <a:noFill/>
            <a:prstDash val="solid"/>
            <a:round/>
          </a:ln>
        </p:spPr>
        <p:txBody>
          <a:bodyPr vert="horz" wrap="square" lIns="0" tIns="0" rIns="0" bIns="0" rtlCol="0" anchor="t" anchorCtr="0"/>
          <a:lstStyle/>
          <a:p>
            <a:pPr marL="0" indent="0" algn="l">
              <a:lnSpc>
                <a:spcPct val="108000"/>
              </a:lnSpc>
              <a:defRPr/>
            </a:pPr>
            <a:r>
              <a:rPr lang="en-US" sz="17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研究背景 - 宇宙信使与保护罩</a:t>
            </a:r>
            <a:endParaRPr lang="en-US" sz="1100"/>
          </a:p>
        </p:txBody>
      </p:sp>
      <p:sp>
        <p:nvSpPr>
          <p:cNvPr id="10" name="AutoShape 10"/>
          <p:cNvSpPr/>
          <p:nvPr/>
        </p:nvSpPr>
        <p:spPr>
          <a:xfrm>
            <a:off x="762000" y="2438400"/>
            <a:ext cx="3314700" cy="12192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4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地球磁场如同一个巨大的无形保护罩，持续抵御着来自太阳和深空的高能带电粒子流。这些粒子是名副其实的“宇宙信使”，携带着关于太阳活动、星际介质乃至宇宙起源的关键信息，理解其运动规律是探索宇宙环境的核心基础。</a:t>
            </a:r>
            <a:endParaRPr lang="en-US" sz="1100"/>
          </a:p>
        </p:txBody>
      </p:sp>
      <p:sp>
        <p:nvSpPr>
          <p:cNvPr id="11" name="AutoShape 11"/>
          <p:cNvSpPr/>
          <p:nvPr/>
        </p:nvSpPr>
        <p:spPr>
          <a:xfrm>
            <a:off x="4533900" y="1930400"/>
            <a:ext cx="50800" cy="1727200"/>
          </a:xfrm>
          <a:prstGeom prst="roundRect">
            <a:avLst>
              <a:gd name="adj" fmla="val 0"/>
            </a:avLst>
          </a:prstGeom>
          <a:solidFill>
            <a:srgbClr val="527AE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2" name="AutoShape 12"/>
          <p:cNvSpPr/>
          <p:nvPr/>
        </p:nvSpPr>
        <p:spPr>
          <a:xfrm>
            <a:off x="4686300" y="1930400"/>
            <a:ext cx="3314700" cy="406400"/>
          </a:xfrm>
          <a:prstGeom prst="rect">
            <a:avLst/>
          </a:prstGeom>
          <a:noFill/>
          <a:ln w="12700" cap="flat" cmpd="sng">
            <a:noFill/>
            <a:prstDash val="solid"/>
            <a:round/>
          </a:ln>
        </p:spPr>
        <p:txBody>
          <a:bodyPr vert="horz" wrap="square" lIns="0" tIns="0" rIns="0" bIns="0" rtlCol="0" anchor="t" anchorCtr="0"/>
          <a:lstStyle/>
          <a:p>
            <a:pPr marL="0" indent="0" algn="l">
              <a:lnSpc>
                <a:spcPct val="108000"/>
              </a:lnSpc>
              <a:defRPr/>
            </a:pPr>
            <a:r>
              <a:rPr lang="en-US" sz="17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研究意义 - 空间物理核心</a:t>
            </a:r>
            <a:endParaRPr lang="en-US" sz="1100"/>
          </a:p>
        </p:txBody>
      </p:sp>
      <p:sp>
        <p:nvSpPr>
          <p:cNvPr id="13" name="AutoShape 13"/>
          <p:cNvSpPr/>
          <p:nvPr/>
        </p:nvSpPr>
        <p:spPr>
          <a:xfrm>
            <a:off x="4686300" y="2438400"/>
            <a:ext cx="3314700" cy="1219200"/>
          </a:xfrm>
          <a:prstGeom prst="rect">
            <a:avLst/>
          </a:prstGeom>
          <a:noFill/>
          <a:ln w="12700" cap="flat" cmpd="sng">
            <a:noFill/>
            <a:prstDash val="solid"/>
            <a:round/>
          </a:ln>
        </p:spPr>
        <p:txBody>
          <a:bodyPr vert="horz" wrap="square" lIns="0" tIns="0" rIns="0" bIns="0" rtlCol="0" anchor="t" anchorCtr="0"/>
          <a:lstStyle/>
          <a:p>
            <a:pPr marL="0" indent="0" algn="l">
              <a:lnSpc>
                <a:spcPct val="83000"/>
              </a:lnSpc>
              <a:defRPr/>
            </a:pPr>
            <a:r>
              <a:rPr lang="en-US" sz="14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这是空间物理学的核心研究方向，旨在揭示太阳风与地球磁层相互作用的基本物理过程，解析能量与物质在磁层中的输运机制，为理解行星空间环境的形成与演化建立坚实的理论框架，推动学科基础理论发展。</a:t>
            </a:r>
            <a:endParaRPr lang="en-US" sz="1100"/>
          </a:p>
        </p:txBody>
      </p:sp>
      <p:sp>
        <p:nvSpPr>
          <p:cNvPr id="14" name="AutoShape 14"/>
          <p:cNvSpPr/>
          <p:nvPr/>
        </p:nvSpPr>
        <p:spPr>
          <a:xfrm>
            <a:off x="609600" y="4114800"/>
            <a:ext cx="50800" cy="1727200"/>
          </a:xfrm>
          <a:prstGeom prst="roundRect">
            <a:avLst>
              <a:gd name="adj" fmla="val 0"/>
            </a:avLst>
          </a:prstGeom>
          <a:solidFill>
            <a:srgbClr val="527AE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5" name="AutoShape 15"/>
          <p:cNvSpPr/>
          <p:nvPr/>
        </p:nvSpPr>
        <p:spPr>
          <a:xfrm>
            <a:off x="762000" y="4114800"/>
            <a:ext cx="3314700" cy="406400"/>
          </a:xfrm>
          <a:prstGeom prst="rect">
            <a:avLst/>
          </a:prstGeom>
          <a:noFill/>
          <a:ln w="12700" cap="flat" cmpd="sng">
            <a:noFill/>
            <a:prstDash val="solid"/>
            <a:round/>
          </a:ln>
        </p:spPr>
        <p:txBody>
          <a:bodyPr vert="horz" wrap="square" lIns="0" tIns="0" rIns="0" bIns="0" rtlCol="0" anchor="t" anchorCtr="0"/>
          <a:lstStyle/>
          <a:p>
            <a:pPr marL="0" indent="0" algn="l">
              <a:lnSpc>
                <a:spcPct val="108000"/>
              </a:lnSpc>
              <a:defRPr/>
            </a:pPr>
            <a:r>
              <a:rPr lang="en-US" sz="17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研究意义 - 空间天气预警</a:t>
            </a:r>
            <a:endParaRPr lang="en-US" sz="1100"/>
          </a:p>
        </p:txBody>
      </p:sp>
      <p:sp>
        <p:nvSpPr>
          <p:cNvPr id="16" name="AutoShape 16"/>
          <p:cNvSpPr/>
          <p:nvPr/>
        </p:nvSpPr>
        <p:spPr>
          <a:xfrm>
            <a:off x="762000" y="4622800"/>
            <a:ext cx="3314700" cy="1219200"/>
          </a:xfrm>
          <a:prstGeom prst="rect">
            <a:avLst/>
          </a:prstGeom>
          <a:noFill/>
          <a:ln w="12700" cap="flat" cmpd="sng">
            <a:noFill/>
            <a:prstDash val="solid"/>
            <a:round/>
          </a:ln>
        </p:spPr>
        <p:txBody>
          <a:bodyPr vert="horz" wrap="square" lIns="0" tIns="0" rIns="0" bIns="0" rtlCol="0" anchor="t" anchorCtr="0"/>
          <a:lstStyle/>
          <a:p>
            <a:pPr marL="0" indent="0" algn="l">
              <a:lnSpc>
                <a:spcPct val="125000"/>
              </a:lnSpc>
              <a:defRPr/>
            </a:pPr>
            <a:r>
              <a:rPr lang="en-US" sz="14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地磁暴等极端空间天气事件会严重威胁卫星运行、通信网络和地面电力系统安全。通过研究粒子运动规律可精准预测空间天气变化，提前发布有效预警，为现代基础设施和航天活动的稳定运行构筑可靠的安全防线。</a:t>
            </a:r>
            <a:endParaRPr lang="en-US" sz="1100"/>
          </a:p>
        </p:txBody>
      </p:sp>
      <p:sp>
        <p:nvSpPr>
          <p:cNvPr id="17" name="AutoShape 17"/>
          <p:cNvSpPr/>
          <p:nvPr/>
        </p:nvSpPr>
        <p:spPr>
          <a:xfrm>
            <a:off x="4533900" y="4114800"/>
            <a:ext cx="50800" cy="1727200"/>
          </a:xfrm>
          <a:prstGeom prst="roundRect">
            <a:avLst>
              <a:gd name="adj" fmla="val 0"/>
            </a:avLst>
          </a:prstGeom>
          <a:solidFill>
            <a:srgbClr val="527AE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8" name="AutoShape 18"/>
          <p:cNvSpPr/>
          <p:nvPr/>
        </p:nvSpPr>
        <p:spPr>
          <a:xfrm>
            <a:off x="4686300" y="4114800"/>
            <a:ext cx="3314700" cy="406400"/>
          </a:xfrm>
          <a:prstGeom prst="rect">
            <a:avLst/>
          </a:prstGeom>
          <a:noFill/>
          <a:ln w="12700" cap="flat" cmpd="sng">
            <a:noFill/>
            <a:prstDash val="solid"/>
            <a:round/>
          </a:ln>
        </p:spPr>
        <p:txBody>
          <a:bodyPr vert="horz" wrap="square" lIns="0" tIns="0" rIns="0" bIns="0" rtlCol="0" anchor="t" anchorCtr="0"/>
          <a:lstStyle/>
          <a:p>
            <a:pPr marL="0" indent="0" algn="l">
              <a:lnSpc>
                <a:spcPct val="108000"/>
              </a:lnSpc>
              <a:defRPr/>
            </a:pPr>
            <a:r>
              <a:rPr lang="en-US" sz="17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研究意义 - 深空探索支撑</a:t>
            </a:r>
            <a:endParaRPr lang="en-US" sz="1100"/>
          </a:p>
        </p:txBody>
      </p:sp>
      <p:sp>
        <p:nvSpPr>
          <p:cNvPr id="19" name="AutoShape 19"/>
          <p:cNvSpPr/>
          <p:nvPr/>
        </p:nvSpPr>
        <p:spPr>
          <a:xfrm>
            <a:off x="4686300" y="4622800"/>
            <a:ext cx="3314700" cy="1219200"/>
          </a:xfrm>
          <a:prstGeom prst="rect">
            <a:avLst/>
          </a:prstGeom>
          <a:noFill/>
          <a:ln w="12700" cap="flat" cmpd="sng">
            <a:noFill/>
            <a:prstDash val="solid"/>
            <a:round/>
          </a:ln>
        </p:spPr>
        <p:txBody>
          <a:bodyPr vert="horz" wrap="square" lIns="0" tIns="0" rIns="0" bIns="0" rtlCol="0" anchor="t" anchorCtr="0"/>
          <a:lstStyle/>
          <a:p>
            <a:pPr marL="0" indent="0" algn="l">
              <a:lnSpc>
                <a:spcPct val="125000"/>
              </a:lnSpc>
              <a:defRPr/>
            </a:pPr>
            <a:r>
              <a:rPr lang="en-US" sz="14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未来载人深空探测任务将面临复杂且强烈的宇宙辐射环境挑战。该研究成果将为航天器辐射防护设计、宇航员生命保障系统开发提供重要科学依据，降低深空航行的辐射风险，助力人类迈向更远的星际探索征程。</a:t>
            </a:r>
            <a:endParaRPr lang="en-US" sz="11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609600" y="533400"/>
            <a:ext cx="10972800" cy="609600"/>
          </a:xfrm>
          <a:prstGeom prst="rect">
            <a:avLst/>
          </a:prstGeom>
          <a:noFill/>
          <a:ln w="12700" cap="flat" cmpd="sng">
            <a:noFill/>
            <a:prstDash val="solid"/>
            <a:round/>
          </a:ln>
        </p:spPr>
        <p:txBody>
          <a:bodyPr vert="horz" wrap="square" lIns="0" tIns="0" rIns="0" bIns="0" rtlCol="0" anchor="t" anchorCtr="0"/>
          <a:lstStyle/>
          <a:p>
            <a:pPr marL="0" indent="0" algn="l">
              <a:lnSpc>
                <a:spcPct val="108000"/>
              </a:lnSpc>
              <a:defRPr/>
            </a:pPr>
            <a:r>
              <a:rPr lang="en-US" sz="3300" b="0" i="0" u="none" strike="noStrike">
                <a:solidFill>
                  <a:srgbClr val="000000"/>
                </a:solidFill>
                <a:effectLst>
                  <a:outerShdw algn="tl" rotWithShape="0">
                    <a:srgbClr val="FFFFFF">
                      <a:alpha val="100000"/>
                    </a:srgbClr>
                  </a:outerShdw>
                </a:effectLst>
                <a:latin typeface="微软雅黑" panose="020B0503020204020204" charset="-122"/>
                <a:ea typeface="微软雅黑" panose="020B0503020204020204" charset="-122"/>
                <a:cs typeface="微软雅黑" panose="020B0503020204020204" charset="-122"/>
                <a:sym typeface="微软雅黑" panose="020B0503020204020204" charset="-122"/>
              </a:rPr>
              <a:t>宇宙剧场的精彩演出</a:t>
            </a:r>
            <a:endParaRPr lang="en-US" sz="1100"/>
          </a:p>
        </p:txBody>
      </p:sp>
      <p:sp>
        <p:nvSpPr>
          <p:cNvPr id="4" name="AutoShape 4"/>
          <p:cNvSpPr/>
          <p:nvPr/>
        </p:nvSpPr>
        <p:spPr>
          <a:xfrm>
            <a:off x="609600" y="1524000"/>
            <a:ext cx="3454400" cy="4724400"/>
          </a:xfrm>
          <a:prstGeom prst="roundRect">
            <a:avLst>
              <a:gd name="adj" fmla="val 0"/>
            </a:avLst>
          </a:prstGeom>
          <a:gradFill rotWithShape="0">
            <a:gsLst>
              <a:gs pos="0">
                <a:srgbClr val="EEF2FD">
                  <a:alpha val="100000"/>
                </a:srgbClr>
              </a:gs>
              <a:gs pos="100000">
                <a:srgbClr val="EEF2FD">
                  <a:alpha val="100000"/>
                </a:srgbClr>
              </a:gs>
            </a:gsLst>
            <a:lin ang="5400000"/>
          </a:gradFill>
          <a:ln w="25400" cap="flat" cmpd="sng">
            <a:noFill/>
            <a:prstDash val="solid"/>
            <a:round/>
          </a:ln>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r:embed="rId4"/>
          <a:srcRect/>
          <a:stretch>
            <a:fillRect/>
          </a:stretch>
        </p:blipFill>
        <p:spPr>
          <a:xfrm>
            <a:off x="1320800" y="2032000"/>
            <a:ext cx="2032000" cy="1524000"/>
          </a:xfrm>
          <a:prstGeom prst="rect">
            <a:avLst/>
          </a:prstGeom>
          <a:noFill/>
          <a:ln w="25400" cap="flat" cmpd="sng">
            <a:noFill/>
            <a:prstDash val="solid"/>
            <a:round/>
          </a:ln>
        </p:spPr>
      </p:pic>
      <p:sp>
        <p:nvSpPr>
          <p:cNvPr id="6" name="AutoShape 6"/>
          <p:cNvSpPr/>
          <p:nvPr/>
        </p:nvSpPr>
        <p:spPr>
          <a:xfrm>
            <a:off x="812800" y="3810000"/>
            <a:ext cx="3048000" cy="381000"/>
          </a:xfrm>
          <a:prstGeom prst="rect">
            <a:avLst/>
          </a:prstGeom>
          <a:noFill/>
          <a:ln w="12700" cap="flat" cmpd="sng">
            <a:noFill/>
            <a:prstDash val="solid"/>
            <a:round/>
          </a:ln>
        </p:spPr>
        <p:txBody>
          <a:bodyPr vert="horz" wrap="square" lIns="0" tIns="0" rIns="0" bIns="0" rtlCol="0" anchor="ctr" anchorCtr="0"/>
          <a:lstStyle/>
          <a:p>
            <a:pPr marL="0" indent="0" algn="ctr">
              <a:lnSpc>
                <a:spcPct val="100000"/>
              </a:lnSpc>
              <a:defRPr/>
            </a:pPr>
            <a:r>
              <a:rPr lang="en-US" sz="2000" b="1"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范艾伦辐射带</a:t>
            </a:r>
            <a:endParaRPr lang="en-US" sz="1100"/>
          </a:p>
        </p:txBody>
      </p:sp>
      <p:sp>
        <p:nvSpPr>
          <p:cNvPr id="7" name="AutoShape 7"/>
          <p:cNvSpPr/>
          <p:nvPr/>
        </p:nvSpPr>
        <p:spPr>
          <a:xfrm>
            <a:off x="812800" y="4318000"/>
            <a:ext cx="3048000" cy="1778000"/>
          </a:xfrm>
          <a:prstGeom prst="rect">
            <a:avLst/>
          </a:prstGeom>
          <a:noFill/>
          <a:ln w="12700" cap="flat" cmpd="sng">
            <a:noFill/>
            <a:prstDash val="solid"/>
            <a:round/>
          </a:ln>
        </p:spPr>
        <p:txBody>
          <a:bodyPr vert="horz" wrap="square" lIns="0" tIns="0" rIns="0" bIns="0" rtlCol="0" anchor="t" anchorCtr="0"/>
          <a:lstStyle/>
          <a:p>
            <a:pPr marL="0" indent="0" algn="ctr">
              <a:lnSpc>
                <a:spcPct val="108000"/>
              </a:lnSpc>
              <a:defRPr/>
            </a:pPr>
            <a:r>
              <a:rPr lang="en-US" sz="1300" b="0" i="0" u="none" strike="noStrike">
                <a:solidFill>
                  <a:srgbClr val="0A2858"/>
                </a:solidFill>
                <a:latin typeface="微软雅黑" panose="020B0503020204020204" charset="-122"/>
                <a:ea typeface="微软雅黑" panose="020B0503020204020204" charset="-122"/>
                <a:cs typeface="微软雅黑" panose="020B0503020204020204" charset="-122"/>
                <a:sym typeface="微软雅黑" panose="020B0503020204020204" charset="-122"/>
              </a:rPr>
              <a:t>环绕地球的两个甜甜圈状高能粒子聚集区，内带以质子为主，外带以电子为主。它们被地球磁场牢牢“俘获”，形成了航天器轨道设计必须规避或应对的关键高能辐射区域。</a:t>
            </a:r>
            <a:endParaRPr lang="en-US" sz="1100"/>
          </a:p>
        </p:txBody>
      </p:sp>
      <p:sp>
        <p:nvSpPr>
          <p:cNvPr id="8" name="AutoShape 8"/>
          <p:cNvSpPr/>
          <p:nvPr/>
        </p:nvSpPr>
        <p:spPr>
          <a:xfrm>
            <a:off x="4368800" y="1524000"/>
            <a:ext cx="3454400" cy="4724400"/>
          </a:xfrm>
          <a:prstGeom prst="roundRect">
            <a:avLst>
              <a:gd name="adj" fmla="val 0"/>
            </a:avLst>
          </a:prstGeom>
          <a:gradFill rotWithShape="0">
            <a:gsLst>
              <a:gs pos="0">
                <a:srgbClr val="EEF2FD">
                  <a:alpha val="100000"/>
                </a:srgbClr>
              </a:gs>
              <a:gs pos="100000">
                <a:srgbClr val="EEF2FD">
                  <a:alpha val="100000"/>
                </a:srgbClr>
              </a:gs>
            </a:gsLst>
            <a:lin ang="5400000"/>
          </a:gradFill>
          <a:ln w="25400" cap="flat" cmpd="sng">
            <a:noFill/>
            <a:prstDash val="solid"/>
            <a:round/>
          </a:ln>
        </p:spPr>
        <p:txBody>
          <a:bodyPr vert="horz" wrap="square" lIns="63500" tIns="63500" rIns="63500" bIns="63500" rtlCol="0" anchor="ctr"/>
          <a:lstStyle/>
          <a:p>
            <a:pPr algn="ctr">
              <a:defRPr/>
            </a:pPr>
            <a:endParaRPr/>
          </a:p>
        </p:txBody>
      </p:sp>
      <p:pic>
        <p:nvPicPr>
          <p:cNvPr id="9" name="Picture 9"/>
          <p:cNvPicPr>
            <a:picLocks noChangeAspect="1"/>
          </p:cNvPicPr>
          <p:nvPr/>
        </p:nvPicPr>
        <p:blipFill>
          <a:blip r:embed="rId5"/>
          <a:srcRect/>
          <a:stretch>
            <a:fillRect/>
          </a:stretch>
        </p:blipFill>
        <p:spPr>
          <a:xfrm>
            <a:off x="5080000" y="2032000"/>
            <a:ext cx="2032000" cy="1524000"/>
          </a:xfrm>
          <a:prstGeom prst="rect">
            <a:avLst/>
          </a:prstGeom>
          <a:noFill/>
          <a:ln w="25400" cap="flat" cmpd="sng">
            <a:noFill/>
            <a:prstDash val="solid"/>
            <a:round/>
          </a:ln>
        </p:spPr>
      </p:pic>
      <p:sp>
        <p:nvSpPr>
          <p:cNvPr id="10" name="AutoShape 10"/>
          <p:cNvSpPr/>
          <p:nvPr/>
        </p:nvSpPr>
        <p:spPr>
          <a:xfrm>
            <a:off x="4572000" y="3810000"/>
            <a:ext cx="3048000" cy="381000"/>
          </a:xfrm>
          <a:prstGeom prst="rect">
            <a:avLst/>
          </a:prstGeom>
          <a:noFill/>
          <a:ln w="12700" cap="flat" cmpd="sng">
            <a:noFill/>
            <a:prstDash val="solid"/>
            <a:round/>
          </a:ln>
        </p:spPr>
        <p:txBody>
          <a:bodyPr vert="horz" wrap="square" lIns="0" tIns="0" rIns="0" bIns="0" rtlCol="0" anchor="ctr" anchorCtr="0"/>
          <a:lstStyle/>
          <a:p>
            <a:pPr marL="0" indent="0" algn="ctr">
              <a:lnSpc>
                <a:spcPct val="100000"/>
              </a:lnSpc>
              <a:defRPr/>
            </a:pPr>
            <a:r>
              <a:rPr lang="en-US" sz="2000" b="1"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极光现象</a:t>
            </a:r>
            <a:endParaRPr lang="en-US" sz="1100"/>
          </a:p>
        </p:txBody>
      </p:sp>
      <p:sp>
        <p:nvSpPr>
          <p:cNvPr id="11" name="AutoShape 11"/>
          <p:cNvSpPr/>
          <p:nvPr/>
        </p:nvSpPr>
        <p:spPr>
          <a:xfrm>
            <a:off x="4572000" y="4318000"/>
            <a:ext cx="3048000" cy="1778000"/>
          </a:xfrm>
          <a:prstGeom prst="rect">
            <a:avLst/>
          </a:prstGeom>
          <a:noFill/>
          <a:ln w="12700" cap="flat" cmpd="sng">
            <a:noFill/>
            <a:prstDash val="solid"/>
            <a:round/>
          </a:ln>
        </p:spPr>
        <p:txBody>
          <a:bodyPr vert="horz" wrap="square" lIns="0" tIns="0" rIns="0" bIns="0" rtlCol="0" anchor="t" anchorCtr="0"/>
          <a:lstStyle/>
          <a:p>
            <a:pPr marL="0" indent="0" algn="ctr">
              <a:lnSpc>
                <a:spcPct val="108000"/>
              </a:lnSpc>
              <a:defRPr/>
            </a:pPr>
            <a:r>
              <a:rPr lang="en-US" sz="1300" b="0" i="0" u="none" strike="noStrike">
                <a:solidFill>
                  <a:srgbClr val="0A2858"/>
                </a:solidFill>
                <a:latin typeface="微软雅黑" panose="020B0503020204020204" charset="-122"/>
                <a:ea typeface="微软雅黑" panose="020B0503020204020204" charset="-122"/>
                <a:cs typeface="微软雅黑" panose="020B0503020204020204" charset="-122"/>
                <a:sym typeface="微软雅黑" panose="020B0503020204020204" charset="-122"/>
              </a:rPr>
              <a:t>高能粒子沿磁力线涌入地球两极高层大气，与氧、氮原子发生碰撞激发后产生的绚丽光芒。这是太阳风粒子与地球磁场、大气相互作用最直观、最震撼的视觉展示。</a:t>
            </a:r>
            <a:endParaRPr lang="en-US" sz="1100"/>
          </a:p>
        </p:txBody>
      </p:sp>
      <p:sp>
        <p:nvSpPr>
          <p:cNvPr id="12" name="AutoShape 12"/>
          <p:cNvSpPr/>
          <p:nvPr/>
        </p:nvSpPr>
        <p:spPr>
          <a:xfrm>
            <a:off x="8128000" y="1524000"/>
            <a:ext cx="3454400" cy="4724400"/>
          </a:xfrm>
          <a:prstGeom prst="roundRect">
            <a:avLst>
              <a:gd name="adj" fmla="val 0"/>
            </a:avLst>
          </a:prstGeom>
          <a:gradFill rotWithShape="0">
            <a:gsLst>
              <a:gs pos="0">
                <a:srgbClr val="EEF2FD">
                  <a:alpha val="100000"/>
                </a:srgbClr>
              </a:gs>
              <a:gs pos="100000">
                <a:srgbClr val="EEF2FD">
                  <a:alpha val="100000"/>
                </a:srgbClr>
              </a:gs>
            </a:gsLst>
            <a:lin ang="5400000"/>
          </a:gradFill>
          <a:ln w="25400" cap="flat" cmpd="sng">
            <a:noFill/>
            <a:prstDash val="solid"/>
            <a:round/>
          </a:ln>
        </p:spPr>
        <p:txBody>
          <a:bodyPr vert="horz" wrap="square" lIns="63500" tIns="63500" rIns="63500" bIns="63500" rtlCol="0" anchor="ctr"/>
          <a:lstStyle/>
          <a:p>
            <a:pPr algn="ctr">
              <a:defRPr/>
            </a:pPr>
            <a:endParaRPr/>
          </a:p>
        </p:txBody>
      </p:sp>
      <p:pic>
        <p:nvPicPr>
          <p:cNvPr id="13" name="Picture 13"/>
          <p:cNvPicPr>
            <a:picLocks noChangeAspect="1"/>
          </p:cNvPicPr>
          <p:nvPr/>
        </p:nvPicPr>
        <p:blipFill>
          <a:blip r:embed="rId6"/>
          <a:srcRect/>
          <a:stretch>
            <a:fillRect/>
          </a:stretch>
        </p:blipFill>
        <p:spPr>
          <a:xfrm>
            <a:off x="8839200" y="2032000"/>
            <a:ext cx="2032000" cy="1524000"/>
          </a:xfrm>
          <a:prstGeom prst="rect">
            <a:avLst/>
          </a:prstGeom>
          <a:noFill/>
          <a:ln w="25400" cap="flat" cmpd="sng">
            <a:noFill/>
            <a:prstDash val="solid"/>
            <a:round/>
          </a:ln>
        </p:spPr>
      </p:pic>
      <p:sp>
        <p:nvSpPr>
          <p:cNvPr id="14" name="AutoShape 14"/>
          <p:cNvSpPr/>
          <p:nvPr/>
        </p:nvSpPr>
        <p:spPr>
          <a:xfrm>
            <a:off x="8331200" y="3810000"/>
            <a:ext cx="3048000" cy="381000"/>
          </a:xfrm>
          <a:prstGeom prst="rect">
            <a:avLst/>
          </a:prstGeom>
          <a:noFill/>
          <a:ln w="12700" cap="flat" cmpd="sng">
            <a:noFill/>
            <a:prstDash val="solid"/>
            <a:round/>
          </a:ln>
        </p:spPr>
        <p:txBody>
          <a:bodyPr vert="horz" wrap="square" lIns="0" tIns="0" rIns="0" bIns="0" rtlCol="0" anchor="ctr" anchorCtr="0"/>
          <a:lstStyle/>
          <a:p>
            <a:pPr marL="0" indent="0" algn="ctr">
              <a:lnSpc>
                <a:spcPct val="100000"/>
              </a:lnSpc>
              <a:defRPr/>
            </a:pPr>
            <a:r>
              <a:rPr lang="en-US" sz="2000" b="1"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地磁环电流</a:t>
            </a:r>
            <a:endParaRPr lang="en-US" sz="1100"/>
          </a:p>
        </p:txBody>
      </p:sp>
      <p:sp>
        <p:nvSpPr>
          <p:cNvPr id="15" name="AutoShape 15"/>
          <p:cNvSpPr/>
          <p:nvPr/>
        </p:nvSpPr>
        <p:spPr>
          <a:xfrm>
            <a:off x="8331200" y="4318000"/>
            <a:ext cx="3048000" cy="1778000"/>
          </a:xfrm>
          <a:prstGeom prst="rect">
            <a:avLst/>
          </a:prstGeom>
          <a:noFill/>
          <a:ln w="12700" cap="flat" cmpd="sng">
            <a:noFill/>
            <a:prstDash val="solid"/>
            <a:round/>
          </a:ln>
        </p:spPr>
        <p:txBody>
          <a:bodyPr vert="horz" wrap="square" lIns="0" tIns="0" rIns="0" bIns="0" rtlCol="0" anchor="t" anchorCtr="0"/>
          <a:lstStyle/>
          <a:p>
            <a:pPr marL="0" indent="0" algn="ctr">
              <a:lnSpc>
                <a:spcPct val="108000"/>
              </a:lnSpc>
              <a:defRPr/>
            </a:pPr>
            <a:r>
              <a:rPr lang="en-US" sz="1300" b="0" i="0" u="none" strike="noStrike">
                <a:solidFill>
                  <a:srgbClr val="0A2858"/>
                </a:solidFill>
                <a:latin typeface="微软雅黑" panose="020B0503020204020204" charset="-122"/>
                <a:ea typeface="微软雅黑" panose="020B0503020204020204" charset="-122"/>
                <a:cs typeface="微软雅黑" panose="020B0503020204020204" charset="-122"/>
                <a:sym typeface="微软雅黑" panose="020B0503020204020204" charset="-122"/>
              </a:rPr>
              <a:t>由带电粒子在非均匀磁场中发生梯度漂移和曲率漂移共同形成的环形电流体系。它是地磁暴期间地球磁场发生剧烈扰动的核心原因，直接影响着近地空间的电磁环境稳定。</a:t>
            </a:r>
            <a:endParaRPr lang="en-US" sz="11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1016000" y="1905000"/>
            <a:ext cx="1524000" cy="1524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7200" b="1" i="0" u="none" strike="noStrike">
                <a:solidFill>
                  <a:srgbClr val="FFFFFF"/>
                </a:solidFill>
                <a:latin typeface="Arial" panose="020B0604020202020204"/>
                <a:ea typeface="Arial" panose="020B0604020202020204"/>
                <a:cs typeface="Arial" panose="020B0604020202020204"/>
                <a:sym typeface="Arial" panose="020B0604020202020204"/>
              </a:rPr>
              <a:t>02</a:t>
            </a:r>
            <a:endParaRPr lang="en-US" sz="1100"/>
          </a:p>
        </p:txBody>
      </p:sp>
      <p:sp>
        <p:nvSpPr>
          <p:cNvPr id="4" name="AutoShape 4"/>
          <p:cNvSpPr/>
          <p:nvPr/>
        </p:nvSpPr>
        <p:spPr>
          <a:xfrm>
            <a:off x="1016000" y="3683000"/>
            <a:ext cx="7620000" cy="1524000"/>
          </a:xfrm>
          <a:prstGeom prst="rect">
            <a:avLst/>
          </a:prstGeom>
          <a:noFill/>
          <a:ln w="12700" cap="flat" cmpd="sng">
            <a:noFill/>
            <a:prstDash val="solid"/>
            <a:round/>
          </a:ln>
        </p:spPr>
        <p:txBody>
          <a:bodyPr vert="horz" wrap="square" lIns="0" tIns="0" rIns="0" bIns="0" rtlCol="0" anchor="t" anchorCtr="0"/>
          <a:lstStyle/>
          <a:p>
            <a:pPr marL="0" indent="0" algn="l">
              <a:lnSpc>
                <a:spcPct val="100000"/>
              </a:lnSpc>
              <a:defRPr/>
            </a:pPr>
            <a:r>
              <a:rPr lang="en-US" sz="40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理论基础与物理规律</a:t>
            </a:r>
            <a:endParaRPr lang="en-US" sz="11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609600" y="762000"/>
            <a:ext cx="10972800" cy="711200"/>
          </a:xfrm>
          <a:prstGeom prst="rect">
            <a:avLst/>
          </a:prstGeom>
          <a:noFill/>
          <a:ln w="12700" cap="flat" cmpd="sng">
            <a:noFill/>
            <a:prstDash val="solid"/>
            <a:round/>
          </a:ln>
        </p:spPr>
        <p:txBody>
          <a:bodyPr vert="horz" wrap="square" lIns="0" tIns="0" rIns="0" bIns="0" rtlCol="0" anchor="ctr" anchorCtr="0"/>
          <a:lstStyle/>
          <a:p>
            <a:pPr marL="0" indent="0" algn="ctr">
              <a:lnSpc>
                <a:spcPct val="100000"/>
              </a:lnSpc>
              <a:defRPr/>
            </a:pPr>
            <a:r>
              <a:rPr lang="en-US" sz="3600" b="1" i="0" u="none" strike="noStrike">
                <a:solidFill>
                  <a:srgbClr val="1F2329"/>
                </a:solidFill>
                <a:latin typeface="微软雅黑" panose="020B0503020204020204" charset="-122"/>
                <a:ea typeface="微软雅黑" panose="020B0503020204020204" charset="-122"/>
                <a:cs typeface="微软雅黑" panose="020B0503020204020204" charset="-122"/>
                <a:sym typeface="微软雅黑" panose="020B0503020204020204" charset="-122"/>
              </a:rPr>
              <a:t>运动的根本法则：洛伦兹力</a:t>
            </a:r>
            <a:endParaRPr lang="en-US" sz="1100"/>
          </a:p>
        </p:txBody>
      </p:sp>
      <p:sp>
        <p:nvSpPr>
          <p:cNvPr id="4" name="AutoShape 4"/>
          <p:cNvSpPr/>
          <p:nvPr/>
        </p:nvSpPr>
        <p:spPr>
          <a:xfrm>
            <a:off x="1016000" y="2286000"/>
            <a:ext cx="5080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2200" b="1" i="0" u="none" strike="noStrike">
                <a:solidFill>
                  <a:srgbClr val="023E8A"/>
                </a:solidFill>
                <a:latin typeface="微软雅黑" panose="020B0503020204020204" charset="-122"/>
                <a:ea typeface="微软雅黑" panose="020B0503020204020204" charset="-122"/>
                <a:cs typeface="微软雅黑" panose="020B0503020204020204" charset="-122"/>
                <a:sym typeface="微软雅黑" panose="020B0503020204020204" charset="-122"/>
              </a:rPr>
              <a:t>核心公式呈现</a:t>
            </a:r>
            <a:endParaRPr lang="en-US" sz="1100"/>
          </a:p>
        </p:txBody>
      </p:sp>
      <p:sp>
        <p:nvSpPr>
          <p:cNvPr id="5" name="AutoShape 5"/>
          <p:cNvSpPr/>
          <p:nvPr/>
        </p:nvSpPr>
        <p:spPr>
          <a:xfrm>
            <a:off x="1016000" y="2921000"/>
            <a:ext cx="5080000" cy="1524000"/>
          </a:xfrm>
          <a:prstGeom prst="rect">
            <a:avLst/>
          </a:prstGeom>
          <a:noFill/>
          <a:ln w="12700" cap="flat" cmpd="sng">
            <a:noFill/>
            <a:prstDash val="solid"/>
            <a:round/>
          </a:ln>
        </p:spPr>
        <p:txBody>
          <a:bodyPr vert="horz" wrap="square" lIns="0" tIns="0" rIns="0" bIns="0" rtlCol="0" anchor="t" anchorCtr="0"/>
          <a:lstStyle/>
          <a:p>
            <a:pPr marL="0" indent="0" algn="l">
              <a:lnSpc>
                <a:spcPct val="125000"/>
              </a:lnSpc>
              <a:defRPr/>
            </a:pPr>
            <a:r>
              <a:rPr lang="en-US" sz="1600" b="0" i="0" u="none" strike="noStrike">
                <a:solidFill>
                  <a:srgbClr val="1F2329"/>
                </a:solidFill>
                <a:latin typeface="微软雅黑" panose="020B0503020204020204" charset="-122"/>
                <a:ea typeface="微软雅黑" panose="020B0503020204020204" charset="-122"/>
                <a:cs typeface="微软雅黑" panose="020B0503020204020204" charset="-122"/>
                <a:sym typeface="微软雅黑" panose="020B0503020204020204" charset="-122"/>
              </a:rPr>
              <a:t>核心公式为：F = q(v × B)。在地球磁场环境中，电场力的作用效果通常远小于磁场力，因此我们在分析带电粒子的运动规律时，可将其简化为此形式来开展后续的物理过程研究。</a:t>
            </a:r>
            <a:endParaRPr lang="en-US" sz="1100"/>
          </a:p>
        </p:txBody>
      </p:sp>
      <p:sp>
        <p:nvSpPr>
          <p:cNvPr id="6" name="AutoShape 6"/>
          <p:cNvSpPr/>
          <p:nvPr/>
        </p:nvSpPr>
        <p:spPr>
          <a:xfrm>
            <a:off x="1016000" y="4699000"/>
            <a:ext cx="5080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2200" b="1" i="0" u="none" strike="noStrike">
                <a:solidFill>
                  <a:srgbClr val="023E8A"/>
                </a:solidFill>
                <a:latin typeface="微软雅黑" panose="020B0503020204020204" charset="-122"/>
                <a:ea typeface="微软雅黑" panose="020B0503020204020204" charset="-122"/>
                <a:cs typeface="微软雅黑" panose="020B0503020204020204" charset="-122"/>
                <a:sym typeface="微软雅黑" panose="020B0503020204020204" charset="-122"/>
              </a:rPr>
              <a:t>物理意义解析</a:t>
            </a:r>
            <a:endParaRPr lang="en-US" sz="1100"/>
          </a:p>
        </p:txBody>
      </p:sp>
      <p:sp>
        <p:nvSpPr>
          <p:cNvPr id="7" name="AutoShape 7"/>
          <p:cNvSpPr/>
          <p:nvPr/>
        </p:nvSpPr>
        <p:spPr>
          <a:xfrm>
            <a:off x="1016000" y="5207000"/>
            <a:ext cx="5080000" cy="1270000"/>
          </a:xfrm>
          <a:prstGeom prst="rect">
            <a:avLst/>
          </a:prstGeom>
          <a:noFill/>
          <a:ln w="12700" cap="flat" cmpd="sng">
            <a:noFill/>
            <a:prstDash val="solid"/>
            <a:round/>
          </a:ln>
        </p:spPr>
        <p:txBody>
          <a:bodyPr vert="horz" wrap="square" lIns="0" tIns="0" rIns="0" bIns="0" rtlCol="0" anchor="t" anchorCtr="0"/>
          <a:lstStyle/>
          <a:p>
            <a:pPr marL="0" indent="0" algn="l">
              <a:lnSpc>
                <a:spcPct val="125000"/>
              </a:lnSpc>
              <a:defRPr/>
            </a:pPr>
            <a:r>
              <a:rPr lang="en-US" sz="1600" b="0" i="0" u="none" strike="noStrike">
                <a:solidFill>
                  <a:srgbClr val="1F2329"/>
                </a:solidFill>
                <a:latin typeface="微软雅黑" panose="020B0503020204020204" charset="-122"/>
                <a:ea typeface="微软雅黑" panose="020B0503020204020204" charset="-122"/>
                <a:cs typeface="微软雅黑" panose="020B0503020204020204" charset="-122"/>
                <a:sym typeface="微软雅黑" panose="020B0503020204020204" charset="-122"/>
              </a:rPr>
              <a:t>洛伦兹力的方向始终垂直于粒子速度矢量v与磁场矢量B所构成的平面；该力永远不会对带电粒子做功，仅能改变粒子的运动方向，而不会改变粒子的动能与速率大小。</a:t>
            </a:r>
            <a:endParaRPr lang="en-US" sz="1100"/>
          </a:p>
        </p:txBody>
      </p:sp>
      <p:pic>
        <p:nvPicPr>
          <p:cNvPr id="8" name="Picture 8"/>
          <p:cNvPicPr>
            <a:picLocks noChangeAspect="1"/>
          </p:cNvPicPr>
          <p:nvPr/>
        </p:nvPicPr>
        <p:blipFill>
          <a:blip r:embed="rId4"/>
          <a:srcRect/>
          <a:stretch>
            <a:fillRect/>
          </a:stretch>
        </p:blipFill>
        <p:spPr>
          <a:xfrm>
            <a:off x="6858000" y="2540000"/>
            <a:ext cx="4318000" cy="3810000"/>
          </a:xfrm>
          <a:prstGeom prst="rect">
            <a:avLst/>
          </a:prstGeom>
          <a:noFill/>
          <a:ln w="25400" cap="flat" cmpd="sng">
            <a:noFill/>
            <a:prstDash val="solid"/>
            <a:round/>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228600" y="177800"/>
            <a:ext cx="11747500" cy="6489700"/>
          </a:xfrm>
          <a:prstGeom prst="roundRect">
            <a:avLst>
              <a:gd name="adj" fmla="val 0"/>
            </a:avLst>
          </a:prstGeom>
          <a:solidFill>
            <a:srgbClr val="FFFFFF">
              <a:alpha val="0"/>
            </a:srgbClr>
          </a:solidFill>
          <a:ln w="25400" cap="flat" cmpd="sng">
            <a:noFill/>
            <a:prstDash val="solid"/>
            <a:round/>
          </a:ln>
        </p:spPr>
        <p:txBody>
          <a:bodyPr vert="horz" wrap="square" lIns="0" tIns="0" rIns="0" bIns="0" rtlCol="0" anchor="ctr" anchorCtr="0"/>
          <a:lstStyle/>
          <a:p>
            <a:pPr algn="ctr">
              <a:defRPr/>
            </a:pPr>
            <a:endParaRPr/>
          </a:p>
        </p:txBody>
      </p:sp>
      <p:sp>
        <p:nvSpPr>
          <p:cNvPr id="4" name="AutoShape 4"/>
          <p:cNvSpPr/>
          <p:nvPr/>
        </p:nvSpPr>
        <p:spPr>
          <a:xfrm>
            <a:off x="609600" y="533400"/>
            <a:ext cx="10972800" cy="609600"/>
          </a:xfrm>
          <a:prstGeom prst="rect">
            <a:avLst/>
          </a:prstGeom>
          <a:noFill/>
          <a:ln w="12700" cap="flat" cmpd="sng">
            <a:noFill/>
            <a:prstDash val="solid"/>
            <a:round/>
          </a:ln>
        </p:spPr>
        <p:txBody>
          <a:bodyPr vert="horz" wrap="square" lIns="0" tIns="0" rIns="0" bIns="0" rtlCol="0" anchor="t" anchorCtr="0"/>
          <a:lstStyle/>
          <a:p>
            <a:pPr marL="0" indent="0" algn="l">
              <a:lnSpc>
                <a:spcPct val="108000"/>
              </a:lnSpc>
              <a:defRPr/>
            </a:pPr>
            <a:r>
              <a:rPr lang="en-US" sz="3300" b="0" i="0" u="none" strike="noStrike">
                <a:solidFill>
                  <a:srgbClr val="000000"/>
                </a:solidFill>
                <a:effectLst>
                  <a:outerShdw algn="tl" rotWithShape="0">
                    <a:srgbClr val="FFFFFF">
                      <a:alpha val="100000"/>
                    </a:srgbClr>
                  </a:outerShdw>
                </a:effectLst>
                <a:latin typeface="微软雅黑" panose="020B0503020204020204" charset="-122"/>
                <a:ea typeface="微软雅黑" panose="020B0503020204020204" charset="-122"/>
                <a:cs typeface="微软雅黑" panose="020B0503020204020204" charset="-122"/>
                <a:sym typeface="微软雅黑" panose="020B0503020204020204" charset="-122"/>
              </a:rPr>
              <a:t>均匀磁场中的运动分解</a:t>
            </a:r>
            <a:endParaRPr lang="en-US" sz="1100"/>
          </a:p>
        </p:txBody>
      </p:sp>
      <p:sp>
        <p:nvSpPr>
          <p:cNvPr id="5" name="AutoShape 5"/>
          <p:cNvSpPr/>
          <p:nvPr/>
        </p:nvSpPr>
        <p:spPr>
          <a:xfrm>
            <a:off x="1625600" y="2260600"/>
            <a:ext cx="1219200" cy="1219200"/>
          </a:xfrm>
          <a:prstGeom prst="roundRect">
            <a:avLst>
              <a:gd name="adj" fmla="val 0"/>
            </a:avLst>
          </a:prstGeom>
          <a:solidFill>
            <a:srgbClr val="527AE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1879600" y="2565400"/>
            <a:ext cx="723900" cy="609600"/>
          </a:xfrm>
          <a:prstGeom prst="rect">
            <a:avLst/>
          </a:prstGeom>
          <a:noFill/>
          <a:ln w="12700" cap="flat" cmpd="sng">
            <a:noFill/>
            <a:prstDash val="solid"/>
            <a:round/>
          </a:ln>
        </p:spPr>
        <p:txBody>
          <a:bodyPr vert="horz" wrap="none" lIns="0" tIns="0" rIns="0" bIns="0" rtlCol="0" anchor="ctr" anchorCtr="0"/>
          <a:lstStyle/>
          <a:p>
            <a:pPr marL="0" indent="0" algn="ctr">
              <a:lnSpc>
                <a:spcPct val="108000"/>
              </a:lnSpc>
              <a:defRPr/>
            </a:pPr>
            <a:r>
              <a:rPr lang="en-US" sz="4800" b="0" i="0" u="none" strike="noStrike">
                <a:solidFill>
                  <a:srgbClr val="FFFFFF"/>
                </a:solidFill>
                <a:latin typeface="Arial" panose="020B0604020202020204"/>
                <a:ea typeface="Arial" panose="020B0604020202020204"/>
                <a:cs typeface="Arial" panose="020B0604020202020204"/>
                <a:sym typeface="Arial" panose="020B0604020202020204"/>
              </a:rPr>
              <a:t>01</a:t>
            </a:r>
            <a:endParaRPr lang="en-US" sz="1100"/>
          </a:p>
        </p:txBody>
      </p:sp>
      <p:sp>
        <p:nvSpPr>
          <p:cNvPr id="7" name="AutoShape 7"/>
          <p:cNvSpPr/>
          <p:nvPr/>
        </p:nvSpPr>
        <p:spPr>
          <a:xfrm>
            <a:off x="609600" y="3784600"/>
            <a:ext cx="3251200" cy="406400"/>
          </a:xfrm>
          <a:prstGeom prst="rect">
            <a:avLst/>
          </a:prstGeom>
          <a:noFill/>
          <a:ln w="12700" cap="flat" cmpd="sng">
            <a:noFill/>
            <a:prstDash val="solid"/>
            <a:round/>
          </a:ln>
        </p:spPr>
        <p:txBody>
          <a:bodyPr vert="horz" wrap="square" lIns="0" tIns="0" rIns="0" bIns="0" rtlCol="0" anchor="t" anchorCtr="0"/>
          <a:lstStyle/>
          <a:p>
            <a:pPr marL="0" indent="0" algn="ctr">
              <a:lnSpc>
                <a:spcPct val="108000"/>
              </a:lnSpc>
              <a:defRPr/>
            </a:pPr>
            <a:r>
              <a:rPr lang="en-US" sz="22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平行于磁场的运动</a:t>
            </a:r>
            <a:endParaRPr lang="en-US" sz="1100"/>
          </a:p>
        </p:txBody>
      </p:sp>
      <p:sp>
        <p:nvSpPr>
          <p:cNvPr id="8" name="AutoShape 8"/>
          <p:cNvSpPr/>
          <p:nvPr/>
        </p:nvSpPr>
        <p:spPr>
          <a:xfrm>
            <a:off x="609600" y="4292600"/>
            <a:ext cx="3251200" cy="1219200"/>
          </a:xfrm>
          <a:prstGeom prst="rect">
            <a:avLst/>
          </a:prstGeom>
          <a:noFill/>
          <a:ln w="12700" cap="flat" cmpd="sng">
            <a:noFill/>
            <a:prstDash val="solid"/>
            <a:round/>
          </a:ln>
        </p:spPr>
        <p:txBody>
          <a:bodyPr vert="horz" wrap="square" lIns="0" tIns="0" rIns="0" bIns="0" rtlCol="0" anchor="t" anchorCtr="0"/>
          <a:lstStyle/>
          <a:p>
            <a:pPr marL="0" indent="0" algn="ctr">
              <a:lnSpc>
                <a:spcPct val="125000"/>
              </a:lnSpc>
              <a:defRPr/>
            </a:pPr>
            <a:r>
              <a:rPr lang="en-US" sz="14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在平行于磁场的方向上，洛伦兹力为零，粒子不受该方向的外力作用。因此，粒子将以恒定速度 v∥ 沿磁力线做匀速直线运动，运动状态保持稳定不变。</a:t>
            </a:r>
            <a:endParaRPr lang="en-US" sz="1100"/>
          </a:p>
        </p:txBody>
      </p:sp>
      <p:sp>
        <p:nvSpPr>
          <p:cNvPr id="9" name="AutoShape 9"/>
          <p:cNvSpPr/>
          <p:nvPr/>
        </p:nvSpPr>
        <p:spPr>
          <a:xfrm>
            <a:off x="5486400" y="2260600"/>
            <a:ext cx="1219200" cy="1219200"/>
          </a:xfrm>
          <a:prstGeom prst="roundRect">
            <a:avLst>
              <a:gd name="adj" fmla="val 0"/>
            </a:avLst>
          </a:prstGeom>
          <a:solidFill>
            <a:srgbClr val="527AE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0" name="AutoShape 10"/>
          <p:cNvSpPr/>
          <p:nvPr/>
        </p:nvSpPr>
        <p:spPr>
          <a:xfrm>
            <a:off x="5740400" y="2565400"/>
            <a:ext cx="723900" cy="609600"/>
          </a:xfrm>
          <a:prstGeom prst="rect">
            <a:avLst/>
          </a:prstGeom>
          <a:noFill/>
          <a:ln w="12700" cap="flat" cmpd="sng">
            <a:noFill/>
            <a:prstDash val="solid"/>
            <a:round/>
          </a:ln>
        </p:spPr>
        <p:txBody>
          <a:bodyPr vert="horz" wrap="none" lIns="0" tIns="0" rIns="0" bIns="0" rtlCol="0" anchor="ctr" anchorCtr="0"/>
          <a:lstStyle/>
          <a:p>
            <a:pPr marL="0" indent="0" algn="ctr">
              <a:lnSpc>
                <a:spcPct val="108000"/>
              </a:lnSpc>
              <a:defRPr/>
            </a:pPr>
            <a:r>
              <a:rPr lang="en-US" sz="4800" b="0" i="0" u="none" strike="noStrike">
                <a:solidFill>
                  <a:srgbClr val="FFFFFF"/>
                </a:solidFill>
                <a:latin typeface="Arial" panose="020B0604020202020204"/>
                <a:ea typeface="Arial" panose="020B0604020202020204"/>
                <a:cs typeface="Arial" panose="020B0604020202020204"/>
                <a:sym typeface="Arial" panose="020B0604020202020204"/>
              </a:rPr>
              <a:t>02</a:t>
            </a:r>
            <a:endParaRPr lang="en-US" sz="1100"/>
          </a:p>
        </p:txBody>
      </p:sp>
      <p:sp>
        <p:nvSpPr>
          <p:cNvPr id="11" name="AutoShape 11"/>
          <p:cNvSpPr/>
          <p:nvPr/>
        </p:nvSpPr>
        <p:spPr>
          <a:xfrm>
            <a:off x="4470400" y="3784600"/>
            <a:ext cx="3251200" cy="406400"/>
          </a:xfrm>
          <a:prstGeom prst="rect">
            <a:avLst/>
          </a:prstGeom>
          <a:noFill/>
          <a:ln w="12700" cap="flat" cmpd="sng">
            <a:noFill/>
            <a:prstDash val="solid"/>
            <a:round/>
          </a:ln>
        </p:spPr>
        <p:txBody>
          <a:bodyPr vert="horz" wrap="square" lIns="0" tIns="0" rIns="0" bIns="0" rtlCol="0" anchor="t" anchorCtr="0"/>
          <a:lstStyle/>
          <a:p>
            <a:pPr marL="0" indent="0" algn="ctr">
              <a:lnSpc>
                <a:spcPct val="108000"/>
              </a:lnSpc>
              <a:defRPr/>
            </a:pPr>
            <a:r>
              <a:rPr lang="en-US" sz="22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垂直于磁场的运动</a:t>
            </a:r>
            <a:endParaRPr lang="en-US" sz="1100"/>
          </a:p>
        </p:txBody>
      </p:sp>
      <p:sp>
        <p:nvSpPr>
          <p:cNvPr id="12" name="AutoShape 12"/>
          <p:cNvSpPr/>
          <p:nvPr/>
        </p:nvSpPr>
        <p:spPr>
          <a:xfrm>
            <a:off x="4470400" y="4292600"/>
            <a:ext cx="3251200" cy="1219200"/>
          </a:xfrm>
          <a:prstGeom prst="rect">
            <a:avLst/>
          </a:prstGeom>
          <a:noFill/>
          <a:ln w="12700" cap="flat" cmpd="sng">
            <a:noFill/>
            <a:prstDash val="solid"/>
            <a:round/>
          </a:ln>
        </p:spPr>
        <p:txBody>
          <a:bodyPr vert="horz" wrap="square" lIns="0" tIns="0" rIns="0" bIns="0" rtlCol="0" anchor="t" anchorCtr="0"/>
          <a:lstStyle/>
          <a:p>
            <a:pPr marL="0" indent="0" algn="ctr">
              <a:lnSpc>
                <a:spcPct val="125000"/>
              </a:lnSpc>
              <a:defRPr/>
            </a:pPr>
            <a:r>
              <a:rPr lang="en-US" sz="14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在垂直于磁场的方向上，洛伦兹力提供了粒子做圆周运动的向心力。这使得粒子在垂直平面内做匀速圆周运动，这一运动形式在等离子体物理中被称为回旋运动。</a:t>
            </a:r>
            <a:endParaRPr lang="en-US" sz="1100"/>
          </a:p>
        </p:txBody>
      </p:sp>
      <p:sp>
        <p:nvSpPr>
          <p:cNvPr id="13" name="AutoShape 13"/>
          <p:cNvSpPr/>
          <p:nvPr/>
        </p:nvSpPr>
        <p:spPr>
          <a:xfrm>
            <a:off x="9347200" y="2260600"/>
            <a:ext cx="1219200" cy="1219200"/>
          </a:xfrm>
          <a:prstGeom prst="roundRect">
            <a:avLst>
              <a:gd name="adj" fmla="val 0"/>
            </a:avLst>
          </a:prstGeom>
          <a:solidFill>
            <a:srgbClr val="527AE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4" name="AutoShape 14"/>
          <p:cNvSpPr/>
          <p:nvPr/>
        </p:nvSpPr>
        <p:spPr>
          <a:xfrm>
            <a:off x="9601200" y="2565400"/>
            <a:ext cx="723900" cy="609600"/>
          </a:xfrm>
          <a:prstGeom prst="rect">
            <a:avLst/>
          </a:prstGeom>
          <a:noFill/>
          <a:ln w="12700" cap="flat" cmpd="sng">
            <a:noFill/>
            <a:prstDash val="solid"/>
            <a:round/>
          </a:ln>
        </p:spPr>
        <p:txBody>
          <a:bodyPr vert="horz" wrap="none" lIns="0" tIns="0" rIns="0" bIns="0" rtlCol="0" anchor="ctr" anchorCtr="0"/>
          <a:lstStyle/>
          <a:p>
            <a:pPr marL="0" indent="0" algn="ctr">
              <a:lnSpc>
                <a:spcPct val="108000"/>
              </a:lnSpc>
              <a:defRPr/>
            </a:pPr>
            <a:r>
              <a:rPr lang="en-US" sz="4800" b="0" i="0" u="none" strike="noStrike">
                <a:solidFill>
                  <a:srgbClr val="FFFFFF"/>
                </a:solidFill>
                <a:latin typeface="Arial" panose="020B0604020202020204"/>
                <a:ea typeface="Arial" panose="020B0604020202020204"/>
                <a:cs typeface="Arial" panose="020B0604020202020204"/>
                <a:sym typeface="Arial" panose="020B0604020202020204"/>
              </a:rPr>
              <a:t>03</a:t>
            </a:r>
            <a:endParaRPr lang="en-US" sz="1100"/>
          </a:p>
        </p:txBody>
      </p:sp>
      <p:sp>
        <p:nvSpPr>
          <p:cNvPr id="15" name="AutoShape 15"/>
          <p:cNvSpPr/>
          <p:nvPr/>
        </p:nvSpPr>
        <p:spPr>
          <a:xfrm>
            <a:off x="8331200" y="3784600"/>
            <a:ext cx="3251200" cy="406400"/>
          </a:xfrm>
          <a:prstGeom prst="rect">
            <a:avLst/>
          </a:prstGeom>
          <a:noFill/>
          <a:ln w="12700" cap="flat" cmpd="sng">
            <a:noFill/>
            <a:prstDash val="solid"/>
            <a:round/>
          </a:ln>
        </p:spPr>
        <p:txBody>
          <a:bodyPr vert="horz" wrap="square" lIns="0" tIns="0" rIns="0" bIns="0" rtlCol="0" anchor="t" anchorCtr="0"/>
          <a:lstStyle/>
          <a:p>
            <a:pPr marL="0" indent="0" algn="ctr">
              <a:lnSpc>
                <a:spcPct val="108000"/>
              </a:lnSpc>
              <a:defRPr/>
            </a:pPr>
            <a:r>
              <a:rPr lang="en-US" sz="22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引导中心近似</a:t>
            </a:r>
            <a:endParaRPr lang="en-US" sz="1100"/>
          </a:p>
        </p:txBody>
      </p:sp>
      <p:sp>
        <p:nvSpPr>
          <p:cNvPr id="16" name="AutoShape 16"/>
          <p:cNvSpPr/>
          <p:nvPr/>
        </p:nvSpPr>
        <p:spPr>
          <a:xfrm>
            <a:off x="8331200" y="4292600"/>
            <a:ext cx="3251200" cy="1219200"/>
          </a:xfrm>
          <a:prstGeom prst="rect">
            <a:avLst/>
          </a:prstGeom>
          <a:noFill/>
          <a:ln w="12700" cap="flat" cmpd="sng">
            <a:noFill/>
            <a:prstDash val="solid"/>
            <a:round/>
          </a:ln>
        </p:spPr>
        <p:txBody>
          <a:bodyPr vert="horz" wrap="square" lIns="0" tIns="0" rIns="0" bIns="0" rtlCol="0" anchor="t" anchorCtr="0"/>
          <a:lstStyle/>
          <a:p>
            <a:pPr marL="0" indent="0" algn="ctr">
              <a:lnSpc>
                <a:spcPct val="125000"/>
              </a:lnSpc>
              <a:defRPr/>
            </a:pPr>
            <a:r>
              <a:rPr lang="en-US" sz="14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由于粒子的回旋运动速度极快，我们可将复杂的实际运动简化为其“引导中心”的运动。引导中心即回旋圆周的圆心，通过追踪其轨迹，能大幅简化对带电粒子在磁场中运动的分析。</a:t>
            </a:r>
            <a:endParaRPr lang="en-US" sz="11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100000"/>
            </a:srgbClr>
          </a:solidFill>
          <a:ln w="25400" cap="flat" cmpd="sng">
            <a:noFill/>
            <a:prstDash val="solid"/>
            <a:round/>
          </a:ln>
        </p:spPr>
        <p:txBody>
          <a:bodyPr vert="horz" wrap="square" lIns="0" tIns="0" rIns="0" bIns="0" rtlCol="0" anchor="ctr" anchorCtr="0"/>
          <a:lstStyle/>
          <a:p>
            <a:pPr algn="ctr">
              <a:defRPr/>
            </a:pPr>
            <a:endParaRPr/>
          </a:p>
        </p:txBody>
      </p:sp>
      <p:sp>
        <p:nvSpPr>
          <p:cNvPr id="3" name="AutoShape 3"/>
          <p:cNvSpPr/>
          <p:nvPr/>
        </p:nvSpPr>
        <p:spPr>
          <a:xfrm>
            <a:off x="609600" y="533400"/>
            <a:ext cx="10972800" cy="609600"/>
          </a:xfrm>
          <a:prstGeom prst="rect">
            <a:avLst/>
          </a:prstGeom>
          <a:noFill/>
          <a:ln w="12700" cap="flat" cmpd="sng">
            <a:noFill/>
            <a:prstDash val="solid"/>
            <a:round/>
          </a:ln>
        </p:spPr>
        <p:txBody>
          <a:bodyPr vert="horz" wrap="square" lIns="0" tIns="0" rIns="0" bIns="0" rtlCol="0" anchor="t" anchorCtr="0"/>
          <a:lstStyle/>
          <a:p>
            <a:pPr marL="0" indent="0" algn="l">
              <a:lnSpc>
                <a:spcPct val="108000"/>
              </a:lnSpc>
              <a:defRPr/>
            </a:pPr>
            <a:r>
              <a:rPr lang="en-US" sz="3300" b="1" i="0" u="none" strike="noStrike">
                <a:solidFill>
                  <a:srgbClr val="10318C"/>
                </a:solidFill>
                <a:latin typeface="微软雅黑" panose="020B0503020204020204" charset="-122"/>
                <a:ea typeface="微软雅黑" panose="020B0503020204020204" charset="-122"/>
                <a:cs typeface="微软雅黑" panose="020B0503020204020204" charset="-122"/>
                <a:sym typeface="微软雅黑" panose="020B0503020204020204" charset="-122"/>
              </a:rPr>
              <a:t>回旋运动的数学推导</a:t>
            </a:r>
            <a:endParaRPr lang="en-US" sz="1100"/>
          </a:p>
        </p:txBody>
      </p:sp>
      <p:sp>
        <p:nvSpPr>
          <p:cNvPr id="4" name="AutoShape 4"/>
          <p:cNvSpPr/>
          <p:nvPr/>
        </p:nvSpPr>
        <p:spPr>
          <a:xfrm>
            <a:off x="609600" y="1524000"/>
            <a:ext cx="4038600" cy="4724400"/>
          </a:xfrm>
          <a:prstGeom prst="roundRect">
            <a:avLst>
              <a:gd name="adj" fmla="val 0"/>
            </a:avLst>
          </a:prstGeom>
          <a:solidFill>
            <a:srgbClr val="E6F0FF">
              <a:alpha val="100000"/>
            </a:srgbClr>
          </a:solidFill>
          <a:ln w="25400" cap="flat" cmpd="sng">
            <a:noFill/>
            <a:prstDash val="solid"/>
            <a:round/>
          </a:ln>
        </p:spPr>
        <p:txBody>
          <a:bodyPr vert="horz" wrap="square" lIns="0" tIns="0" rIns="0" bIns="0" rtlCol="0" anchor="ctr" anchorCtr="0"/>
          <a:lstStyle/>
          <a:p>
            <a:pPr algn="ctr">
              <a:defRPr/>
            </a:pPr>
            <a:endParaRPr/>
          </a:p>
        </p:txBody>
      </p:sp>
      <p:sp>
        <p:nvSpPr>
          <p:cNvPr id="5" name="AutoShape 5"/>
          <p:cNvSpPr/>
          <p:nvPr/>
        </p:nvSpPr>
        <p:spPr>
          <a:xfrm>
            <a:off x="1066800" y="2108200"/>
            <a:ext cx="3429000" cy="635000"/>
          </a:xfrm>
          <a:prstGeom prst="rect">
            <a:avLst/>
          </a:prstGeom>
          <a:noFill/>
          <a:ln w="12700" cap="flat" cmpd="sng">
            <a:noFill/>
            <a:prstDash val="solid"/>
            <a:round/>
          </a:ln>
        </p:spPr>
        <p:txBody>
          <a:bodyPr vert="horz" wrap="square" lIns="0" tIns="0" rIns="0" bIns="0" rtlCol="0" anchor="t" anchorCtr="0"/>
          <a:lstStyle/>
          <a:p>
            <a:pPr marL="0" indent="0" algn="l">
              <a:lnSpc>
                <a:spcPct val="108000"/>
              </a:lnSpc>
              <a:defRPr/>
            </a:pPr>
            <a:r>
              <a:rPr lang="en-US" sz="2200" b="1" i="0" u="none" strike="noStrike">
                <a:solidFill>
                  <a:srgbClr val="10318C"/>
                </a:solidFill>
                <a:latin typeface="微软雅黑" panose="020B0503020204020204" charset="-122"/>
                <a:ea typeface="微软雅黑" panose="020B0503020204020204" charset="-122"/>
                <a:cs typeface="微软雅黑" panose="020B0503020204020204" charset="-122"/>
                <a:sym typeface="微软雅黑" panose="020B0503020204020204" charset="-122"/>
              </a:rPr>
              <a:t>核心原理：洛伦兹力供心力</a:t>
            </a:r>
            <a:endParaRPr lang="en-US" sz="1100"/>
          </a:p>
        </p:txBody>
      </p:sp>
      <p:sp>
        <p:nvSpPr>
          <p:cNvPr id="6" name="AutoShape 6"/>
          <p:cNvSpPr/>
          <p:nvPr/>
        </p:nvSpPr>
        <p:spPr>
          <a:xfrm>
            <a:off x="1066800" y="2984500"/>
            <a:ext cx="3429000" cy="1778000"/>
          </a:xfrm>
          <a:prstGeom prst="rect">
            <a:avLst/>
          </a:prstGeom>
          <a:noFill/>
          <a:ln w="12700" cap="flat" cmpd="sng">
            <a:noFill/>
            <a:prstDash val="solid"/>
            <a:round/>
          </a:ln>
        </p:spPr>
        <p:txBody>
          <a:bodyPr vert="horz" wrap="square" lIns="0" tIns="0" rIns="0" bIns="0" rtlCol="0" anchor="t" anchorCtr="0"/>
          <a:lstStyle/>
          <a:p>
            <a:pPr marL="0" indent="0" algn="l">
              <a:lnSpc>
                <a:spcPct val="117000"/>
              </a:lnSpc>
              <a:defRPr/>
            </a:pPr>
            <a:r>
              <a:rPr lang="en-US" sz="1200" b="0" i="0" u="none" strike="noStrike">
                <a:solidFill>
                  <a:srgbClr val="1F2329"/>
                </a:solidFill>
                <a:latin typeface="微软雅黑" panose="020B0503020204020204" charset="-122"/>
                <a:ea typeface="微软雅黑" panose="020B0503020204020204" charset="-122"/>
                <a:cs typeface="微软雅黑" panose="020B0503020204020204" charset="-122"/>
                <a:sym typeface="微软雅黑" panose="020B0503020204020204" charset="-122"/>
              </a:rPr>
              <a:t>当带电粒子在垂直于磁场的平面内运动时，洛伦兹力的大小恒定且方向始终垂直于粒子的运动方向，指向圆周圆心。这种力的特性恰好满足匀速圆周运动对向心力的要求，因此洛伦兹力在此场景下成为了维持粒子做闭合回旋运动的核心动力源，也是我们推导运动参数的物理基础。</a:t>
            </a:r>
            <a:endParaRPr lang="en-US" sz="1100"/>
          </a:p>
        </p:txBody>
      </p:sp>
      <p:sp>
        <p:nvSpPr>
          <p:cNvPr id="7" name="AutoShape 7"/>
          <p:cNvSpPr/>
          <p:nvPr/>
        </p:nvSpPr>
        <p:spPr>
          <a:xfrm>
            <a:off x="1066800" y="4889500"/>
            <a:ext cx="3429000" cy="1270000"/>
          </a:xfrm>
          <a:prstGeom prst="rect">
            <a:avLst/>
          </a:prstGeom>
          <a:noFill/>
          <a:ln w="12700" cap="flat" cmpd="sng">
            <a:noFill/>
            <a:prstDash val="solid"/>
            <a:round/>
          </a:ln>
        </p:spPr>
        <p:txBody>
          <a:bodyPr vert="horz" wrap="square" lIns="0" tIns="0" rIns="0" bIns="0" rtlCol="0" anchor="t" anchorCtr="0"/>
          <a:lstStyle/>
          <a:p>
            <a:pPr marL="0" indent="0" algn="l">
              <a:lnSpc>
                <a:spcPct val="117000"/>
              </a:lnSpc>
              <a:defRPr/>
            </a:pPr>
            <a:r>
              <a:rPr lang="en-US" sz="1200" b="0" i="0" u="none" strike="noStrike">
                <a:solidFill>
                  <a:srgbClr val="1F2329"/>
                </a:solidFill>
                <a:latin typeface="微软雅黑" panose="020B0503020204020204" charset="-122"/>
                <a:ea typeface="微软雅黑" panose="020B0503020204020204" charset="-122"/>
                <a:cs typeface="微软雅黑" panose="020B0503020204020204" charset="-122"/>
                <a:sym typeface="微软雅黑" panose="020B0503020204020204" charset="-122"/>
              </a:rPr>
              <a:t>逻辑主线：将电磁学中的洛伦兹力公式与经典力学的牛顿第二定律（向心力公式）联立，通过数学消元法去除中间变量，最终解出描述粒子回旋特性的两个关键物理量——回旋半径与回旋频率。</a:t>
            </a:r>
            <a:endParaRPr lang="en-US" sz="1100"/>
          </a:p>
        </p:txBody>
      </p:sp>
      <p:sp>
        <p:nvSpPr>
          <p:cNvPr id="8" name="AutoShape 8"/>
          <p:cNvSpPr/>
          <p:nvPr/>
        </p:nvSpPr>
        <p:spPr>
          <a:xfrm>
            <a:off x="4826000" y="1651000"/>
            <a:ext cx="2260600" cy="2286000"/>
          </a:xfrm>
          <a:prstGeom prst="roundRect">
            <a:avLst>
              <a:gd name="adj" fmla="val 0"/>
            </a:avLst>
          </a:prstGeom>
          <a:solidFill>
            <a:srgbClr val="F5F8FF">
              <a:alpha val="100000"/>
            </a:srgbClr>
          </a:solidFill>
          <a:ln w="25400" cap="flat" cmpd="sng">
            <a:noFill/>
            <a:prstDash val="solid"/>
            <a:round/>
          </a:ln>
        </p:spPr>
        <p:txBody>
          <a:bodyPr vert="horz" wrap="square" lIns="0" tIns="0" rIns="0" bIns="0" rtlCol="0" anchor="ctr" anchorCtr="0"/>
          <a:lstStyle/>
          <a:p>
            <a:pPr algn="ctr">
              <a:defRPr/>
            </a:pPr>
            <a:endParaRPr/>
          </a:p>
        </p:txBody>
      </p:sp>
      <p:sp>
        <p:nvSpPr>
          <p:cNvPr id="9" name="AutoShape 9"/>
          <p:cNvSpPr/>
          <p:nvPr/>
        </p:nvSpPr>
        <p:spPr>
          <a:xfrm>
            <a:off x="4889500" y="1714500"/>
            <a:ext cx="2133600" cy="381000"/>
          </a:xfrm>
          <a:prstGeom prst="rect">
            <a:avLst/>
          </a:prstGeom>
          <a:noFill/>
          <a:ln w="12700" cap="flat" cmpd="sng">
            <a:noFill/>
            <a:prstDash val="solid"/>
            <a:round/>
          </a:ln>
        </p:spPr>
        <p:txBody>
          <a:bodyPr vert="horz" wrap="square" lIns="0" tIns="0" rIns="0" bIns="0" rtlCol="0" anchor="t" anchorCtr="0"/>
          <a:lstStyle/>
          <a:p>
            <a:pPr marL="0" indent="0" algn="ctr">
              <a:lnSpc>
                <a:spcPct val="125000"/>
              </a:lnSpc>
              <a:defRPr/>
            </a:pPr>
            <a:r>
              <a:rPr lang="en-US" sz="1600" b="1" i="0" u="none" strike="noStrike">
                <a:solidFill>
                  <a:srgbClr val="10318C"/>
                </a:solidFill>
                <a:latin typeface="微软雅黑" panose="020B0503020204020204" charset="-122"/>
                <a:ea typeface="微软雅黑" panose="020B0503020204020204" charset="-122"/>
                <a:cs typeface="微软雅黑" panose="020B0503020204020204" charset="-122"/>
                <a:sym typeface="微软雅黑" panose="020B0503020204020204" charset="-122"/>
              </a:rPr>
              <a:t>方程基础构建</a:t>
            </a:r>
            <a:endParaRPr lang="en-US" sz="1100"/>
          </a:p>
        </p:txBody>
      </p:sp>
      <p:sp>
        <p:nvSpPr>
          <p:cNvPr id="10" name="AutoShape 10"/>
          <p:cNvSpPr/>
          <p:nvPr/>
        </p:nvSpPr>
        <p:spPr>
          <a:xfrm>
            <a:off x="4889500" y="2222500"/>
            <a:ext cx="2133600" cy="698500"/>
          </a:xfrm>
          <a:prstGeom prst="rect">
            <a:avLst/>
          </a:prstGeom>
          <a:noFill/>
          <a:ln w="12700" cap="flat" cmpd="sng">
            <a:noFill/>
            <a:prstDash val="solid"/>
            <a:round/>
          </a:ln>
        </p:spPr>
        <p:txBody>
          <a:bodyPr vert="horz" wrap="square" lIns="0" tIns="0" rIns="0" bIns="0" rtlCol="0" anchor="t" anchorCtr="0"/>
          <a:lstStyle/>
          <a:p>
            <a:pPr marL="0" indent="0" algn="ctr">
              <a:lnSpc>
                <a:spcPct val="125000"/>
              </a:lnSpc>
              <a:defRPr/>
            </a:pPr>
            <a:r>
              <a:rPr lang="en-US" sz="1400" b="1" i="0" u="none" strike="noStrike">
                <a:solidFill>
                  <a:srgbClr val="000000"/>
                </a:solidFill>
                <a:latin typeface="Arial" panose="020B0604020202020204"/>
                <a:ea typeface="Arial" panose="020B0604020202020204"/>
                <a:cs typeface="Arial" panose="020B0604020202020204"/>
                <a:sym typeface="Arial" panose="020B0604020202020204"/>
              </a:rPr>
              <a:t>F = |q|v⊥B</a:t>
            </a:r>
            <a:endParaRPr lang="en-US" sz="1100"/>
          </a:p>
        </p:txBody>
      </p:sp>
      <p:sp>
        <p:nvSpPr>
          <p:cNvPr id="11" name="AutoShape 11"/>
          <p:cNvSpPr/>
          <p:nvPr/>
        </p:nvSpPr>
        <p:spPr>
          <a:xfrm>
            <a:off x="4889500" y="2921000"/>
            <a:ext cx="2133600" cy="698500"/>
          </a:xfrm>
          <a:prstGeom prst="rect">
            <a:avLst/>
          </a:prstGeom>
          <a:noFill/>
          <a:ln w="12700" cap="flat" cmpd="sng">
            <a:noFill/>
            <a:prstDash val="solid"/>
            <a:round/>
          </a:ln>
        </p:spPr>
        <p:txBody>
          <a:bodyPr vert="horz" wrap="square" lIns="0" tIns="0" rIns="0" bIns="0" rtlCol="0" anchor="t" anchorCtr="0"/>
          <a:lstStyle/>
          <a:p>
            <a:pPr marL="0" indent="0" algn="l">
              <a:lnSpc>
                <a:spcPct val="100000"/>
              </a:lnSpc>
              <a:defRPr/>
            </a:pPr>
            <a:r>
              <a:rPr lang="en-US" sz="1100" b="0" i="0" u="none" strike="noStrike">
                <a:solidFill>
                  <a:srgbClr val="3C3C3C"/>
                </a:solidFill>
                <a:latin typeface="微软雅黑" panose="020B0503020204020204" charset="-122"/>
                <a:ea typeface="微软雅黑" panose="020B0503020204020204" charset="-122"/>
                <a:cs typeface="微软雅黑" panose="020B0503020204020204" charset="-122"/>
                <a:sym typeface="微软雅黑" panose="020B0503020204020204" charset="-122"/>
              </a:rPr>
              <a:t>洛伦兹力作为向心力，其大小由粒子电荷量、垂直速度与磁感应强度共同决定。</a:t>
            </a:r>
            <a:endParaRPr lang="en-US" sz="1100"/>
          </a:p>
        </p:txBody>
      </p:sp>
      <p:sp>
        <p:nvSpPr>
          <p:cNvPr id="12" name="AutoShape 12"/>
          <p:cNvSpPr/>
          <p:nvPr/>
        </p:nvSpPr>
        <p:spPr>
          <a:xfrm>
            <a:off x="7175500" y="1651000"/>
            <a:ext cx="2260600" cy="2286000"/>
          </a:xfrm>
          <a:prstGeom prst="roundRect">
            <a:avLst>
              <a:gd name="adj" fmla="val 0"/>
            </a:avLst>
          </a:prstGeom>
          <a:solidFill>
            <a:srgbClr val="F5F8FF">
              <a:alpha val="100000"/>
            </a:srgbClr>
          </a:solidFill>
          <a:ln w="25400" cap="flat" cmpd="sng">
            <a:noFill/>
            <a:prstDash val="solid"/>
            <a:round/>
          </a:ln>
        </p:spPr>
        <p:txBody>
          <a:bodyPr vert="horz" wrap="square" lIns="0" tIns="0" rIns="0" bIns="0" rtlCol="0" anchor="ctr" anchorCtr="0"/>
          <a:lstStyle/>
          <a:p>
            <a:pPr algn="ctr">
              <a:defRPr/>
            </a:pPr>
            <a:endParaRPr/>
          </a:p>
        </p:txBody>
      </p:sp>
      <p:sp>
        <p:nvSpPr>
          <p:cNvPr id="13" name="AutoShape 13"/>
          <p:cNvSpPr/>
          <p:nvPr/>
        </p:nvSpPr>
        <p:spPr>
          <a:xfrm>
            <a:off x="7239000" y="1714500"/>
            <a:ext cx="2133600" cy="381000"/>
          </a:xfrm>
          <a:prstGeom prst="rect">
            <a:avLst/>
          </a:prstGeom>
          <a:noFill/>
          <a:ln w="12700" cap="flat" cmpd="sng">
            <a:noFill/>
            <a:prstDash val="solid"/>
            <a:round/>
          </a:ln>
        </p:spPr>
        <p:txBody>
          <a:bodyPr vert="horz" wrap="square" lIns="0" tIns="0" rIns="0" bIns="0" rtlCol="0" anchor="t" anchorCtr="0"/>
          <a:lstStyle/>
          <a:p>
            <a:pPr marL="0" indent="0" algn="ctr">
              <a:lnSpc>
                <a:spcPct val="125000"/>
              </a:lnSpc>
              <a:defRPr/>
            </a:pPr>
            <a:r>
              <a:rPr lang="en-US" sz="1600" b="1" i="0" u="none" strike="noStrike">
                <a:solidFill>
                  <a:srgbClr val="10318C"/>
                </a:solidFill>
                <a:latin typeface="微软雅黑" panose="020B0503020204020204" charset="-122"/>
                <a:ea typeface="微软雅黑" panose="020B0503020204020204" charset="-122"/>
                <a:cs typeface="微软雅黑" panose="020B0503020204020204" charset="-122"/>
                <a:sym typeface="微软雅黑" panose="020B0503020204020204" charset="-122"/>
              </a:rPr>
              <a:t>求解回旋半径</a:t>
            </a:r>
            <a:endParaRPr lang="en-US" sz="1100"/>
          </a:p>
        </p:txBody>
      </p:sp>
      <p:sp>
        <p:nvSpPr>
          <p:cNvPr id="14" name="AutoShape 14"/>
          <p:cNvSpPr/>
          <p:nvPr/>
        </p:nvSpPr>
        <p:spPr>
          <a:xfrm>
            <a:off x="7239000" y="2222500"/>
            <a:ext cx="2133600" cy="698500"/>
          </a:xfrm>
          <a:prstGeom prst="rect">
            <a:avLst/>
          </a:prstGeom>
          <a:noFill/>
          <a:ln w="12700" cap="flat" cmpd="sng">
            <a:noFill/>
            <a:prstDash val="solid"/>
            <a:round/>
          </a:ln>
        </p:spPr>
        <p:txBody>
          <a:bodyPr vert="horz" wrap="square" lIns="0" tIns="0" rIns="0" bIns="0" rtlCol="0" anchor="t" anchorCtr="0"/>
          <a:lstStyle/>
          <a:p>
            <a:pPr marL="0" indent="0" algn="ctr">
              <a:lnSpc>
                <a:spcPct val="125000"/>
              </a:lnSpc>
              <a:defRPr/>
            </a:pPr>
            <a:r>
              <a:rPr lang="en-US" sz="1400" b="1" i="0" u="none" strike="noStrike">
                <a:solidFill>
                  <a:srgbClr val="000000"/>
                </a:solidFill>
                <a:latin typeface="Arial" panose="020B0604020202020204"/>
                <a:ea typeface="Arial" panose="020B0604020202020204"/>
                <a:cs typeface="Arial" panose="020B0604020202020204"/>
                <a:sym typeface="Arial" panose="020B0604020202020204"/>
              </a:rPr>
              <a:t>rg = mv⊥ / |q|B</a:t>
            </a:r>
            <a:endParaRPr lang="en-US" sz="1100"/>
          </a:p>
        </p:txBody>
      </p:sp>
      <p:sp>
        <p:nvSpPr>
          <p:cNvPr id="15" name="AutoShape 15"/>
          <p:cNvSpPr/>
          <p:nvPr/>
        </p:nvSpPr>
        <p:spPr>
          <a:xfrm>
            <a:off x="7239000" y="2921000"/>
            <a:ext cx="2133600" cy="698500"/>
          </a:xfrm>
          <a:prstGeom prst="rect">
            <a:avLst/>
          </a:prstGeom>
          <a:noFill/>
          <a:ln w="12700" cap="flat" cmpd="sng">
            <a:noFill/>
            <a:prstDash val="solid"/>
            <a:round/>
          </a:ln>
        </p:spPr>
        <p:txBody>
          <a:bodyPr vert="horz" wrap="square" lIns="0" tIns="0" rIns="0" bIns="0" rtlCol="0" anchor="t" anchorCtr="0"/>
          <a:lstStyle/>
          <a:p>
            <a:pPr marL="0" indent="0" algn="l">
              <a:lnSpc>
                <a:spcPct val="100000"/>
              </a:lnSpc>
              <a:defRPr/>
            </a:pPr>
            <a:r>
              <a:rPr lang="en-US" sz="1100" b="0" i="0" u="none" strike="noStrike">
                <a:solidFill>
                  <a:srgbClr val="3C3C3C"/>
                </a:solidFill>
                <a:latin typeface="微软雅黑" panose="020B0503020204020204" charset="-122"/>
                <a:ea typeface="微软雅黑" panose="020B0503020204020204" charset="-122"/>
                <a:cs typeface="微软雅黑" panose="020B0503020204020204" charset="-122"/>
                <a:sym typeface="微软雅黑" panose="020B0503020204020204" charset="-122"/>
              </a:rPr>
              <a:t>半径与粒子动量成正比，与磁场强度成反比。磁场越强，粒子的回旋轨道越紧凑。</a:t>
            </a:r>
            <a:endParaRPr lang="en-US" sz="1100"/>
          </a:p>
        </p:txBody>
      </p:sp>
      <p:sp>
        <p:nvSpPr>
          <p:cNvPr id="16" name="AutoShape 16"/>
          <p:cNvSpPr/>
          <p:nvPr/>
        </p:nvSpPr>
        <p:spPr>
          <a:xfrm>
            <a:off x="9525000" y="1651000"/>
            <a:ext cx="2260600" cy="2286000"/>
          </a:xfrm>
          <a:prstGeom prst="roundRect">
            <a:avLst>
              <a:gd name="adj" fmla="val 0"/>
            </a:avLst>
          </a:prstGeom>
          <a:solidFill>
            <a:srgbClr val="F5F8FF">
              <a:alpha val="100000"/>
            </a:srgbClr>
          </a:solidFill>
          <a:ln w="25400" cap="flat" cmpd="sng">
            <a:noFill/>
            <a:prstDash val="solid"/>
            <a:round/>
          </a:ln>
        </p:spPr>
        <p:txBody>
          <a:bodyPr vert="horz" wrap="square" lIns="0" tIns="0" rIns="0" bIns="0" rtlCol="0" anchor="ctr" anchorCtr="0"/>
          <a:lstStyle/>
          <a:p>
            <a:pPr algn="ctr">
              <a:defRPr/>
            </a:pPr>
            <a:endParaRPr/>
          </a:p>
        </p:txBody>
      </p:sp>
      <p:sp>
        <p:nvSpPr>
          <p:cNvPr id="17" name="AutoShape 17"/>
          <p:cNvSpPr/>
          <p:nvPr/>
        </p:nvSpPr>
        <p:spPr>
          <a:xfrm>
            <a:off x="9588500" y="1714500"/>
            <a:ext cx="2133600" cy="381000"/>
          </a:xfrm>
          <a:prstGeom prst="rect">
            <a:avLst/>
          </a:prstGeom>
          <a:noFill/>
          <a:ln w="12700" cap="flat" cmpd="sng">
            <a:noFill/>
            <a:prstDash val="solid"/>
            <a:round/>
          </a:ln>
        </p:spPr>
        <p:txBody>
          <a:bodyPr vert="horz" wrap="square" lIns="0" tIns="0" rIns="0" bIns="0" rtlCol="0" anchor="t" anchorCtr="0"/>
          <a:lstStyle/>
          <a:p>
            <a:pPr marL="0" indent="0" algn="ctr">
              <a:lnSpc>
                <a:spcPct val="125000"/>
              </a:lnSpc>
              <a:defRPr/>
            </a:pPr>
            <a:r>
              <a:rPr lang="en-US" sz="1600" b="1" i="0" u="none" strike="noStrike">
                <a:solidFill>
                  <a:srgbClr val="10318C"/>
                </a:solidFill>
                <a:latin typeface="微软雅黑" panose="020B0503020204020204" charset="-122"/>
                <a:ea typeface="微软雅黑" panose="020B0503020204020204" charset="-122"/>
                <a:cs typeface="微软雅黑" panose="020B0503020204020204" charset="-122"/>
                <a:sym typeface="微软雅黑" panose="020B0503020204020204" charset="-122"/>
              </a:rPr>
              <a:t>求解回旋频率</a:t>
            </a:r>
            <a:endParaRPr lang="en-US" sz="1100"/>
          </a:p>
        </p:txBody>
      </p:sp>
      <p:sp>
        <p:nvSpPr>
          <p:cNvPr id="18" name="AutoShape 18"/>
          <p:cNvSpPr/>
          <p:nvPr/>
        </p:nvSpPr>
        <p:spPr>
          <a:xfrm>
            <a:off x="9588500" y="2222500"/>
            <a:ext cx="2133600" cy="698500"/>
          </a:xfrm>
          <a:prstGeom prst="rect">
            <a:avLst/>
          </a:prstGeom>
          <a:noFill/>
          <a:ln w="12700" cap="flat" cmpd="sng">
            <a:noFill/>
            <a:prstDash val="solid"/>
            <a:round/>
          </a:ln>
        </p:spPr>
        <p:txBody>
          <a:bodyPr vert="horz" wrap="square" lIns="0" tIns="0" rIns="0" bIns="0" rtlCol="0" anchor="t" anchorCtr="0"/>
          <a:lstStyle/>
          <a:p>
            <a:pPr marL="0" indent="0" algn="ctr">
              <a:lnSpc>
                <a:spcPct val="125000"/>
              </a:lnSpc>
              <a:defRPr/>
            </a:pPr>
            <a:r>
              <a:rPr lang="en-US" sz="1400" b="1" i="0" u="none" strike="noStrike">
                <a:solidFill>
                  <a:srgbClr val="000000"/>
                </a:solidFill>
                <a:latin typeface="Arial" panose="020B0604020202020204"/>
                <a:ea typeface="Arial" panose="020B0604020202020204"/>
                <a:cs typeface="Arial" panose="020B0604020202020204"/>
                <a:sym typeface="Arial" panose="020B0604020202020204"/>
              </a:rPr>
              <a:t>ωg = |q|B / m</a:t>
            </a:r>
            <a:endParaRPr lang="en-US" sz="1100"/>
          </a:p>
        </p:txBody>
      </p:sp>
      <p:sp>
        <p:nvSpPr>
          <p:cNvPr id="19" name="AutoShape 19"/>
          <p:cNvSpPr/>
          <p:nvPr/>
        </p:nvSpPr>
        <p:spPr>
          <a:xfrm>
            <a:off x="9588500" y="2921000"/>
            <a:ext cx="2133600" cy="698500"/>
          </a:xfrm>
          <a:prstGeom prst="rect">
            <a:avLst/>
          </a:prstGeom>
          <a:noFill/>
          <a:ln w="12700" cap="flat" cmpd="sng">
            <a:noFill/>
            <a:prstDash val="solid"/>
            <a:round/>
          </a:ln>
        </p:spPr>
        <p:txBody>
          <a:bodyPr vert="horz" wrap="square" lIns="0" tIns="0" rIns="0" bIns="0" rtlCol="0" anchor="t" anchorCtr="0"/>
          <a:lstStyle/>
          <a:p>
            <a:pPr marL="0" indent="0" algn="l">
              <a:lnSpc>
                <a:spcPct val="100000"/>
              </a:lnSpc>
              <a:defRPr/>
            </a:pPr>
            <a:r>
              <a:rPr lang="en-US" sz="1100" b="0" i="0" u="none" strike="noStrike">
                <a:solidFill>
                  <a:srgbClr val="3C3C3C"/>
                </a:solidFill>
                <a:latin typeface="微软雅黑" panose="020B0503020204020204" charset="-122"/>
                <a:ea typeface="微软雅黑" panose="020B0503020204020204" charset="-122"/>
                <a:cs typeface="微软雅黑" panose="020B0503020204020204" charset="-122"/>
                <a:sym typeface="微软雅黑" panose="020B0503020204020204" charset="-122"/>
              </a:rPr>
              <a:t>频率与粒子速度无关，仅取决于荷质比与磁场。这是等离子体约束的重要特征。</a:t>
            </a:r>
            <a:endParaRPr lang="en-US" sz="1100"/>
          </a:p>
        </p:txBody>
      </p:sp>
      <p:sp>
        <p:nvSpPr>
          <p:cNvPr id="20" name="AutoShape 20"/>
          <p:cNvSpPr/>
          <p:nvPr/>
        </p:nvSpPr>
        <p:spPr>
          <a:xfrm>
            <a:off x="4826000" y="4127500"/>
            <a:ext cx="6959600" cy="2349500"/>
          </a:xfrm>
          <a:prstGeom prst="roundRect">
            <a:avLst>
              <a:gd name="adj" fmla="val 0"/>
            </a:avLst>
          </a:prstGeom>
          <a:solidFill>
            <a:srgbClr val="F5F8FF">
              <a:alpha val="100000"/>
            </a:srgbClr>
          </a:solidFill>
          <a:ln w="25400" cap="flat" cmpd="sng">
            <a:noFill/>
            <a:prstDash val="solid"/>
            <a:round/>
          </a:ln>
        </p:spPr>
        <p:txBody>
          <a:bodyPr vert="horz" wrap="square" lIns="0" tIns="0" rIns="0" bIns="0" rtlCol="0" anchor="ctr" anchorCtr="0"/>
          <a:lstStyle/>
          <a:p>
            <a:pPr algn="ctr">
              <a:defRPr/>
            </a:pPr>
            <a:endParaRPr/>
          </a:p>
        </p:txBody>
      </p:sp>
      <p:sp>
        <p:nvSpPr>
          <p:cNvPr id="21" name="AutoShape 21"/>
          <p:cNvSpPr/>
          <p:nvPr/>
        </p:nvSpPr>
        <p:spPr>
          <a:xfrm>
            <a:off x="4953000" y="4254500"/>
            <a:ext cx="6705600" cy="381000"/>
          </a:xfrm>
          <a:prstGeom prst="rect">
            <a:avLst/>
          </a:prstGeom>
          <a:noFill/>
          <a:ln w="12700" cap="flat" cmpd="sng">
            <a:noFill/>
            <a:prstDash val="solid"/>
            <a:round/>
          </a:ln>
        </p:spPr>
        <p:txBody>
          <a:bodyPr vert="horz" wrap="square" lIns="0" tIns="0" rIns="0" bIns="0" rtlCol="0" anchor="t" anchorCtr="0"/>
          <a:lstStyle/>
          <a:p>
            <a:pPr marL="0" indent="0" algn="l">
              <a:lnSpc>
                <a:spcPct val="125000"/>
              </a:lnSpc>
              <a:defRPr/>
            </a:pPr>
            <a:r>
              <a:rPr lang="en-US" sz="1500" b="1" i="0" u="none" strike="noStrike">
                <a:solidFill>
                  <a:srgbClr val="10318C"/>
                </a:solidFill>
                <a:latin typeface="微软雅黑" panose="020B0503020204020204" charset="-122"/>
                <a:ea typeface="微软雅黑" panose="020B0503020204020204" charset="-122"/>
                <a:cs typeface="微软雅黑" panose="020B0503020204020204" charset="-122"/>
                <a:sym typeface="微软雅黑" panose="020B0503020204020204" charset="-122"/>
              </a:rPr>
              <a:t>关键物理量的物理内涵</a:t>
            </a:r>
            <a:endParaRPr lang="en-US" sz="1100"/>
          </a:p>
        </p:txBody>
      </p:sp>
      <p:sp>
        <p:nvSpPr>
          <p:cNvPr id="22" name="AutoShape 22"/>
          <p:cNvSpPr/>
          <p:nvPr/>
        </p:nvSpPr>
        <p:spPr>
          <a:xfrm>
            <a:off x="4953000" y="4826000"/>
            <a:ext cx="3238500" cy="1460500"/>
          </a:xfrm>
          <a:prstGeom prst="rect">
            <a:avLst/>
          </a:prstGeom>
          <a:noFill/>
          <a:ln w="12700" cap="flat" cmpd="sng">
            <a:noFill/>
            <a:prstDash val="solid"/>
            <a:round/>
          </a:ln>
        </p:spPr>
        <p:txBody>
          <a:bodyPr vert="horz" wrap="square" lIns="0" tIns="0" rIns="0" bIns="0" rtlCol="0" anchor="t" anchorCtr="0"/>
          <a:lstStyle/>
          <a:p>
            <a:pPr marL="0" indent="0" algn="l">
              <a:lnSpc>
                <a:spcPct val="108000"/>
              </a:lnSpc>
              <a:defRPr/>
            </a:pPr>
            <a:r>
              <a:rPr lang="en-US" sz="1200" b="1" i="0" u="none" strike="noStrike">
                <a:solidFill>
                  <a:srgbClr val="1F2329"/>
                </a:solidFill>
                <a:latin typeface="微软雅黑" panose="020B0503020204020204" charset="-122"/>
                <a:ea typeface="微软雅黑" panose="020B0503020204020204" charset="-122"/>
                <a:cs typeface="微软雅黑" panose="020B0503020204020204" charset="-122"/>
                <a:sym typeface="微软雅黑" panose="020B0503020204020204" charset="-122"/>
              </a:rPr>
              <a:t>回旋半径（拉莫尔半径）：</a:t>
            </a:r>
            <a:br>
              <a:rPr lang="en-US" sz="1200" b="0" i="0" u="none" strike="noStrike">
                <a:solidFill>
                  <a:srgbClr val="1F2329"/>
                </a:solidFill>
                <a:latin typeface="微软雅黑" panose="020B0503020204020204" charset="-122"/>
                <a:ea typeface="微软雅黑" panose="020B0503020204020204" charset="-122"/>
                <a:cs typeface="微软雅黑" panose="020B0503020204020204" charset="-122"/>
                <a:sym typeface="微软雅黑" panose="020B0503020204020204" charset="-122"/>
              </a:rPr>
            </a:br>
            <a:r>
              <a:rPr lang="en-US" sz="1200" b="0" i="0" u="none" strike="noStrike">
                <a:solidFill>
                  <a:srgbClr val="1F2329"/>
                </a:solidFill>
                <a:latin typeface="微软雅黑" panose="020B0503020204020204" charset="-122"/>
                <a:ea typeface="微软雅黑" panose="020B0503020204020204" charset="-122"/>
                <a:cs typeface="微软雅黑" panose="020B0503020204020204" charset="-122"/>
                <a:sym typeface="微软雅黑" panose="020B0503020204020204" charset="-122"/>
              </a:rPr>
              <a:t>它是衡量粒子在磁场中运动空间尺度的核心指标。在磁约束装置中，该半径越小，意味着粒子越难逃逸出磁场区域，这也是强磁场能有效约束等离子体的理论依据。</a:t>
            </a:r>
            <a:endParaRPr lang="en-US" sz="1100"/>
          </a:p>
        </p:txBody>
      </p:sp>
      <p:sp>
        <p:nvSpPr>
          <p:cNvPr id="23" name="AutoShape 23"/>
          <p:cNvSpPr/>
          <p:nvPr/>
        </p:nvSpPr>
        <p:spPr>
          <a:xfrm>
            <a:off x="8318500" y="4826000"/>
            <a:ext cx="12700" cy="1460500"/>
          </a:xfrm>
          <a:prstGeom prst="roundRect">
            <a:avLst>
              <a:gd name="adj" fmla="val 0"/>
            </a:avLst>
          </a:prstGeom>
          <a:solidFill>
            <a:srgbClr val="C8D2E6">
              <a:alpha val="100000"/>
            </a:srgbClr>
          </a:solidFill>
          <a:ln w="25400" cap="flat" cmpd="sng">
            <a:noFill/>
            <a:prstDash val="solid"/>
            <a:round/>
          </a:ln>
        </p:spPr>
        <p:txBody>
          <a:bodyPr vert="horz" wrap="square" lIns="0" tIns="0" rIns="0" bIns="0" rtlCol="0" anchor="ctr" anchorCtr="0"/>
          <a:lstStyle/>
          <a:p>
            <a:pPr algn="ctr">
              <a:defRPr/>
            </a:pPr>
            <a:endParaRPr/>
          </a:p>
        </p:txBody>
      </p:sp>
      <p:sp>
        <p:nvSpPr>
          <p:cNvPr id="24" name="AutoShape 24"/>
          <p:cNvSpPr/>
          <p:nvPr/>
        </p:nvSpPr>
        <p:spPr>
          <a:xfrm>
            <a:off x="8445500" y="4826000"/>
            <a:ext cx="3238500" cy="1460500"/>
          </a:xfrm>
          <a:prstGeom prst="rect">
            <a:avLst/>
          </a:prstGeom>
          <a:noFill/>
          <a:ln w="12700" cap="flat" cmpd="sng">
            <a:noFill/>
            <a:prstDash val="solid"/>
            <a:round/>
          </a:ln>
        </p:spPr>
        <p:txBody>
          <a:bodyPr vert="horz" wrap="square" lIns="0" tIns="0" rIns="0" bIns="0" rtlCol="0" anchor="t" anchorCtr="0"/>
          <a:lstStyle/>
          <a:p>
            <a:pPr marL="0" indent="0" algn="l">
              <a:lnSpc>
                <a:spcPct val="108000"/>
              </a:lnSpc>
              <a:defRPr/>
            </a:pPr>
            <a:r>
              <a:rPr lang="en-US" sz="1200" b="1" i="0" u="none" strike="noStrike">
                <a:solidFill>
                  <a:srgbClr val="1F2329"/>
                </a:solidFill>
                <a:latin typeface="微软雅黑" panose="020B0503020204020204" charset="-122"/>
                <a:ea typeface="微软雅黑" panose="020B0503020204020204" charset="-122"/>
                <a:cs typeface="微软雅黑" panose="020B0503020204020204" charset="-122"/>
                <a:sym typeface="微软雅黑" panose="020B0503020204020204" charset="-122"/>
              </a:rPr>
              <a:t>回旋频率（拉莫尔频率）：</a:t>
            </a:r>
            <a:br>
              <a:rPr lang="en-US" sz="1200" b="0" i="0" u="none" strike="noStrike">
                <a:solidFill>
                  <a:srgbClr val="1F2329"/>
                </a:solidFill>
                <a:latin typeface="微软雅黑" panose="020B0503020204020204" charset="-122"/>
                <a:ea typeface="微软雅黑" panose="020B0503020204020204" charset="-122"/>
                <a:cs typeface="微软雅黑" panose="020B0503020204020204" charset="-122"/>
                <a:sym typeface="微软雅黑" panose="020B0503020204020204" charset="-122"/>
              </a:rPr>
            </a:br>
            <a:r>
              <a:rPr lang="en-US" sz="1200" b="0" i="0" u="none" strike="noStrike">
                <a:solidFill>
                  <a:srgbClr val="1F2329"/>
                </a:solidFill>
                <a:latin typeface="微软雅黑" panose="020B0503020204020204" charset="-122"/>
                <a:ea typeface="微软雅黑" panose="020B0503020204020204" charset="-122"/>
                <a:cs typeface="微软雅黑" panose="020B0503020204020204" charset="-122"/>
                <a:sym typeface="微软雅黑" panose="020B0503020204020204" charset="-122"/>
              </a:rPr>
              <a:t>反映了粒子在磁场中“转圈”的快慢。由于其与速度无关，不同能量的同种粒子在相同磁场中会以相同频率回旋，这一特性在磁流体力学与等离子体诊断技术中有着广泛应用。</a:t>
            </a:r>
            <a:endParaRPr lang="en-US" sz="11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l="7812" r="7812"/>
          <a:stretch>
            <a:fillRect/>
          </a:stretch>
        </p:blipFill>
        <p:spPr>
          <a:xfrm>
            <a:off x="0" y="0"/>
            <a:ext cx="10972800" cy="7315200"/>
          </a:xfrm>
          <a:prstGeom prst="rect">
            <a:avLst/>
          </a:prstGeom>
          <a:noFill/>
          <a:ln w="25400" cap="flat" cmpd="sng">
            <a:noFill/>
            <a:prstDash val="solid"/>
            <a:round/>
          </a:ln>
        </p:spPr>
      </p:pic>
      <p:sp>
        <p:nvSpPr>
          <p:cNvPr id="3" name="AutoShape 3"/>
          <p:cNvSpPr/>
          <p:nvPr/>
        </p:nvSpPr>
        <p:spPr>
          <a:xfrm>
            <a:off x="609600" y="609600"/>
            <a:ext cx="10972800" cy="711200"/>
          </a:xfrm>
          <a:prstGeom prst="rect">
            <a:avLst/>
          </a:prstGeom>
          <a:noFill/>
          <a:ln w="12700" cap="flat" cmpd="sng">
            <a:noFill/>
            <a:prstDash val="solid"/>
            <a:round/>
          </a:ln>
        </p:spPr>
        <p:txBody>
          <a:bodyPr vert="horz" wrap="square" lIns="0" tIns="0" rIns="0" bIns="0" rtlCol="0" anchor="ctr" anchorCtr="0"/>
          <a:lstStyle/>
          <a:p>
            <a:pPr marL="0" indent="0" algn="ctr">
              <a:lnSpc>
                <a:spcPct val="100000"/>
              </a:lnSpc>
              <a:defRPr/>
            </a:pPr>
            <a:r>
              <a:rPr lang="en-US" sz="3200" b="1" i="0" u="none" strike="noStrike">
                <a:solidFill>
                  <a:srgbClr val="1F2329"/>
                </a:solidFill>
                <a:latin typeface="微软雅黑" panose="020B0503020204020204" charset="-122"/>
                <a:ea typeface="微软雅黑" panose="020B0503020204020204" charset="-122"/>
                <a:cs typeface="微软雅黑" panose="020B0503020204020204" charset="-122"/>
                <a:sym typeface="微软雅黑" panose="020B0503020204020204" charset="-122"/>
              </a:rPr>
              <a:t>回旋运动的关键参数</a:t>
            </a:r>
            <a:endParaRPr lang="en-US" sz="1100"/>
          </a:p>
        </p:txBody>
      </p:sp>
      <p:pic>
        <p:nvPicPr>
          <p:cNvPr id="4" name="Picture 4"/>
          <p:cNvPicPr>
            <a:picLocks noChangeAspect="1"/>
          </p:cNvPicPr>
          <p:nvPr/>
        </p:nvPicPr>
        <p:blipFill>
          <a:blip r:embed="rId4"/>
          <a:srcRect/>
          <a:stretch>
            <a:fillRect/>
          </a:stretch>
        </p:blipFill>
        <p:spPr>
          <a:xfrm>
            <a:off x="1676400" y="1701800"/>
            <a:ext cx="7620000" cy="2082800"/>
          </a:xfrm>
          <a:prstGeom prst="rect">
            <a:avLst/>
          </a:prstGeom>
          <a:noFill/>
          <a:ln w="25400" cap="flat" cmpd="sng">
            <a:noFill/>
            <a:prstDash val="solid"/>
            <a:round/>
          </a:ln>
        </p:spPr>
      </p:pic>
      <p:sp>
        <p:nvSpPr>
          <p:cNvPr id="5" name="AutoShape 5"/>
          <p:cNvSpPr/>
          <p:nvPr/>
        </p:nvSpPr>
        <p:spPr>
          <a:xfrm>
            <a:off x="762000" y="4318000"/>
            <a:ext cx="3302000" cy="2286000"/>
          </a:xfrm>
          <a:prstGeom prst="rect">
            <a:avLst/>
          </a:prstGeom>
          <a:noFill/>
          <a:ln w="12700" cap="flat" cmpd="sng">
            <a:noFill/>
            <a:prstDash val="solid"/>
            <a:round/>
          </a:ln>
        </p:spPr>
        <p:txBody>
          <a:bodyPr vert="horz" wrap="square" lIns="0" tIns="0" rIns="0" bIns="0" rtlCol="0" anchor="t" anchorCtr="0"/>
          <a:lstStyle/>
          <a:p>
            <a:pPr marL="0" indent="0" algn="ctr">
              <a:lnSpc>
                <a:spcPct val="108000"/>
              </a:lnSpc>
              <a:defRPr/>
            </a:pPr>
            <a:r>
              <a:rPr lang="en-US" sz="1800" b="1" i="0" u="none" strike="noStrike">
                <a:solidFill>
                  <a:srgbClr val="1F2329"/>
                </a:solidFill>
                <a:latin typeface="微软雅黑" panose="020B0503020204020204" charset="-122"/>
                <a:ea typeface="微软雅黑" panose="020B0503020204020204" charset="-122"/>
                <a:cs typeface="微软雅黑" panose="020B0503020204020204" charset="-122"/>
                <a:sym typeface="微软雅黑" panose="020B0503020204020204" charset="-122"/>
              </a:rPr>
              <a:t>回旋半径 (r₉)</a:t>
            </a:r>
            <a:endParaRPr lang="en-US" sz="1100"/>
          </a:p>
          <a:p>
            <a:pPr marL="0" indent="0" algn="ctr">
              <a:lnSpc>
                <a:spcPct val="117000"/>
              </a:lnSpc>
            </a:pPr>
            <a:r>
              <a:rPr lang="en-US" sz="1600" b="1" i="0" u="none" strike="noStrike">
                <a:solidFill>
                  <a:srgbClr val="1C375D"/>
                </a:solidFill>
                <a:latin typeface="Arial" panose="020B0604020202020204"/>
                <a:ea typeface="Arial" panose="020B0604020202020204"/>
                <a:cs typeface="Arial" panose="020B0604020202020204"/>
                <a:sym typeface="Arial" panose="020B0604020202020204"/>
              </a:rPr>
              <a:t>r₉ = mv⊥ / (|q|B)</a:t>
            </a:r>
          </a:p>
          <a:p>
            <a:pPr marL="0" indent="0" algn="ctr">
              <a:lnSpc>
                <a:spcPct val="108000"/>
              </a:lnSpc>
            </a:pPr>
            <a:r>
              <a:rPr lang="en-US" sz="1200" b="0" i="0" u="none" strike="noStrike">
                <a:solidFill>
                  <a:srgbClr val="333333"/>
                </a:solidFill>
                <a:latin typeface="微软雅黑" panose="020B0503020204020204" charset="-122"/>
                <a:ea typeface="微软雅黑" panose="020B0503020204020204" charset="-122"/>
                <a:cs typeface="微软雅黑" panose="020B0503020204020204" charset="-122"/>
                <a:sym typeface="微软雅黑" panose="020B0503020204020204" charset="-122"/>
              </a:rPr>
              <a:t>描述粒子绕磁力线旋转的圆周大小。能量越高的粒子横向速度越大，回旋半径也就越大。</a:t>
            </a:r>
          </a:p>
        </p:txBody>
      </p:sp>
      <p:sp>
        <p:nvSpPr>
          <p:cNvPr id="6" name="AutoShape 6"/>
          <p:cNvSpPr/>
          <p:nvPr/>
        </p:nvSpPr>
        <p:spPr>
          <a:xfrm>
            <a:off x="4445000" y="4318000"/>
            <a:ext cx="3302000" cy="2286000"/>
          </a:xfrm>
          <a:prstGeom prst="rect">
            <a:avLst/>
          </a:prstGeom>
          <a:noFill/>
          <a:ln w="12700" cap="flat" cmpd="sng">
            <a:noFill/>
            <a:prstDash val="solid"/>
            <a:round/>
          </a:ln>
        </p:spPr>
        <p:txBody>
          <a:bodyPr vert="horz" wrap="square" lIns="0" tIns="0" rIns="0" bIns="0" rtlCol="0" anchor="t" anchorCtr="0"/>
          <a:lstStyle/>
          <a:p>
            <a:pPr marL="0" indent="0" algn="ctr">
              <a:lnSpc>
                <a:spcPct val="108000"/>
              </a:lnSpc>
              <a:defRPr/>
            </a:pPr>
            <a:r>
              <a:rPr lang="en-US" sz="1800" b="1" i="0" u="none" strike="noStrike">
                <a:solidFill>
                  <a:srgbClr val="1F2329"/>
                </a:solidFill>
                <a:latin typeface="微软雅黑" panose="020B0503020204020204" charset="-122"/>
                <a:ea typeface="微软雅黑" panose="020B0503020204020204" charset="-122"/>
                <a:cs typeface="微软雅黑" panose="020B0503020204020204" charset="-122"/>
                <a:sym typeface="微软雅黑" panose="020B0503020204020204" charset="-122"/>
              </a:rPr>
              <a:t>回旋频率 (ω₉)</a:t>
            </a:r>
            <a:endParaRPr lang="en-US" sz="1100"/>
          </a:p>
          <a:p>
            <a:pPr marL="0" indent="0" algn="ctr">
              <a:lnSpc>
                <a:spcPct val="117000"/>
              </a:lnSpc>
            </a:pPr>
            <a:r>
              <a:rPr lang="en-US" sz="1600" b="1" i="0" u="none" strike="noStrike">
                <a:solidFill>
                  <a:srgbClr val="1C375D"/>
                </a:solidFill>
                <a:latin typeface="Arial" panose="020B0604020202020204"/>
                <a:ea typeface="Arial" panose="020B0604020202020204"/>
                <a:cs typeface="Arial" panose="020B0604020202020204"/>
                <a:sym typeface="Arial" panose="020B0604020202020204"/>
              </a:rPr>
              <a:t>ω₉ = |q|B / m</a:t>
            </a:r>
          </a:p>
          <a:p>
            <a:pPr marL="0" indent="0" algn="ctr">
              <a:lnSpc>
                <a:spcPct val="108000"/>
              </a:lnSpc>
            </a:pPr>
            <a:r>
              <a:rPr lang="en-US" sz="1200" b="0" i="0" u="none" strike="noStrike">
                <a:solidFill>
                  <a:srgbClr val="333333"/>
                </a:solidFill>
                <a:latin typeface="微软雅黑" panose="020B0503020204020204" charset="-122"/>
                <a:ea typeface="微软雅黑" panose="020B0503020204020204" charset="-122"/>
                <a:cs typeface="微软雅黑" panose="020B0503020204020204" charset="-122"/>
                <a:sym typeface="微软雅黑" panose="020B0503020204020204" charset="-122"/>
              </a:rPr>
              <a:t>又称拉莫尔频率，代表粒子旋转快慢。仅由粒子荷质比与磁场强度决定，与运动速度无关。</a:t>
            </a:r>
          </a:p>
        </p:txBody>
      </p:sp>
      <p:sp>
        <p:nvSpPr>
          <p:cNvPr id="7" name="AutoShape 7"/>
          <p:cNvSpPr/>
          <p:nvPr/>
        </p:nvSpPr>
        <p:spPr>
          <a:xfrm>
            <a:off x="8128000" y="4318000"/>
            <a:ext cx="3302000" cy="2286000"/>
          </a:xfrm>
          <a:prstGeom prst="rect">
            <a:avLst/>
          </a:prstGeom>
          <a:noFill/>
          <a:ln w="12700" cap="flat" cmpd="sng">
            <a:noFill/>
            <a:prstDash val="solid"/>
            <a:round/>
          </a:ln>
        </p:spPr>
        <p:txBody>
          <a:bodyPr vert="horz" wrap="square" lIns="0" tIns="0" rIns="0" bIns="0" rtlCol="0" anchor="t" anchorCtr="0"/>
          <a:lstStyle/>
          <a:p>
            <a:pPr marL="0" indent="0" algn="ctr">
              <a:lnSpc>
                <a:spcPct val="108000"/>
              </a:lnSpc>
              <a:defRPr/>
            </a:pPr>
            <a:r>
              <a:rPr lang="en-US" sz="1800" b="1" i="0" u="none" strike="noStrike">
                <a:solidFill>
                  <a:srgbClr val="1F2329"/>
                </a:solidFill>
                <a:latin typeface="微软雅黑" panose="020B0503020204020204" charset="-122"/>
                <a:ea typeface="微软雅黑" panose="020B0503020204020204" charset="-122"/>
                <a:cs typeface="微软雅黑" panose="020B0503020204020204" charset="-122"/>
                <a:sym typeface="微软雅黑" panose="020B0503020204020204" charset="-122"/>
              </a:rPr>
              <a:t>磁矩 (μ)</a:t>
            </a:r>
            <a:endParaRPr lang="en-US" sz="1100"/>
          </a:p>
          <a:p>
            <a:pPr marL="0" indent="0" algn="ctr">
              <a:lnSpc>
                <a:spcPct val="117000"/>
              </a:lnSpc>
            </a:pPr>
            <a:r>
              <a:rPr lang="en-US" sz="1600" b="1" i="0" u="none" strike="noStrike">
                <a:solidFill>
                  <a:srgbClr val="1C375D"/>
                </a:solidFill>
                <a:latin typeface="Arial" panose="020B0604020202020204"/>
                <a:ea typeface="Arial" panose="020B0604020202020204"/>
                <a:cs typeface="Arial" panose="020B0604020202020204"/>
                <a:sym typeface="Arial" panose="020B0604020202020204"/>
              </a:rPr>
              <a:t>μ = W⊥ / B</a:t>
            </a:r>
          </a:p>
          <a:p>
            <a:pPr marL="0" indent="0" algn="ctr">
              <a:lnSpc>
                <a:spcPct val="108000"/>
              </a:lnSpc>
            </a:pPr>
            <a:r>
              <a:rPr lang="en-US" sz="1200" b="0" i="0" u="none" strike="noStrike">
                <a:solidFill>
                  <a:srgbClr val="333333"/>
                </a:solidFill>
                <a:latin typeface="微软雅黑" panose="020B0503020204020204" charset="-122"/>
                <a:ea typeface="微软雅黑" panose="020B0503020204020204" charset="-122"/>
                <a:cs typeface="微软雅黑" panose="020B0503020204020204" charset="-122"/>
                <a:sym typeface="微软雅黑" panose="020B0503020204020204" charset="-122"/>
              </a:rPr>
              <a:t>等离子体物理中重要的绝热不变量，决定了带电粒子在非均匀磁场中受到的磁镜力。</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609600" y="762000"/>
            <a:ext cx="109728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3000" b="1" i="0" u="none" strike="noStrike">
                <a:solidFill>
                  <a:srgbClr val="1C5280"/>
                </a:solidFill>
                <a:latin typeface="微软雅黑" panose="020B0503020204020204" charset="-122"/>
                <a:ea typeface="微软雅黑" panose="020B0503020204020204" charset="-122"/>
                <a:cs typeface="微软雅黑" panose="020B0503020204020204" charset="-122"/>
                <a:sym typeface="微软雅黑" panose="020B0503020204020204" charset="-122"/>
              </a:rPr>
              <a:t>磁镜效应：粒子的“反弹”机制</a:t>
            </a:r>
            <a:endParaRPr lang="en-US" sz="1100"/>
          </a:p>
        </p:txBody>
      </p:sp>
      <p:sp>
        <p:nvSpPr>
          <p:cNvPr id="4" name="AutoShape 4"/>
          <p:cNvSpPr/>
          <p:nvPr/>
        </p:nvSpPr>
        <p:spPr>
          <a:xfrm>
            <a:off x="762000" y="1905000"/>
            <a:ext cx="5080000" cy="4572000"/>
          </a:xfrm>
          <a:prstGeom prst="rect">
            <a:avLst/>
          </a:prstGeom>
          <a:noFill/>
          <a:ln w="12700" cap="flat" cmpd="sng">
            <a:noFill/>
            <a:prstDash val="solid"/>
            <a:round/>
          </a:ln>
        </p:spPr>
        <p:txBody>
          <a:bodyPr vert="horz" wrap="square" lIns="0" tIns="0" rIns="0" bIns="0" rtlCol="0" anchor="t" anchorCtr="0"/>
          <a:lstStyle/>
          <a:p>
            <a:pPr marL="0" indent="0" algn="l">
              <a:lnSpc>
                <a:spcPct val="117000"/>
              </a:lnSpc>
              <a:defRPr/>
            </a:pPr>
            <a:r>
              <a:rPr lang="en-US" sz="1600" b="1" i="0" u="none" strike="noStrike">
                <a:solidFill>
                  <a:srgbClr val="1C5280"/>
                </a:solidFill>
                <a:latin typeface="微软雅黑" panose="020B0503020204020204" charset="-122"/>
                <a:ea typeface="微软雅黑" panose="020B0503020204020204" charset="-122"/>
                <a:cs typeface="微软雅黑" panose="020B0503020204020204" charset="-122"/>
                <a:sym typeface="微软雅黑" panose="020B0503020204020204" charset="-122"/>
              </a:rPr>
              <a:t>核心原理 - 磁矩守恒定律</a:t>
            </a:r>
            <a:br>
              <a:rPr lang="en-US" sz="14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br>
            <a:r>
              <a:rPr lang="en-US" sz="14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当磁场在空间中缓慢变化时，带电粒子的磁矩 μ = W⊥/B 是守恒量。这是磁镜效应的理论基石，意味着垂直于磁场方向的动能与磁感应强度的比值恒定不变。</a:t>
            </a:r>
            <a:endParaRPr lang="en-US" sz="1100"/>
          </a:p>
          <a:p>
            <a:pPr marL="0" indent="0" algn="l">
              <a:lnSpc>
                <a:spcPct val="117000"/>
              </a:lnSpc>
            </a:pPr>
            <a:r>
              <a:rPr lang="en-US" sz="1600" b="1" i="0" u="none" strike="noStrike">
                <a:solidFill>
                  <a:srgbClr val="1C5280"/>
                </a:solidFill>
                <a:latin typeface="微软雅黑" panose="020B0503020204020204" charset="-122"/>
                <a:ea typeface="微软雅黑" panose="020B0503020204020204" charset="-122"/>
                <a:cs typeface="微软雅黑" panose="020B0503020204020204" charset="-122"/>
                <a:sym typeface="微软雅黑" panose="020B0503020204020204" charset="-122"/>
              </a:rPr>
              <a:t>空间背景 - 地球磁场梯度</a:t>
            </a:r>
            <a:br>
              <a:rPr lang="en-US" sz="14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br>
            <a:r>
              <a:rPr lang="en-US" sz="14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地球磁场呈梯度特征：两极磁场强，赤道磁场弱。这种天然的非均匀结构如同“磁力瓶”，为粒子约束提供了物理环境。</a:t>
            </a:r>
          </a:p>
          <a:p>
            <a:pPr marL="0" indent="0" algn="l">
              <a:lnSpc>
                <a:spcPct val="117000"/>
              </a:lnSpc>
            </a:pPr>
            <a:r>
              <a:rPr lang="en-US" sz="1600" b="1" i="0" u="none" strike="noStrike">
                <a:solidFill>
                  <a:srgbClr val="1C5280"/>
                </a:solidFill>
                <a:latin typeface="微软雅黑" panose="020B0503020204020204" charset="-122"/>
                <a:ea typeface="微软雅黑" panose="020B0503020204020204" charset="-122"/>
                <a:cs typeface="微软雅黑" panose="020B0503020204020204" charset="-122"/>
                <a:sym typeface="微软雅黑" panose="020B0503020204020204" charset="-122"/>
              </a:rPr>
              <a:t>运动机制 - 动能的动态转化</a:t>
            </a:r>
            <a:br>
              <a:rPr lang="en-US" sz="14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br>
            <a:r>
              <a:rPr lang="en-US" sz="14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粒子从赤道向两极运动时，磁感应强度B增强，垂直动能W⊥增大，平行动能W∥减小，直至W∥为零，平行运动停止。</a:t>
            </a:r>
          </a:p>
          <a:p>
            <a:pPr marL="0" indent="0" algn="l">
              <a:lnSpc>
                <a:spcPct val="117000"/>
              </a:lnSpc>
            </a:pPr>
            <a:r>
              <a:rPr lang="en-US" sz="1600" b="1" i="0" u="none" strike="noStrike">
                <a:solidFill>
                  <a:srgbClr val="1C5280"/>
                </a:solidFill>
                <a:latin typeface="微软雅黑" panose="020B0503020204020204" charset="-122"/>
                <a:ea typeface="微软雅黑" panose="020B0503020204020204" charset="-122"/>
                <a:cs typeface="微软雅黑" panose="020B0503020204020204" charset="-122"/>
                <a:sym typeface="微软雅黑" panose="020B0503020204020204" charset="-122"/>
              </a:rPr>
              <a:t>物理结果 - 范艾伦辐射带成因</a:t>
            </a:r>
            <a:br>
              <a:rPr lang="en-US" sz="14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br>
            <a:r>
              <a:rPr lang="en-US" sz="14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粒子被磁场“反弹”回赤道，形成往复弹跳。大量粒子被长期约束，最终形成了保护地球的范艾伦辐射带。</a:t>
            </a:r>
          </a:p>
        </p:txBody>
      </p:sp>
      <p:pic>
        <p:nvPicPr>
          <p:cNvPr id="5" name="Picture 5"/>
          <p:cNvPicPr>
            <a:picLocks noChangeAspect="1"/>
          </p:cNvPicPr>
          <p:nvPr/>
        </p:nvPicPr>
        <p:blipFill>
          <a:blip r:embed="rId4"/>
          <a:srcRect l="20597" r="20597"/>
          <a:stretch>
            <a:fillRect/>
          </a:stretch>
        </p:blipFill>
        <p:spPr>
          <a:xfrm>
            <a:off x="6350000" y="2032000"/>
            <a:ext cx="4826000" cy="4318000"/>
          </a:xfrm>
          <a:prstGeom prst="rect">
            <a:avLst/>
          </a:prstGeom>
          <a:noFill/>
          <a:ln w="25400" cap="flat" cmpd="sng">
            <a:noFill/>
            <a:prstDash val="solid"/>
            <a:round/>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blipFill>
            <a:blip r:embed="rId3"/>
            <a:stretch>
              <a:fillRect/>
            </a:stretch>
          </a:blipFill>
          <a:ln w="25400" cap="flat" cmpd="sng">
            <a:noFill/>
            <a:prstDash val="solid"/>
            <a:round/>
          </a:ln>
        </p:spPr>
        <p:txBody>
          <a:bodyPr vert="horz" wrap="square" lIns="0" tIns="0" rIns="0" bIns="0" rtlCol="0" anchor="ctr" anchorCtr="0"/>
          <a:lstStyle/>
          <a:p>
            <a:pPr algn="ctr">
              <a:defRPr/>
            </a:pPr>
            <a:endParaRPr/>
          </a:p>
        </p:txBody>
      </p:sp>
      <p:sp>
        <p:nvSpPr>
          <p:cNvPr id="3" name="AutoShape 3"/>
          <p:cNvSpPr/>
          <p:nvPr/>
        </p:nvSpPr>
        <p:spPr>
          <a:xfrm>
            <a:off x="609600" y="533400"/>
            <a:ext cx="10972800" cy="609600"/>
          </a:xfrm>
          <a:prstGeom prst="rect">
            <a:avLst/>
          </a:prstGeom>
          <a:noFill/>
          <a:ln w="12700" cap="flat" cmpd="sng">
            <a:noFill/>
            <a:prstDash val="solid"/>
            <a:round/>
          </a:ln>
        </p:spPr>
        <p:txBody>
          <a:bodyPr vert="horz" wrap="square" lIns="0" tIns="0" rIns="0" bIns="0" rtlCol="0" anchor="t" anchorCtr="0"/>
          <a:lstStyle/>
          <a:p>
            <a:pPr marL="0" indent="0" algn="l">
              <a:lnSpc>
                <a:spcPct val="108000"/>
              </a:lnSpc>
              <a:defRPr/>
            </a:pPr>
            <a:r>
              <a:rPr lang="en-US" sz="33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非均匀磁场中的漂移运动</a:t>
            </a:r>
            <a:endParaRPr lang="en-US" sz="1100"/>
          </a:p>
        </p:txBody>
      </p:sp>
      <p:sp>
        <p:nvSpPr>
          <p:cNvPr id="4" name="AutoShape 4"/>
          <p:cNvSpPr/>
          <p:nvPr/>
        </p:nvSpPr>
        <p:spPr>
          <a:xfrm>
            <a:off x="762000" y="2032000"/>
            <a:ext cx="5080000" cy="2286000"/>
          </a:xfrm>
          <a:prstGeom prst="rect">
            <a:avLst/>
          </a:prstGeom>
          <a:noFill/>
          <a:ln w="12700" cap="flat" cmpd="sng">
            <a:noFill/>
            <a:prstDash val="solid"/>
            <a:round/>
          </a:ln>
        </p:spPr>
        <p:txBody>
          <a:bodyPr vert="horz" wrap="square" lIns="0" tIns="0" rIns="0" bIns="0" rtlCol="0" anchor="t" anchorCtr="0"/>
          <a:lstStyle/>
          <a:p>
            <a:pPr marL="0" indent="0" algn="l">
              <a:lnSpc>
                <a:spcPct val="100000"/>
              </a:lnSpc>
              <a:defRPr/>
            </a:pPr>
            <a:r>
              <a:rPr lang="en-US" sz="2200" b="1"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梯度漂移</a:t>
            </a:r>
            <a:endParaRPr lang="en-US" sz="1100"/>
          </a:p>
          <a:p>
            <a:pPr marL="0" indent="0" algn="l">
              <a:lnSpc>
                <a:spcPct val="117000"/>
              </a:lnSpc>
            </a:pPr>
            <a:r>
              <a:rPr lang="en-US" sz="1500" b="0" i="0" u="none" strike="noStrike">
                <a:solidFill>
                  <a:srgbClr val="374151"/>
                </a:solidFill>
                <a:latin typeface="微软雅黑" panose="020B0503020204020204" charset="-122"/>
                <a:ea typeface="微软雅黑" panose="020B0503020204020204" charset="-122"/>
                <a:cs typeface="微软雅黑" panose="020B0503020204020204" charset="-122"/>
                <a:sym typeface="微软雅黑" panose="020B0503020204020204" charset="-122"/>
              </a:rPr>
              <a:t>由于磁场强度不均，粒子在磁场弱的一侧回旋半径更大，导致引导中心产生垂直于磁场的净位移。漂移方向与电荷符号有关。</a:t>
            </a:r>
          </a:p>
        </p:txBody>
      </p:sp>
      <p:sp>
        <p:nvSpPr>
          <p:cNvPr id="5" name="AutoShape 5"/>
          <p:cNvSpPr/>
          <p:nvPr/>
        </p:nvSpPr>
        <p:spPr>
          <a:xfrm>
            <a:off x="762000" y="4318000"/>
            <a:ext cx="5080000" cy="2286000"/>
          </a:xfrm>
          <a:prstGeom prst="rect">
            <a:avLst/>
          </a:prstGeom>
          <a:noFill/>
          <a:ln w="12700" cap="flat" cmpd="sng">
            <a:noFill/>
            <a:prstDash val="solid"/>
            <a:round/>
          </a:ln>
        </p:spPr>
        <p:txBody>
          <a:bodyPr vert="horz" wrap="square" lIns="0" tIns="0" rIns="0" bIns="0" rtlCol="0" anchor="t" anchorCtr="0"/>
          <a:lstStyle/>
          <a:p>
            <a:pPr marL="0" indent="0" algn="l">
              <a:lnSpc>
                <a:spcPct val="100000"/>
              </a:lnSpc>
              <a:defRPr/>
            </a:pPr>
            <a:r>
              <a:rPr lang="en-US" sz="2200" b="1"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曲率漂移</a:t>
            </a:r>
            <a:endParaRPr lang="en-US" sz="1100"/>
          </a:p>
          <a:p>
            <a:pPr marL="0" indent="0" algn="l">
              <a:lnSpc>
                <a:spcPct val="117000"/>
              </a:lnSpc>
            </a:pPr>
            <a:r>
              <a:rPr lang="en-US" sz="1500" b="0" i="0" u="none" strike="noStrike">
                <a:solidFill>
                  <a:srgbClr val="374151"/>
                </a:solidFill>
                <a:latin typeface="微软雅黑" panose="020B0503020204020204" charset="-122"/>
                <a:ea typeface="微软雅黑" panose="020B0503020204020204" charset="-122"/>
                <a:cs typeface="微软雅黑" panose="020B0503020204020204" charset="-122"/>
                <a:sym typeface="微软雅黑" panose="020B0503020204020204" charset="-122"/>
              </a:rPr>
              <a:t>由于磁力线是弯曲的，沿磁力线运动的粒子会感受到离心力，等效于一个电场，从而产生漂移。漂移方向同样与电荷符号有关。</a:t>
            </a:r>
          </a:p>
        </p:txBody>
      </p:sp>
      <p:sp>
        <p:nvSpPr>
          <p:cNvPr id="6" name="AutoShape 6"/>
          <p:cNvSpPr/>
          <p:nvPr/>
        </p:nvSpPr>
        <p:spPr>
          <a:xfrm>
            <a:off x="6604000" y="1905000"/>
            <a:ext cx="4826000" cy="4572000"/>
          </a:xfrm>
          <a:prstGeom prst="roundRect">
            <a:avLst>
              <a:gd name="adj" fmla="val 0"/>
            </a:avLst>
          </a:prstGeom>
          <a:blipFill>
            <a:blip r:embed="rId4"/>
            <a:stretch>
              <a:fillRect t="-101155" b="-101155"/>
            </a:stretch>
          </a:blipFill>
          <a:ln w="25400" cap="flat" cmpd="sng">
            <a:noFill/>
            <a:prstDash val="solid"/>
            <a:round/>
          </a:ln>
        </p:spPr>
        <p:txBody>
          <a:bodyPr vert="horz" wrap="square" lIns="63500" tIns="63500" rIns="63500" bIns="63500" rtlCol="0" anchor="ctr"/>
          <a:lstStyle/>
          <a:p>
            <a:pPr algn="ctr">
              <a:defRPr/>
            </a:pP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1016000" y="1905000"/>
            <a:ext cx="1524000" cy="1524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7200" b="1" i="0" u="none" strike="noStrike">
                <a:solidFill>
                  <a:srgbClr val="FFFFFF"/>
                </a:solidFill>
                <a:latin typeface="Arial" panose="020B0604020202020204"/>
                <a:ea typeface="Arial" panose="020B0604020202020204"/>
                <a:cs typeface="Arial" panose="020B0604020202020204"/>
                <a:sym typeface="Arial" panose="020B0604020202020204"/>
              </a:rPr>
              <a:t>03</a:t>
            </a:r>
            <a:endParaRPr lang="en-US" sz="1100"/>
          </a:p>
        </p:txBody>
      </p:sp>
      <p:sp>
        <p:nvSpPr>
          <p:cNvPr id="4" name="AutoShape 4"/>
          <p:cNvSpPr/>
          <p:nvPr/>
        </p:nvSpPr>
        <p:spPr>
          <a:xfrm>
            <a:off x="1016000" y="3530600"/>
            <a:ext cx="7620000" cy="1524000"/>
          </a:xfrm>
          <a:prstGeom prst="rect">
            <a:avLst/>
          </a:prstGeom>
          <a:noFill/>
          <a:ln w="12700" cap="flat" cmpd="sng">
            <a:noFill/>
            <a:prstDash val="solid"/>
            <a:round/>
          </a:ln>
        </p:spPr>
        <p:txBody>
          <a:bodyPr vert="horz" wrap="square" lIns="0" tIns="0" rIns="0" bIns="0" rtlCol="0" anchor="t" anchorCtr="0"/>
          <a:lstStyle/>
          <a:p>
            <a:pPr marL="0" indent="0" algn="l">
              <a:lnSpc>
                <a:spcPct val="100000"/>
              </a:lnSpc>
              <a:defRPr/>
            </a:pPr>
            <a:r>
              <a:rPr lang="en-US" sz="4800" b="0"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研究方法与仿真架构</a:t>
            </a:r>
            <a:endParaRPr lang="en-US" sz="11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527AE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228600" y="177800"/>
            <a:ext cx="11747500" cy="6489700"/>
          </a:xfrm>
          <a:prstGeom prst="roundRect">
            <a:avLst>
              <a:gd name="adj" fmla="val 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609600" y="533400"/>
            <a:ext cx="10972800" cy="609600"/>
          </a:xfrm>
          <a:prstGeom prst="rect">
            <a:avLst/>
          </a:prstGeom>
          <a:noFill/>
          <a:ln w="12700" cap="flat" cmpd="sng">
            <a:noFill/>
            <a:prstDash val="solid"/>
            <a:round/>
          </a:ln>
        </p:spPr>
        <p:txBody>
          <a:bodyPr vert="horz" wrap="square" lIns="0" tIns="0" rIns="0" bIns="0" rtlCol="0" anchor="t" anchorCtr="0"/>
          <a:lstStyle/>
          <a:p>
            <a:pPr marL="0" indent="0" algn="l">
              <a:lnSpc>
                <a:spcPct val="108000"/>
              </a:lnSpc>
              <a:defRPr/>
            </a:pPr>
            <a:r>
              <a:rPr lang="en-US" sz="33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研究工具与软件介绍</a:t>
            </a:r>
            <a:endParaRPr lang="en-US" sz="1100"/>
          </a:p>
        </p:txBody>
      </p:sp>
      <p:sp>
        <p:nvSpPr>
          <p:cNvPr id="5" name="AutoShape 5"/>
          <p:cNvSpPr/>
          <p:nvPr/>
        </p:nvSpPr>
        <p:spPr>
          <a:xfrm>
            <a:off x="609600" y="1524000"/>
            <a:ext cx="3454400" cy="4724400"/>
          </a:xfrm>
          <a:prstGeom prst="roundRect">
            <a:avLst>
              <a:gd name="adj" fmla="val 0"/>
            </a:avLst>
          </a:prstGeom>
          <a:gradFill rotWithShape="0">
            <a:gsLst>
              <a:gs pos="0">
                <a:srgbClr val="EEF2FD">
                  <a:alpha val="100000"/>
                </a:srgbClr>
              </a:gs>
              <a:gs pos="100000">
                <a:srgbClr val="EEF2FD">
                  <a:alpha val="100000"/>
                </a:srgbClr>
              </a:gs>
            </a:gsLst>
            <a:lin ang="5400000"/>
          </a:gra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736600" y="2032000"/>
            <a:ext cx="3200400" cy="6985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400" b="1"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豆包 (Doubao)</a:t>
            </a:r>
            <a:endParaRPr lang="en-US" sz="1100"/>
          </a:p>
        </p:txBody>
      </p:sp>
      <p:sp>
        <p:nvSpPr>
          <p:cNvPr id="7" name="AutoShape 7"/>
          <p:cNvSpPr/>
          <p:nvPr/>
        </p:nvSpPr>
        <p:spPr>
          <a:xfrm>
            <a:off x="736600" y="2921000"/>
            <a:ext cx="3200400" cy="1587500"/>
          </a:xfrm>
          <a:prstGeom prst="roundRect">
            <a:avLst>
              <a:gd name="adj" fmla="val 0"/>
            </a:avLst>
          </a:prstGeom>
          <a:solidFill>
            <a:srgbClr val="E0EC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8" name="AutoShape 8"/>
          <p:cNvSpPr/>
          <p:nvPr/>
        </p:nvSpPr>
        <p:spPr>
          <a:xfrm>
            <a:off x="800100" y="2984500"/>
            <a:ext cx="3073400" cy="1460500"/>
          </a:xfrm>
          <a:prstGeom prst="rect">
            <a:avLst/>
          </a:prstGeom>
          <a:noFill/>
          <a:ln w="12700" cap="flat" cmpd="sng">
            <a:noFill/>
            <a:prstDash val="solid"/>
            <a:round/>
          </a:ln>
        </p:spPr>
        <p:txBody>
          <a:bodyPr vert="horz" wrap="square" lIns="0" tIns="0" rIns="0" bIns="0" rtlCol="0" anchor="t" anchorCtr="0"/>
          <a:lstStyle/>
          <a:p>
            <a:pPr marL="0" indent="0" algn="l">
              <a:lnSpc>
                <a:spcPct val="108000"/>
              </a:lnSpc>
              <a:defRPr/>
            </a:pPr>
            <a:r>
              <a:rPr lang="en-US" sz="1400" b="1"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核心优势：</a:t>
            </a:r>
            <a:r>
              <a:rPr lang="en-US" sz="14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中文语境理解能力极强，擅长自然语言处理与长文本生成，能快速捕捉用户的研究需求并转化为易懂的解释。对于中文文档的梳理、物理概念的通俗化表达以及需求的初步拆解场景，具备极高的适配性与效率。</a:t>
            </a:r>
            <a:endParaRPr lang="en-US" sz="1100"/>
          </a:p>
        </p:txBody>
      </p:sp>
      <p:sp>
        <p:nvSpPr>
          <p:cNvPr id="9" name="AutoShape 9"/>
          <p:cNvSpPr/>
          <p:nvPr/>
        </p:nvSpPr>
        <p:spPr>
          <a:xfrm>
            <a:off x="736600" y="4572000"/>
            <a:ext cx="3200400" cy="1587500"/>
          </a:xfrm>
          <a:prstGeom prst="roundRect">
            <a:avLst>
              <a:gd name="adj" fmla="val 0"/>
            </a:avLst>
          </a:prstGeom>
          <a:solidFill>
            <a:srgbClr val="FEEBEB">
              <a:alpha val="70000"/>
            </a:srgbClr>
          </a:solidFill>
          <a:ln w="25400" cap="flat" cmpd="sng">
            <a:noFill/>
            <a:prstDash val="solid"/>
            <a:round/>
          </a:ln>
        </p:spPr>
        <p:txBody>
          <a:bodyPr vert="horz" wrap="square" lIns="63500" tIns="63500" rIns="63500" bIns="63500" rtlCol="0" anchor="ctr"/>
          <a:lstStyle/>
          <a:p>
            <a:pPr algn="ctr">
              <a:defRPr/>
            </a:pPr>
            <a:endParaRPr/>
          </a:p>
        </p:txBody>
      </p:sp>
      <p:sp>
        <p:nvSpPr>
          <p:cNvPr id="10" name="AutoShape 10"/>
          <p:cNvSpPr/>
          <p:nvPr/>
        </p:nvSpPr>
        <p:spPr>
          <a:xfrm>
            <a:off x="800100" y="4635500"/>
            <a:ext cx="3073400" cy="1460500"/>
          </a:xfrm>
          <a:prstGeom prst="rect">
            <a:avLst/>
          </a:prstGeom>
          <a:noFill/>
          <a:ln w="12700" cap="flat" cmpd="sng">
            <a:noFill/>
            <a:prstDash val="solid"/>
            <a:round/>
          </a:ln>
        </p:spPr>
        <p:txBody>
          <a:bodyPr vert="horz" wrap="square" lIns="0" tIns="0" rIns="0" bIns="0" rtlCol="0" anchor="t" anchorCtr="0"/>
          <a:lstStyle/>
          <a:p>
            <a:pPr marL="0" indent="0" algn="l">
              <a:lnSpc>
                <a:spcPct val="108000"/>
              </a:lnSpc>
              <a:defRPr/>
            </a:pPr>
            <a:r>
              <a:rPr lang="en-US" sz="1400" b="1"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局限不足：</a:t>
            </a:r>
            <a:r>
              <a:rPr lang="en-US" sz="14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在处理强逻辑的复杂编程任务时，易出现代码逻辑疏漏；针对前沿技术细节与深度工程化场景，知识库更新存在滞后，难以独立完成高精度的代码实现与系统级逻辑推导。</a:t>
            </a:r>
            <a:endParaRPr lang="en-US" sz="1100"/>
          </a:p>
        </p:txBody>
      </p:sp>
      <p:sp>
        <p:nvSpPr>
          <p:cNvPr id="11" name="AutoShape 11"/>
          <p:cNvSpPr/>
          <p:nvPr/>
        </p:nvSpPr>
        <p:spPr>
          <a:xfrm>
            <a:off x="4368800" y="1524000"/>
            <a:ext cx="3454400" cy="4724400"/>
          </a:xfrm>
          <a:prstGeom prst="roundRect">
            <a:avLst>
              <a:gd name="adj" fmla="val 0"/>
            </a:avLst>
          </a:prstGeom>
          <a:gradFill rotWithShape="0">
            <a:gsLst>
              <a:gs pos="0">
                <a:srgbClr val="EEF2FD">
                  <a:alpha val="100000"/>
                </a:srgbClr>
              </a:gs>
              <a:gs pos="100000">
                <a:srgbClr val="EEF2FD">
                  <a:alpha val="100000"/>
                </a:srgbClr>
              </a:gs>
            </a:gsLst>
            <a:lin ang="5400000"/>
          </a:gradFill>
          <a:ln w="25400" cap="flat" cmpd="sng">
            <a:noFill/>
            <a:prstDash val="solid"/>
            <a:round/>
          </a:ln>
        </p:spPr>
        <p:txBody>
          <a:bodyPr vert="horz" wrap="square" lIns="63500" tIns="63500" rIns="63500" bIns="63500" rtlCol="0" anchor="ctr"/>
          <a:lstStyle/>
          <a:p>
            <a:pPr algn="ctr">
              <a:defRPr/>
            </a:pPr>
            <a:endParaRPr/>
          </a:p>
        </p:txBody>
      </p:sp>
      <p:sp>
        <p:nvSpPr>
          <p:cNvPr id="12" name="AutoShape 12"/>
          <p:cNvSpPr/>
          <p:nvPr/>
        </p:nvSpPr>
        <p:spPr>
          <a:xfrm>
            <a:off x="4495800" y="2032000"/>
            <a:ext cx="3200400" cy="6985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400" b="1"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DeepSeek Coder</a:t>
            </a:r>
            <a:endParaRPr lang="en-US" sz="1100"/>
          </a:p>
        </p:txBody>
      </p:sp>
      <p:sp>
        <p:nvSpPr>
          <p:cNvPr id="13" name="AutoShape 13"/>
          <p:cNvSpPr/>
          <p:nvPr/>
        </p:nvSpPr>
        <p:spPr>
          <a:xfrm>
            <a:off x="4495800" y="2921000"/>
            <a:ext cx="3200400" cy="1587500"/>
          </a:xfrm>
          <a:prstGeom prst="roundRect">
            <a:avLst>
              <a:gd name="adj" fmla="val 0"/>
            </a:avLst>
          </a:prstGeom>
          <a:solidFill>
            <a:srgbClr val="E0EC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4" name="AutoShape 14"/>
          <p:cNvSpPr/>
          <p:nvPr/>
        </p:nvSpPr>
        <p:spPr>
          <a:xfrm>
            <a:off x="4559300" y="2984500"/>
            <a:ext cx="3073400" cy="1460500"/>
          </a:xfrm>
          <a:prstGeom prst="rect">
            <a:avLst/>
          </a:prstGeom>
          <a:noFill/>
          <a:ln w="12700" cap="flat" cmpd="sng">
            <a:noFill/>
            <a:prstDash val="solid"/>
            <a:round/>
          </a:ln>
        </p:spPr>
        <p:txBody>
          <a:bodyPr vert="horz" wrap="square" lIns="0" tIns="0" rIns="0" bIns="0" rtlCol="0" anchor="t" anchorCtr="0"/>
          <a:lstStyle/>
          <a:p>
            <a:pPr marL="0" indent="0" algn="l">
              <a:lnSpc>
                <a:spcPct val="108000"/>
              </a:lnSpc>
              <a:defRPr/>
            </a:pPr>
            <a:r>
              <a:rPr lang="en-US" sz="1400" b="1"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核心优势：</a:t>
            </a:r>
            <a:r>
              <a:rPr lang="en-US" sz="14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专为代码研发深度优化，支持多编程语言底层逻辑理解，可生成高质量、可直接运行的代码。在代码补全、自动化调试、算法实现及系统重构环节表现卓越，能有效解决工程开发中的具体技术问题。</a:t>
            </a:r>
            <a:endParaRPr lang="en-US" sz="1100"/>
          </a:p>
        </p:txBody>
      </p:sp>
      <p:sp>
        <p:nvSpPr>
          <p:cNvPr id="15" name="AutoShape 15"/>
          <p:cNvSpPr/>
          <p:nvPr/>
        </p:nvSpPr>
        <p:spPr>
          <a:xfrm>
            <a:off x="4495800" y="4572000"/>
            <a:ext cx="3200400" cy="1587500"/>
          </a:xfrm>
          <a:prstGeom prst="roundRect">
            <a:avLst>
              <a:gd name="adj" fmla="val 0"/>
            </a:avLst>
          </a:prstGeom>
          <a:solidFill>
            <a:srgbClr val="FEEBEB">
              <a:alpha val="70000"/>
            </a:srgbClr>
          </a:solidFill>
          <a:ln w="25400" cap="flat" cmpd="sng">
            <a:noFill/>
            <a:prstDash val="solid"/>
            <a:round/>
          </a:ln>
        </p:spPr>
        <p:txBody>
          <a:bodyPr vert="horz" wrap="square" lIns="63500" tIns="63500" rIns="63500" bIns="63500" rtlCol="0" anchor="ctr"/>
          <a:lstStyle/>
          <a:p>
            <a:pPr algn="ctr">
              <a:defRPr/>
            </a:pPr>
            <a:endParaRPr/>
          </a:p>
        </p:txBody>
      </p:sp>
      <p:sp>
        <p:nvSpPr>
          <p:cNvPr id="16" name="AutoShape 16"/>
          <p:cNvSpPr/>
          <p:nvPr/>
        </p:nvSpPr>
        <p:spPr>
          <a:xfrm>
            <a:off x="4559300" y="4635500"/>
            <a:ext cx="3073400" cy="1460500"/>
          </a:xfrm>
          <a:prstGeom prst="rect">
            <a:avLst/>
          </a:prstGeom>
          <a:noFill/>
          <a:ln w="12700" cap="flat" cmpd="sng">
            <a:noFill/>
            <a:prstDash val="solid"/>
            <a:round/>
          </a:ln>
        </p:spPr>
        <p:txBody>
          <a:bodyPr vert="horz" wrap="square" lIns="0" tIns="0" rIns="0" bIns="0" rtlCol="0" anchor="t" anchorCtr="0"/>
          <a:lstStyle/>
          <a:p>
            <a:pPr marL="0" indent="0" algn="l">
              <a:lnSpc>
                <a:spcPct val="108000"/>
              </a:lnSpc>
              <a:defRPr/>
            </a:pPr>
            <a:r>
              <a:rPr lang="en-US" sz="1400" b="1"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局限不足：</a:t>
            </a:r>
            <a:r>
              <a:rPr lang="en-US" sz="14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通用自然语言理解与非技术文本生成能力较弱，对研究背景的语义解读、跨学科概念的转化能力不足。在非编程类的需求分析、文案梳理等场景中，不如通用大模型灵活易用。</a:t>
            </a:r>
            <a:endParaRPr lang="en-US" sz="1100"/>
          </a:p>
        </p:txBody>
      </p:sp>
      <p:sp>
        <p:nvSpPr>
          <p:cNvPr id="17" name="AutoShape 17"/>
          <p:cNvSpPr/>
          <p:nvPr/>
        </p:nvSpPr>
        <p:spPr>
          <a:xfrm>
            <a:off x="8128000" y="1524000"/>
            <a:ext cx="3454400" cy="4724400"/>
          </a:xfrm>
          <a:prstGeom prst="roundRect">
            <a:avLst>
              <a:gd name="adj" fmla="val 0"/>
            </a:avLst>
          </a:prstGeom>
          <a:gradFill rotWithShape="0">
            <a:gsLst>
              <a:gs pos="0">
                <a:srgbClr val="EEF2FD">
                  <a:alpha val="100000"/>
                </a:srgbClr>
              </a:gs>
              <a:gs pos="100000">
                <a:srgbClr val="EEF2FD">
                  <a:alpha val="100000"/>
                </a:srgbClr>
              </a:gs>
            </a:gsLst>
            <a:lin ang="5400000"/>
          </a:gradFill>
          <a:ln w="25400" cap="flat" cmpd="sng">
            <a:noFill/>
            <a:prstDash val="solid"/>
            <a:round/>
          </a:ln>
        </p:spPr>
        <p:txBody>
          <a:bodyPr vert="horz" wrap="square" lIns="63500" tIns="63500" rIns="63500" bIns="63500" rtlCol="0" anchor="ctr"/>
          <a:lstStyle/>
          <a:p>
            <a:pPr algn="ctr">
              <a:defRPr/>
            </a:pPr>
            <a:endParaRPr/>
          </a:p>
        </p:txBody>
      </p:sp>
      <p:sp>
        <p:nvSpPr>
          <p:cNvPr id="18" name="AutoShape 18"/>
          <p:cNvSpPr/>
          <p:nvPr/>
        </p:nvSpPr>
        <p:spPr>
          <a:xfrm>
            <a:off x="8255000" y="2032000"/>
            <a:ext cx="3200400" cy="6985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400" b="1"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协同应用策略</a:t>
            </a:r>
            <a:endParaRPr lang="en-US" sz="1100"/>
          </a:p>
        </p:txBody>
      </p:sp>
      <p:sp>
        <p:nvSpPr>
          <p:cNvPr id="19" name="AutoShape 19"/>
          <p:cNvSpPr/>
          <p:nvPr/>
        </p:nvSpPr>
        <p:spPr>
          <a:xfrm>
            <a:off x="8255000" y="2921000"/>
            <a:ext cx="3200400" cy="1587500"/>
          </a:xfrm>
          <a:prstGeom prst="roundRect">
            <a:avLst>
              <a:gd name="adj" fmla="val 0"/>
            </a:avLst>
          </a:prstGeom>
          <a:solidFill>
            <a:srgbClr val="DCF5EB">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0" name="AutoShape 20"/>
          <p:cNvSpPr/>
          <p:nvPr/>
        </p:nvSpPr>
        <p:spPr>
          <a:xfrm>
            <a:off x="8318500" y="2984500"/>
            <a:ext cx="3073400" cy="1460500"/>
          </a:xfrm>
          <a:prstGeom prst="rect">
            <a:avLst/>
          </a:prstGeom>
          <a:noFill/>
          <a:ln w="12700" cap="flat" cmpd="sng">
            <a:noFill/>
            <a:prstDash val="solid"/>
            <a:round/>
          </a:ln>
        </p:spPr>
        <p:txBody>
          <a:bodyPr vert="horz" wrap="square" lIns="0" tIns="0" rIns="0" bIns="0" rtlCol="0" anchor="t" anchorCtr="0"/>
          <a:lstStyle/>
          <a:p>
            <a:pPr marL="0" indent="0" algn="l">
              <a:lnSpc>
                <a:spcPct val="108000"/>
              </a:lnSpc>
              <a:defRPr/>
            </a:pPr>
            <a:r>
              <a:rPr lang="en-US" sz="1400" b="1"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互补执行：</a:t>
            </a:r>
            <a:r>
              <a:rPr lang="en-US" sz="14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构建“豆包做理解 + Coder做落地”的双引擎模式。利用豆包将抽象的物理研究需求、复杂业务逻辑转化为清晰的技术指标；再通过DeepSeek Coder完成核心算法代码、后端系统的开发与性能优化。</a:t>
            </a:r>
            <a:endParaRPr lang="en-US" sz="1100"/>
          </a:p>
        </p:txBody>
      </p:sp>
      <p:sp>
        <p:nvSpPr>
          <p:cNvPr id="21" name="AutoShape 21"/>
          <p:cNvSpPr/>
          <p:nvPr/>
        </p:nvSpPr>
        <p:spPr>
          <a:xfrm>
            <a:off x="8255000" y="4572000"/>
            <a:ext cx="3200400" cy="1587500"/>
          </a:xfrm>
          <a:prstGeom prst="roundRect">
            <a:avLst>
              <a:gd name="adj" fmla="val 0"/>
            </a:avLst>
          </a:prstGeom>
          <a:solidFill>
            <a:srgbClr val="FFF7DC">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2" name="AutoShape 22"/>
          <p:cNvSpPr/>
          <p:nvPr/>
        </p:nvSpPr>
        <p:spPr>
          <a:xfrm>
            <a:off x="8318500" y="4635500"/>
            <a:ext cx="3073400" cy="1460500"/>
          </a:xfrm>
          <a:prstGeom prst="rect">
            <a:avLst/>
          </a:prstGeom>
          <a:noFill/>
          <a:ln w="12700" cap="flat" cmpd="sng">
            <a:noFill/>
            <a:prstDash val="solid"/>
            <a:round/>
          </a:ln>
        </p:spPr>
        <p:txBody>
          <a:bodyPr vert="horz" wrap="square" lIns="0" tIns="0" rIns="0" bIns="0" rtlCol="0" anchor="t" anchorCtr="0"/>
          <a:lstStyle/>
          <a:p>
            <a:pPr marL="0" indent="0" algn="l">
              <a:lnSpc>
                <a:spcPct val="108000"/>
              </a:lnSpc>
              <a:defRPr/>
            </a:pPr>
            <a:r>
              <a:rPr lang="en-US" sz="1400" b="1"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实践价值：</a:t>
            </a:r>
            <a:r>
              <a:rPr lang="en-US" sz="14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该组合在研究项目中成功打通了从理论到工程的壁垒。既保证了对物理模型的精准解读，又大幅提升了代码实现的效率，显著降低了研发周期，成为技术研究与工程落地的高效辅助方案。</a:t>
            </a:r>
            <a:endParaRPr lang="en-US" sz="11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228600" y="177800"/>
            <a:ext cx="11747500" cy="6489700"/>
          </a:xfrm>
          <a:prstGeom prst="roundRect">
            <a:avLst>
              <a:gd name="adj" fmla="val 0"/>
            </a:avLst>
          </a:prstGeom>
          <a:solidFill>
            <a:srgbClr val="FFFFFF">
              <a:alpha val="90000"/>
            </a:srgbClr>
          </a:solidFill>
          <a:ln w="25400" cap="flat" cmpd="sng">
            <a:noFill/>
            <a:prstDash val="solid"/>
            <a:round/>
          </a:ln>
        </p:spPr>
        <p:txBody>
          <a:bodyPr vert="horz" wrap="square" lIns="0" tIns="0" rIns="0" bIns="0" rtlCol="0" anchor="ctr" anchorCtr="0"/>
          <a:lstStyle/>
          <a:p>
            <a:pPr algn="ctr">
              <a:defRPr/>
            </a:pPr>
            <a:endParaRPr/>
          </a:p>
        </p:txBody>
      </p:sp>
      <p:sp>
        <p:nvSpPr>
          <p:cNvPr id="4" name="AutoShape 4"/>
          <p:cNvSpPr/>
          <p:nvPr/>
        </p:nvSpPr>
        <p:spPr>
          <a:xfrm>
            <a:off x="546100" y="546100"/>
            <a:ext cx="10795000" cy="8255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defRPr/>
            </a:pPr>
            <a:r>
              <a:rPr lang="en-US" sz="3200" b="1"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仿真项目架构：前后端分离</a:t>
            </a:r>
            <a:endParaRPr lang="en-US" sz="1100"/>
          </a:p>
        </p:txBody>
      </p:sp>
      <p:sp>
        <p:nvSpPr>
          <p:cNvPr id="5" name="AutoShape 5"/>
          <p:cNvSpPr/>
          <p:nvPr/>
        </p:nvSpPr>
        <p:spPr>
          <a:xfrm>
            <a:off x="546100" y="1524000"/>
            <a:ext cx="5397500" cy="2667000"/>
          </a:xfrm>
          <a:prstGeom prst="roundRect">
            <a:avLst>
              <a:gd name="adj" fmla="val 0"/>
            </a:avLst>
          </a:prstGeom>
          <a:solidFill>
            <a:srgbClr val="EFF6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673100" y="1625600"/>
            <a:ext cx="5207000" cy="508000"/>
          </a:xfrm>
          <a:prstGeom prst="rect">
            <a:avLst/>
          </a:prstGeom>
          <a:noFill/>
          <a:ln w="12700" cap="flat" cmpd="sng">
            <a:noFill/>
            <a:prstDash val="solid"/>
            <a:round/>
          </a:ln>
        </p:spPr>
        <p:txBody>
          <a:bodyPr vert="horz" wrap="square" lIns="63500" tIns="25400" rIns="63500" bIns="25400" rtlCol="0" anchor="t" anchorCtr="0"/>
          <a:lstStyle/>
          <a:p>
            <a:pPr marL="0" indent="0" algn="l">
              <a:lnSpc>
                <a:spcPct val="100000"/>
              </a:lnSpc>
              <a:defRPr/>
            </a:pPr>
            <a:r>
              <a:rPr lang="en-US" sz="1800" b="1" i="0" u="none" strike="noStrike">
                <a:solidFill>
                  <a:srgbClr val="1E40AF"/>
                </a:solidFill>
                <a:latin typeface="微软雅黑" panose="020B0503020204020204" charset="-122"/>
                <a:ea typeface="微软雅黑" panose="020B0503020204020204" charset="-122"/>
                <a:cs typeface="微软雅黑" panose="020B0503020204020204" charset="-122"/>
                <a:sym typeface="微软雅黑" panose="020B0503020204020204" charset="-122"/>
              </a:rPr>
              <a:t>后端 (Server) - C++ 核心计算层</a:t>
            </a:r>
            <a:endParaRPr lang="en-US" sz="1100"/>
          </a:p>
        </p:txBody>
      </p:sp>
      <p:sp>
        <p:nvSpPr>
          <p:cNvPr id="7" name="AutoShape 7"/>
          <p:cNvSpPr/>
          <p:nvPr/>
        </p:nvSpPr>
        <p:spPr>
          <a:xfrm>
            <a:off x="673100" y="2222500"/>
            <a:ext cx="5143500" cy="1841500"/>
          </a:xfrm>
          <a:prstGeom prst="rect">
            <a:avLst/>
          </a:prstGeom>
          <a:noFill/>
          <a:ln w="12700" cap="flat" cmpd="sng">
            <a:noFill/>
            <a:prstDash val="solid"/>
            <a:round/>
          </a:ln>
        </p:spPr>
        <p:txBody>
          <a:bodyPr vert="horz" wrap="square" lIns="63500" tIns="50800" rIns="63500" bIns="50800" rtlCol="0" anchor="t" anchorCtr="0"/>
          <a:lstStyle/>
          <a:p>
            <a:pPr marL="0" indent="0" algn="l">
              <a:lnSpc>
                <a:spcPct val="117000"/>
              </a:lnSpc>
              <a:defRPr/>
            </a:pPr>
            <a:r>
              <a:rPr lang="en-US" sz="13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核心承担复杂物理场的数值计算工作，基于地心偶极子模型构建精准的磁场环境；求解粒子运动方程时采用四阶龙格-库塔法 (RK4)，在保证计算精度的同时兼顾效率。为应对大规模数据运算，系统集成 OpenMP 实现多核并行加速，将单次仿真耗时显著降低，成为支撑整个项目的高性能算力底座。</a:t>
            </a:r>
            <a:endParaRPr lang="en-US" sz="1100"/>
          </a:p>
        </p:txBody>
      </p:sp>
      <p:sp>
        <p:nvSpPr>
          <p:cNvPr id="8" name="AutoShape 8"/>
          <p:cNvSpPr/>
          <p:nvPr/>
        </p:nvSpPr>
        <p:spPr>
          <a:xfrm>
            <a:off x="546100" y="4318000"/>
            <a:ext cx="5397500" cy="1968500"/>
          </a:xfrm>
          <a:prstGeom prst="roundRect">
            <a:avLst>
              <a:gd name="adj" fmla="val 0"/>
            </a:avLst>
          </a:prstGeom>
          <a:solidFill>
            <a:srgbClr val="F3F4F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9" name="AutoShape 9"/>
          <p:cNvSpPr/>
          <p:nvPr/>
        </p:nvSpPr>
        <p:spPr>
          <a:xfrm>
            <a:off x="673100" y="4445000"/>
            <a:ext cx="5143500" cy="1778000"/>
          </a:xfrm>
          <a:prstGeom prst="rect">
            <a:avLst/>
          </a:prstGeom>
          <a:noFill/>
          <a:ln w="12700" cap="flat" cmpd="sng">
            <a:noFill/>
            <a:prstDash val="solid"/>
            <a:round/>
          </a:ln>
        </p:spPr>
        <p:txBody>
          <a:bodyPr vert="horz" wrap="square" lIns="63500" tIns="63500" rIns="63500" bIns="63500" rtlCol="0" anchor="t" anchorCtr="0"/>
          <a:lstStyle/>
          <a:p>
            <a:pPr marL="0" indent="0" algn="l">
              <a:lnSpc>
                <a:spcPct val="117000"/>
              </a:lnSpc>
              <a:defRPr/>
            </a:pPr>
            <a:r>
              <a:rPr lang="en-US" sz="1200" b="1"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技术定位与优势：</a:t>
            </a:r>
            <a:r>
              <a:rPr lang="en-US" sz="12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C++ 的编译型语言特性赋予了系统极致的执行效率，完全适配科学计算的严苛性能需求。并行化改造突破了单核算力的物理瓶颈，配合 RK4 算法的数值稳定性，确保了从毫秒级微尺度到小时级长时程仿真的结果可靠性，为上层业务提供了坚实的底层数据支撑。</a:t>
            </a:r>
            <a:endParaRPr lang="en-US" sz="1100"/>
          </a:p>
        </p:txBody>
      </p:sp>
      <p:sp>
        <p:nvSpPr>
          <p:cNvPr id="10" name="AutoShape 10"/>
          <p:cNvSpPr/>
          <p:nvPr/>
        </p:nvSpPr>
        <p:spPr>
          <a:xfrm>
            <a:off x="6045200" y="1524000"/>
            <a:ext cx="12700" cy="4762500"/>
          </a:xfrm>
          <a:prstGeom prst="roundRect">
            <a:avLst>
              <a:gd name="adj" fmla="val 0"/>
            </a:avLst>
          </a:prstGeom>
          <a:solidFill>
            <a:srgbClr val="D1D5DB">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1" name="AutoShape 11"/>
          <p:cNvSpPr/>
          <p:nvPr/>
        </p:nvSpPr>
        <p:spPr>
          <a:xfrm>
            <a:off x="6159500" y="1524000"/>
            <a:ext cx="5397500" cy="2667000"/>
          </a:xfrm>
          <a:prstGeom prst="roundRect">
            <a:avLst>
              <a:gd name="adj" fmla="val 0"/>
            </a:avLst>
          </a:prstGeom>
          <a:solidFill>
            <a:srgbClr val="EFF6FF">
              <a:alpha val="100000"/>
            </a:srgbClr>
          </a:solidFill>
          <a:ln w="25400" cap="flat" cmpd="sng">
            <a:noFill/>
            <a:prstDash val="solid"/>
            <a:round/>
          </a:ln>
        </p:spPr>
        <p:txBody>
          <a:bodyPr vert="horz" wrap="square" lIns="0" tIns="0" rIns="0" bIns="0" rtlCol="0" anchor="ctr" anchorCtr="0"/>
          <a:lstStyle/>
          <a:p>
            <a:pPr algn="ctr">
              <a:defRPr/>
            </a:pPr>
            <a:endParaRPr/>
          </a:p>
        </p:txBody>
      </p:sp>
      <p:sp>
        <p:nvSpPr>
          <p:cNvPr id="12" name="AutoShape 12"/>
          <p:cNvSpPr/>
          <p:nvPr/>
        </p:nvSpPr>
        <p:spPr>
          <a:xfrm>
            <a:off x="6286500" y="1625600"/>
            <a:ext cx="5207000" cy="508000"/>
          </a:xfrm>
          <a:prstGeom prst="rect">
            <a:avLst/>
          </a:prstGeom>
          <a:noFill/>
          <a:ln w="12700" cap="flat" cmpd="sng">
            <a:noFill/>
            <a:prstDash val="solid"/>
            <a:round/>
          </a:ln>
        </p:spPr>
        <p:txBody>
          <a:bodyPr vert="horz" wrap="square" lIns="63500" tIns="25400" rIns="63500" bIns="25400" rtlCol="0" anchor="t" anchorCtr="0"/>
          <a:lstStyle/>
          <a:p>
            <a:pPr marL="0" indent="0" algn="l">
              <a:lnSpc>
                <a:spcPct val="100000"/>
              </a:lnSpc>
              <a:defRPr/>
            </a:pPr>
            <a:r>
              <a:rPr lang="en-US" sz="1800" b="1" i="0" u="none" strike="noStrike">
                <a:solidFill>
                  <a:srgbClr val="1E40AF"/>
                </a:solidFill>
                <a:latin typeface="微软雅黑" panose="020B0503020204020204" charset="-122"/>
                <a:ea typeface="微软雅黑" panose="020B0503020204020204" charset="-122"/>
                <a:cs typeface="微软雅黑" panose="020B0503020204020204" charset="-122"/>
                <a:sym typeface="微软雅黑" panose="020B0503020204020204" charset="-122"/>
              </a:rPr>
              <a:t>前端 (Client) - Web 交互可视化层</a:t>
            </a:r>
            <a:endParaRPr lang="en-US" sz="1100"/>
          </a:p>
        </p:txBody>
      </p:sp>
      <p:sp>
        <p:nvSpPr>
          <p:cNvPr id="13" name="AutoShape 13"/>
          <p:cNvSpPr/>
          <p:nvPr/>
        </p:nvSpPr>
        <p:spPr>
          <a:xfrm>
            <a:off x="6286500" y="2222500"/>
            <a:ext cx="5143500" cy="1841500"/>
          </a:xfrm>
          <a:prstGeom prst="rect">
            <a:avLst/>
          </a:prstGeom>
          <a:noFill/>
          <a:ln w="12700" cap="flat" cmpd="sng">
            <a:noFill/>
            <a:prstDash val="solid"/>
            <a:round/>
          </a:ln>
        </p:spPr>
        <p:txBody>
          <a:bodyPr vert="horz" wrap="square" lIns="63500" tIns="50800" rIns="63500" bIns="50800" rtlCol="0" anchor="t" anchorCtr="0"/>
          <a:lstStyle/>
          <a:p>
            <a:pPr marL="0" indent="0" algn="l">
              <a:lnSpc>
                <a:spcPct val="117000"/>
              </a:lnSpc>
              <a:defRPr/>
            </a:pPr>
            <a:r>
              <a:rPr lang="en-US" sz="13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聚焦用户操作与结果呈现，采用 HTML + JavaScript + Plotly.js 轻量化技术栈开发。提供直观的参数控制面板，支持仿真初始条件的实时配置与下发；利用 WebGL 技术驱动 3D 渲染引擎，将抽象的粒子运动数据转化为动态可交互的轨迹画面，让物理过程清晰可见，实现“所见即所得”的分析体验。</a:t>
            </a:r>
            <a:endParaRPr lang="en-US" sz="1100"/>
          </a:p>
        </p:txBody>
      </p:sp>
      <p:sp>
        <p:nvSpPr>
          <p:cNvPr id="14" name="AutoShape 14"/>
          <p:cNvSpPr/>
          <p:nvPr/>
        </p:nvSpPr>
        <p:spPr>
          <a:xfrm>
            <a:off x="6159500" y="4318000"/>
            <a:ext cx="5397500" cy="1968500"/>
          </a:xfrm>
          <a:prstGeom prst="roundRect">
            <a:avLst>
              <a:gd name="adj" fmla="val 0"/>
            </a:avLst>
          </a:prstGeom>
          <a:solidFill>
            <a:srgbClr val="F3F4F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5" name="AutoShape 15"/>
          <p:cNvSpPr/>
          <p:nvPr/>
        </p:nvSpPr>
        <p:spPr>
          <a:xfrm>
            <a:off x="6286500" y="4445000"/>
            <a:ext cx="5143500" cy="1778000"/>
          </a:xfrm>
          <a:prstGeom prst="rect">
            <a:avLst/>
          </a:prstGeom>
          <a:noFill/>
          <a:ln w="12700" cap="flat" cmpd="sng">
            <a:noFill/>
            <a:prstDash val="solid"/>
            <a:round/>
          </a:ln>
        </p:spPr>
        <p:txBody>
          <a:bodyPr vert="horz" wrap="square" lIns="63500" tIns="63500" rIns="63500" bIns="63500" rtlCol="0" anchor="t" anchorCtr="0"/>
          <a:lstStyle/>
          <a:p>
            <a:pPr marL="0" indent="0" algn="l">
              <a:lnSpc>
                <a:spcPct val="117000"/>
              </a:lnSpc>
              <a:defRPr/>
            </a:pPr>
            <a:r>
              <a:rPr lang="en-US" sz="1200" b="1"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业务赋能与体验：</a:t>
            </a:r>
            <a:r>
              <a:rPr lang="en-US" sz="12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B/S 架构实现了跨平台无安装访问，极大降低了用户使用门槛。实时渲染技术将枯燥的数据结果转化为直观的视觉信息，辅助研究人员快速洞察物理规律；动态交互面板则支持参数的即时调优与结果的秒级反馈，有效缩短了仿真方案的迭代验证周期，提升了研究效率。</a:t>
            </a:r>
            <a:endParaRPr lang="en-US" sz="11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527AE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228600" y="177800"/>
            <a:ext cx="11747500" cy="6489700"/>
          </a:xfrm>
          <a:prstGeom prst="roundRect">
            <a:avLst>
              <a:gd name="adj" fmla="val 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546100" y="546100"/>
            <a:ext cx="11176000" cy="762000"/>
          </a:xfrm>
          <a:prstGeom prst="rect">
            <a:avLst/>
          </a:prstGeom>
          <a:noFill/>
          <a:ln w="12700" cap="flat" cmpd="sng">
            <a:noFill/>
            <a:prstDash val="solid"/>
            <a:round/>
          </a:ln>
        </p:spPr>
        <p:txBody>
          <a:bodyPr vert="horz" wrap="square" lIns="88900" tIns="50800" rIns="88900" bIns="50800" rtlCol="0" anchor="ctr" anchorCtr="0"/>
          <a:lstStyle/>
          <a:p>
            <a:pPr marL="0" indent="0" algn="l">
              <a:lnSpc>
                <a:spcPct val="100000"/>
              </a:lnSpc>
              <a:defRPr/>
            </a:pPr>
            <a:r>
              <a:rPr lang="en-US" sz="2800" b="1"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AI互动过程：性能优化与架构讨论</a:t>
            </a:r>
            <a:endParaRPr lang="en-US" sz="1100"/>
          </a:p>
        </p:txBody>
      </p:sp>
      <p:pic>
        <p:nvPicPr>
          <p:cNvPr id="5" name="Picture 5"/>
          <p:cNvPicPr>
            <a:picLocks noChangeAspect="1"/>
          </p:cNvPicPr>
          <p:nvPr/>
        </p:nvPicPr>
        <p:blipFill>
          <a:blip r:embed="rId3"/>
          <a:srcRect t="9184" b="9184"/>
          <a:stretch>
            <a:fillRect/>
          </a:stretch>
        </p:blipFill>
        <p:spPr>
          <a:xfrm>
            <a:off x="546100" y="1651000"/>
            <a:ext cx="5207000" cy="2286000"/>
          </a:xfrm>
          <a:prstGeom prst="rect">
            <a:avLst/>
          </a:prstGeom>
          <a:noFill/>
          <a:ln w="25400" cap="flat" cmpd="sng">
            <a:noFill/>
            <a:prstDash val="solid"/>
            <a:round/>
          </a:ln>
        </p:spPr>
      </p:pic>
      <p:sp>
        <p:nvSpPr>
          <p:cNvPr id="6" name="AutoShape 6"/>
          <p:cNvSpPr/>
          <p:nvPr/>
        </p:nvSpPr>
        <p:spPr>
          <a:xfrm>
            <a:off x="546100" y="4191000"/>
            <a:ext cx="5207000" cy="2159000"/>
          </a:xfrm>
          <a:prstGeom prst="roundRect">
            <a:avLst>
              <a:gd name="adj" fmla="val 0"/>
            </a:avLst>
          </a:prstGeom>
          <a:solidFill>
            <a:srgbClr val="F3F4F6">
              <a:alpha val="100000"/>
            </a:srgbClr>
          </a:solidFill>
          <a:ln w="25400" cap="flat" cmpd="sng">
            <a:noFill/>
            <a:prstDash val="solid"/>
            <a:round/>
          </a:ln>
        </p:spPr>
        <p:txBody>
          <a:bodyPr vert="horz" wrap="square" lIns="0" tIns="0" rIns="0" bIns="0" rtlCol="0" anchor="ctr" anchorCtr="0"/>
          <a:lstStyle/>
          <a:p>
            <a:pPr algn="ctr">
              <a:defRPr/>
            </a:pPr>
            <a:endParaRPr/>
          </a:p>
        </p:txBody>
      </p:sp>
      <p:sp>
        <p:nvSpPr>
          <p:cNvPr id="7" name="AutoShape 7"/>
          <p:cNvSpPr/>
          <p:nvPr/>
        </p:nvSpPr>
        <p:spPr>
          <a:xfrm>
            <a:off x="673100" y="4318000"/>
            <a:ext cx="4953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527AEF"/>
                </a:solidFill>
                <a:latin typeface="微软雅黑" panose="020B0503020204020204" charset="-122"/>
                <a:ea typeface="微软雅黑" panose="020B0503020204020204" charset="-122"/>
                <a:cs typeface="微软雅黑" panose="020B0503020204020204" charset="-122"/>
                <a:sym typeface="微软雅黑" panose="020B0503020204020204" charset="-122"/>
              </a:rPr>
              <a:t>性能瓶颈分析</a:t>
            </a:r>
            <a:endParaRPr lang="en-US" sz="1100"/>
          </a:p>
        </p:txBody>
      </p:sp>
      <p:sp>
        <p:nvSpPr>
          <p:cNvPr id="8" name="AutoShape 8"/>
          <p:cNvSpPr/>
          <p:nvPr/>
        </p:nvSpPr>
        <p:spPr>
          <a:xfrm>
            <a:off x="673100" y="4826000"/>
            <a:ext cx="49530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1F2329"/>
                </a:solidFill>
                <a:latin typeface="微软雅黑" panose="020B0503020204020204" charset="-122"/>
                <a:ea typeface="微软雅黑" panose="020B0503020204020204" charset="-122"/>
                <a:cs typeface="微软雅黑" panose="020B0503020204020204" charset="-122"/>
                <a:sym typeface="微软雅黑" panose="020B0503020204020204" charset="-122"/>
              </a:rPr>
              <a:t>讨论了粒子数量过多时的性能瓶颈，AI指出了`InstancedMesh`和拖尾渲染的优化方向。</a:t>
            </a:r>
            <a:endParaRPr lang="en-US" sz="1100"/>
          </a:p>
        </p:txBody>
      </p:sp>
      <p:cxnSp>
        <p:nvCxnSpPr>
          <p:cNvPr id="9" name="Connector 9"/>
          <p:cNvCxnSpPr/>
          <p:nvPr/>
        </p:nvCxnSpPr>
        <p:spPr>
          <a:xfrm rot="5390708">
            <a:off x="3619500" y="3994159"/>
            <a:ext cx="4699000" cy="12700"/>
          </a:xfrm>
          <a:prstGeom prst="straightConnector1">
            <a:avLst/>
          </a:prstGeom>
          <a:solidFill>
            <a:srgbClr val="DEE0E3">
              <a:alpha val="100000"/>
            </a:srgbClr>
          </a:solidFill>
          <a:ln w="12700" cap="flat" cmpd="sng">
            <a:solidFill>
              <a:srgbClr val="D1D5DB">
                <a:alpha val="100000"/>
              </a:srgbClr>
            </a:solidFill>
            <a:prstDash val="dash"/>
            <a:round/>
            <a:headEnd type="none" w="med" len="med"/>
            <a:tailEnd type="none" w="med" len="med"/>
          </a:ln>
        </p:spPr>
      </p:cxnSp>
      <p:pic>
        <p:nvPicPr>
          <p:cNvPr id="10" name="Picture 10"/>
          <p:cNvPicPr>
            <a:picLocks noChangeAspect="1"/>
          </p:cNvPicPr>
          <p:nvPr/>
        </p:nvPicPr>
        <p:blipFill>
          <a:blip r:embed="rId3"/>
          <a:srcRect t="9184" b="9184"/>
          <a:stretch>
            <a:fillRect/>
          </a:stretch>
        </p:blipFill>
        <p:spPr>
          <a:xfrm>
            <a:off x="6184900" y="1651000"/>
            <a:ext cx="5207000" cy="2286000"/>
          </a:xfrm>
          <a:prstGeom prst="rect">
            <a:avLst/>
          </a:prstGeom>
          <a:noFill/>
          <a:ln w="25400" cap="flat" cmpd="sng">
            <a:noFill/>
            <a:prstDash val="solid"/>
            <a:round/>
          </a:ln>
        </p:spPr>
      </p:pic>
      <p:sp>
        <p:nvSpPr>
          <p:cNvPr id="11" name="AutoShape 11"/>
          <p:cNvSpPr/>
          <p:nvPr/>
        </p:nvSpPr>
        <p:spPr>
          <a:xfrm>
            <a:off x="6184900" y="4191000"/>
            <a:ext cx="5207000" cy="2159000"/>
          </a:xfrm>
          <a:prstGeom prst="roundRect">
            <a:avLst>
              <a:gd name="adj" fmla="val 0"/>
            </a:avLst>
          </a:prstGeom>
          <a:solidFill>
            <a:srgbClr val="F3F4F6">
              <a:alpha val="100000"/>
            </a:srgbClr>
          </a:solidFill>
          <a:ln w="25400" cap="flat" cmpd="sng">
            <a:noFill/>
            <a:prstDash val="solid"/>
            <a:round/>
          </a:ln>
        </p:spPr>
        <p:txBody>
          <a:bodyPr vert="horz" wrap="square" lIns="0" tIns="0" rIns="0" bIns="0" rtlCol="0" anchor="ctr" anchorCtr="0"/>
          <a:lstStyle/>
          <a:p>
            <a:pPr algn="ctr">
              <a:defRPr/>
            </a:pPr>
            <a:endParaRPr/>
          </a:p>
        </p:txBody>
      </p:sp>
      <p:sp>
        <p:nvSpPr>
          <p:cNvPr id="12" name="AutoShape 12"/>
          <p:cNvSpPr/>
          <p:nvPr/>
        </p:nvSpPr>
        <p:spPr>
          <a:xfrm>
            <a:off x="6311900" y="4318000"/>
            <a:ext cx="4953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527AEF"/>
                </a:solidFill>
                <a:latin typeface="微软雅黑" panose="020B0503020204020204" charset="-122"/>
                <a:ea typeface="微软雅黑" panose="020B0503020204020204" charset="-122"/>
                <a:cs typeface="微软雅黑" panose="020B0503020204020204" charset="-122"/>
                <a:sym typeface="微软雅黑" panose="020B0503020204020204" charset="-122"/>
              </a:rPr>
              <a:t>架构演进探讨</a:t>
            </a:r>
            <a:endParaRPr lang="en-US" sz="1100"/>
          </a:p>
        </p:txBody>
      </p:sp>
      <p:sp>
        <p:nvSpPr>
          <p:cNvPr id="13" name="AutoShape 13"/>
          <p:cNvSpPr/>
          <p:nvPr/>
        </p:nvSpPr>
        <p:spPr>
          <a:xfrm>
            <a:off x="6311900" y="4826000"/>
            <a:ext cx="49530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1F2329"/>
                </a:solidFill>
                <a:latin typeface="微软雅黑" panose="020B0503020204020204" charset="-122"/>
                <a:ea typeface="微软雅黑" panose="020B0503020204020204" charset="-122"/>
                <a:cs typeface="微软雅黑" panose="020B0503020204020204" charset="-122"/>
                <a:sym typeface="微软雅黑" panose="020B0503020204020204" charset="-122"/>
              </a:rPr>
              <a:t>探讨了从Python+pybind11混合架构向纯C++后端的演进方案，并分析了`geopack`库带来的依赖问题。</a:t>
            </a:r>
            <a:endParaRPr lang="en-US" sz="11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527AE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228600" y="177800"/>
            <a:ext cx="11747500" cy="6489700"/>
          </a:xfrm>
          <a:prstGeom prst="roundRect">
            <a:avLst>
              <a:gd name="adj" fmla="val 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546100" y="508000"/>
            <a:ext cx="11176000" cy="762000"/>
          </a:xfrm>
          <a:prstGeom prst="rect">
            <a:avLst/>
          </a:prstGeom>
          <a:noFill/>
          <a:ln w="12700" cap="flat" cmpd="sng">
            <a:noFill/>
            <a:prstDash val="solid"/>
            <a:round/>
          </a:ln>
        </p:spPr>
        <p:txBody>
          <a:bodyPr vert="horz" wrap="square" lIns="88900" tIns="50800" rIns="88900" bIns="50800" rtlCol="0" anchor="ctr" anchorCtr="0"/>
          <a:lstStyle/>
          <a:p>
            <a:pPr marL="0" indent="0" algn="l">
              <a:lnSpc>
                <a:spcPct val="100000"/>
              </a:lnSpc>
              <a:defRPr/>
            </a:pPr>
            <a:r>
              <a:rPr lang="en-US" sz="2800" b="1"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AI互动过程：问题排查与解决方案</a:t>
            </a:r>
            <a:endParaRPr lang="en-US" sz="1100"/>
          </a:p>
        </p:txBody>
      </p:sp>
      <p:pic>
        <p:nvPicPr>
          <p:cNvPr id="5" name="Picture 5"/>
          <p:cNvPicPr>
            <a:picLocks noChangeAspect="1"/>
          </p:cNvPicPr>
          <p:nvPr/>
        </p:nvPicPr>
        <p:blipFill>
          <a:blip r:embed="rId3"/>
          <a:srcRect t="6587" b="6587"/>
          <a:stretch>
            <a:fillRect/>
          </a:stretch>
        </p:blipFill>
        <p:spPr>
          <a:xfrm>
            <a:off x="546100" y="1524000"/>
            <a:ext cx="4826000" cy="2540000"/>
          </a:xfrm>
          <a:prstGeom prst="rect">
            <a:avLst/>
          </a:prstGeom>
          <a:noFill/>
          <a:ln w="25400" cap="flat" cmpd="sng">
            <a:noFill/>
            <a:prstDash val="solid"/>
            <a:round/>
          </a:ln>
        </p:spPr>
      </p:pic>
      <p:sp>
        <p:nvSpPr>
          <p:cNvPr id="6" name="AutoShape 6"/>
          <p:cNvSpPr/>
          <p:nvPr/>
        </p:nvSpPr>
        <p:spPr>
          <a:xfrm>
            <a:off x="546100" y="4318000"/>
            <a:ext cx="4826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527AEF"/>
                </a:solidFill>
                <a:latin typeface="微软雅黑" panose="020B0503020204020204" charset="-122"/>
                <a:ea typeface="微软雅黑" panose="020B0503020204020204" charset="-122"/>
                <a:cs typeface="微软雅黑" panose="020B0503020204020204" charset="-122"/>
                <a:sym typeface="微软雅黑" panose="020B0503020204020204" charset="-122"/>
              </a:rPr>
              <a:t>服务部署与调试</a:t>
            </a:r>
            <a:endParaRPr lang="en-US" sz="1100"/>
          </a:p>
        </p:txBody>
      </p:sp>
      <p:sp>
        <p:nvSpPr>
          <p:cNvPr id="7" name="AutoShape 7"/>
          <p:cNvSpPr/>
          <p:nvPr/>
        </p:nvSpPr>
        <p:spPr>
          <a:xfrm>
            <a:off x="546100" y="4889500"/>
            <a:ext cx="4826000" cy="15240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17000"/>
              </a:lnSpc>
              <a:defRPr/>
            </a:pPr>
            <a:r>
              <a:rPr lang="en-US" sz="1300" b="0" i="0" u="none" strike="noStrike">
                <a:solidFill>
                  <a:srgbClr val="1F2329"/>
                </a:solidFill>
                <a:latin typeface="微软雅黑" panose="020B0503020204020204" charset="-122"/>
                <a:ea typeface="微软雅黑" panose="020B0503020204020204" charset="-122"/>
                <a:cs typeface="微软雅黑" panose="020B0503020204020204" charset="-122"/>
                <a:sym typeface="微软雅黑" panose="020B0503020204020204" charset="-122"/>
              </a:rPr>
              <a:t>讨论了如何将项目打包成独立的EXE文件，以解决环境配置问题，并排查了PyInstaller打包时遇到的文件缺失错误。</a:t>
            </a:r>
            <a:endParaRPr lang="en-US" sz="1100"/>
          </a:p>
        </p:txBody>
      </p:sp>
      <p:cxnSp>
        <p:nvCxnSpPr>
          <p:cNvPr id="8" name="Connector 8"/>
          <p:cNvCxnSpPr/>
          <p:nvPr/>
        </p:nvCxnSpPr>
        <p:spPr>
          <a:xfrm rot="5390953">
            <a:off x="3492500" y="3930658"/>
            <a:ext cx="4826000" cy="12700"/>
          </a:xfrm>
          <a:prstGeom prst="straightConnector1">
            <a:avLst/>
          </a:prstGeom>
          <a:solidFill>
            <a:srgbClr val="DEE0E3">
              <a:alpha val="100000"/>
            </a:srgbClr>
          </a:solidFill>
          <a:ln w="12700" cap="flat" cmpd="sng">
            <a:solidFill>
              <a:srgbClr val="DEE0E3">
                <a:alpha val="100000"/>
              </a:srgbClr>
            </a:solidFill>
            <a:prstDash val="solid"/>
            <a:round/>
            <a:headEnd type="none" w="med" len="med"/>
            <a:tailEnd type="none" w="med" len="med"/>
          </a:ln>
        </p:spPr>
      </p:cxnSp>
      <p:pic>
        <p:nvPicPr>
          <p:cNvPr id="9" name="Picture 9"/>
          <p:cNvPicPr>
            <a:picLocks noChangeAspect="1"/>
          </p:cNvPicPr>
          <p:nvPr/>
        </p:nvPicPr>
        <p:blipFill>
          <a:blip r:embed="rId3"/>
          <a:srcRect t="6587" b="6587"/>
          <a:stretch>
            <a:fillRect/>
          </a:stretch>
        </p:blipFill>
        <p:spPr>
          <a:xfrm>
            <a:off x="6286500" y="1524000"/>
            <a:ext cx="4826000" cy="2540000"/>
          </a:xfrm>
          <a:prstGeom prst="rect">
            <a:avLst/>
          </a:prstGeom>
          <a:noFill/>
          <a:ln w="25400" cap="flat" cmpd="sng">
            <a:noFill/>
            <a:prstDash val="solid"/>
            <a:round/>
          </a:ln>
        </p:spPr>
      </p:pic>
      <p:sp>
        <p:nvSpPr>
          <p:cNvPr id="10" name="AutoShape 10"/>
          <p:cNvSpPr/>
          <p:nvPr/>
        </p:nvSpPr>
        <p:spPr>
          <a:xfrm>
            <a:off x="6286500" y="4318000"/>
            <a:ext cx="4826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527AEF"/>
                </a:solidFill>
                <a:latin typeface="微软雅黑" panose="020B0503020204020204" charset="-122"/>
                <a:ea typeface="微软雅黑" panose="020B0503020204020204" charset="-122"/>
                <a:cs typeface="微软雅黑" panose="020B0503020204020204" charset="-122"/>
                <a:sym typeface="微软雅黑" panose="020B0503020204020204" charset="-122"/>
              </a:rPr>
              <a:t>粒子生成与边界问题</a:t>
            </a:r>
            <a:endParaRPr lang="en-US" sz="1100"/>
          </a:p>
        </p:txBody>
      </p:sp>
      <p:sp>
        <p:nvSpPr>
          <p:cNvPr id="11" name="AutoShape 11"/>
          <p:cNvSpPr/>
          <p:nvPr/>
        </p:nvSpPr>
        <p:spPr>
          <a:xfrm>
            <a:off x="6286500" y="4889500"/>
            <a:ext cx="4826000" cy="15240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17000"/>
              </a:lnSpc>
              <a:defRPr/>
            </a:pPr>
            <a:r>
              <a:rPr lang="en-US" sz="1300" b="0" i="0" u="none" strike="noStrike">
                <a:solidFill>
                  <a:srgbClr val="1F2329"/>
                </a:solidFill>
                <a:latin typeface="微软雅黑" panose="020B0503020204020204" charset="-122"/>
                <a:ea typeface="微软雅黑" panose="020B0503020204020204" charset="-122"/>
                <a:cs typeface="微软雅黑" panose="020B0503020204020204" charset="-122"/>
                <a:sym typeface="微软雅黑" panose="020B0503020204020204" charset="-122"/>
              </a:rPr>
              <a:t>排查了粒子生成后位置不动的问题，并讨论了如何通过修改代码来修复边界条件和粒子重生逻辑。</a:t>
            </a:r>
            <a:endParaRPr lang="en-US" sz="11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527AE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228600" y="177800"/>
            <a:ext cx="11747500" cy="6489700"/>
          </a:xfrm>
          <a:prstGeom prst="roundRect">
            <a:avLst>
              <a:gd name="adj" fmla="val 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609600" y="685800"/>
            <a:ext cx="10972800" cy="762000"/>
          </a:xfrm>
          <a:prstGeom prst="roundRect">
            <a:avLst>
              <a:gd name="adj" fmla="val 0"/>
            </a:avLst>
          </a:prstGeom>
          <a:noFill/>
          <a:ln w="25400" cap="flat" cmpd="sng">
            <a:noFill/>
            <a:prstDash val="solid"/>
            <a:round/>
          </a:ln>
        </p:spPr>
        <p:txBody>
          <a:bodyPr vert="horz" wrap="square" lIns="0" tIns="0" rIns="0" bIns="0" rtlCol="0" anchor="t" anchorCtr="0"/>
          <a:lstStyle/>
          <a:p>
            <a:pPr marL="0" indent="0" algn="l">
              <a:lnSpc>
                <a:spcPct val="125000"/>
              </a:lnSpc>
              <a:defRPr/>
            </a:pPr>
            <a:r>
              <a:rPr lang="en-US" sz="3300" b="1"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最终解析与代码展示</a:t>
            </a:r>
            <a:endParaRPr lang="en-US" sz="1100"/>
          </a:p>
        </p:txBody>
      </p:sp>
      <p:sp>
        <p:nvSpPr>
          <p:cNvPr id="5" name="AutoShape 5"/>
          <p:cNvSpPr/>
          <p:nvPr/>
        </p:nvSpPr>
        <p:spPr>
          <a:xfrm>
            <a:off x="609600" y="1524000"/>
            <a:ext cx="50800" cy="1117600"/>
          </a:xfrm>
          <a:prstGeom prst="roundRect">
            <a:avLst>
              <a:gd name="adj" fmla="val 0"/>
            </a:avLst>
          </a:prstGeom>
          <a:solidFill>
            <a:srgbClr val="527AE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762000" y="1524000"/>
            <a:ext cx="3365500" cy="1143000"/>
          </a:xfrm>
          <a:prstGeom prst="roundRect">
            <a:avLst>
              <a:gd name="adj" fmla="val 0"/>
            </a:avLst>
          </a:prstGeom>
          <a:noFill/>
          <a:ln w="25400" cap="flat" cmpd="sng">
            <a:noFill/>
            <a:prstDash val="solid"/>
            <a:round/>
          </a:ln>
        </p:spPr>
        <p:txBody>
          <a:bodyPr vert="horz" wrap="square" lIns="0" tIns="0" rIns="0" bIns="0" rtlCol="0" anchor="t" anchorCtr="0"/>
          <a:lstStyle/>
          <a:p>
            <a:pPr marL="0" indent="0" algn="l">
              <a:lnSpc>
                <a:spcPct val="125000"/>
              </a:lnSpc>
              <a:defRPr/>
            </a:pPr>
            <a:r>
              <a:rPr lang="en-US" sz="1900" b="1"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物理现象解析：</a:t>
            </a:r>
            <a:br>
              <a:rPr lang="en-US" sz="1900" b="1"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br>
            <a:r>
              <a:rPr lang="en-US" sz="1900" b="1"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阿尔芬层不对称性</a:t>
            </a:r>
            <a:endParaRPr lang="en-US" sz="1100"/>
          </a:p>
        </p:txBody>
      </p:sp>
      <p:pic>
        <p:nvPicPr>
          <p:cNvPr id="7" name="Picture 7"/>
          <p:cNvPicPr>
            <a:picLocks noChangeAspect="1"/>
          </p:cNvPicPr>
          <p:nvPr/>
        </p:nvPicPr>
        <p:blipFill>
          <a:blip r:embed="rId3"/>
          <a:srcRect l="1261" r="1261"/>
          <a:stretch>
            <a:fillRect/>
          </a:stretch>
        </p:blipFill>
        <p:spPr>
          <a:xfrm>
            <a:off x="609600" y="2794000"/>
            <a:ext cx="3365500" cy="2032000"/>
          </a:xfrm>
          <a:prstGeom prst="rect">
            <a:avLst/>
          </a:prstGeom>
          <a:noFill/>
          <a:ln w="25400" cap="flat" cmpd="sng">
            <a:noFill/>
            <a:prstDash val="solid"/>
            <a:round/>
          </a:ln>
        </p:spPr>
      </p:pic>
      <p:sp>
        <p:nvSpPr>
          <p:cNvPr id="8" name="AutoShape 8"/>
          <p:cNvSpPr/>
          <p:nvPr/>
        </p:nvSpPr>
        <p:spPr>
          <a:xfrm>
            <a:off x="609600" y="4953000"/>
            <a:ext cx="3365500" cy="1651000"/>
          </a:xfrm>
          <a:prstGeom prst="roundRect">
            <a:avLst>
              <a:gd name="adj" fmla="val 0"/>
            </a:avLst>
          </a:prstGeom>
          <a:noFill/>
          <a:ln w="25400" cap="flat" cmpd="sng">
            <a:noFill/>
            <a:prstDash val="solid"/>
            <a:round/>
          </a:ln>
        </p:spPr>
        <p:txBody>
          <a:bodyPr vert="horz" wrap="square" lIns="0" tIns="0" rIns="0" bIns="0" rtlCol="0" anchor="t" anchorCtr="0"/>
          <a:lstStyle/>
          <a:p>
            <a:pPr marL="0" indent="0" algn="l">
              <a:lnSpc>
                <a:spcPct val="117000"/>
              </a:lnSpc>
              <a:defRPr/>
            </a:pPr>
            <a:r>
              <a:rPr lang="en-US" sz="1200" b="0" i="0" u="none" strike="noStrike">
                <a:solidFill>
                  <a:srgbClr val="3C3C3C"/>
                </a:solidFill>
                <a:latin typeface="微软雅黑" panose="020B0503020204020204" charset="-122"/>
                <a:ea typeface="微软雅黑" panose="020B0503020204020204" charset="-122"/>
                <a:cs typeface="微软雅黑" panose="020B0503020204020204" charset="-122"/>
                <a:sym typeface="微软雅黑" panose="020B0503020204020204" charset="-122"/>
              </a:rPr>
              <a:t>深入探讨电子与质子在晨昏两侧的沉降机制，解析阿尔芬层边界的不对称性成因。阐明了不同电荷粒子在磁场梯度作用下的区域分异规律，为理解磁层与电离层的耦合过程提供了微观视角的物理支撑。</a:t>
            </a:r>
            <a:endParaRPr lang="en-US" sz="1100"/>
          </a:p>
        </p:txBody>
      </p:sp>
      <p:cxnSp>
        <p:nvCxnSpPr>
          <p:cNvPr id="9" name="Connector 9"/>
          <p:cNvCxnSpPr/>
          <p:nvPr/>
        </p:nvCxnSpPr>
        <p:spPr>
          <a:xfrm rot="5390953">
            <a:off x="1778000" y="3930658"/>
            <a:ext cx="4826000" cy="12700"/>
          </a:xfrm>
          <a:prstGeom prst="straightConnector1">
            <a:avLst/>
          </a:prstGeom>
          <a:solidFill>
            <a:srgbClr val="DEE0E3">
              <a:alpha val="100000"/>
            </a:srgbClr>
          </a:solidFill>
          <a:ln w="12700" cap="flat" cmpd="sng">
            <a:solidFill>
              <a:srgbClr val="DCDCDC">
                <a:alpha val="100000"/>
              </a:srgbClr>
            </a:solidFill>
            <a:prstDash val="solid"/>
            <a:round/>
            <a:headEnd type="none" w="med" len="med"/>
            <a:tailEnd type="none" w="med" len="med"/>
          </a:ln>
        </p:spPr>
      </p:cxnSp>
      <p:sp>
        <p:nvSpPr>
          <p:cNvPr id="10" name="AutoShape 10"/>
          <p:cNvSpPr/>
          <p:nvPr/>
        </p:nvSpPr>
        <p:spPr>
          <a:xfrm>
            <a:off x="4318000" y="1524000"/>
            <a:ext cx="50800" cy="1117600"/>
          </a:xfrm>
          <a:prstGeom prst="roundRect">
            <a:avLst>
              <a:gd name="adj" fmla="val 0"/>
            </a:avLst>
          </a:prstGeom>
          <a:solidFill>
            <a:srgbClr val="527AE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1" name="AutoShape 11"/>
          <p:cNvSpPr/>
          <p:nvPr/>
        </p:nvSpPr>
        <p:spPr>
          <a:xfrm>
            <a:off x="4470400" y="1524000"/>
            <a:ext cx="3365500" cy="1143000"/>
          </a:xfrm>
          <a:prstGeom prst="roundRect">
            <a:avLst>
              <a:gd name="adj" fmla="val 0"/>
            </a:avLst>
          </a:prstGeom>
          <a:noFill/>
          <a:ln w="25400" cap="flat" cmpd="sng">
            <a:noFill/>
            <a:prstDash val="solid"/>
            <a:round/>
          </a:ln>
        </p:spPr>
        <p:txBody>
          <a:bodyPr vert="horz" wrap="square" lIns="0" tIns="0" rIns="0" bIns="0" rtlCol="0" anchor="t" anchorCtr="0"/>
          <a:lstStyle/>
          <a:p>
            <a:pPr marL="0" indent="0" algn="l">
              <a:lnSpc>
                <a:spcPct val="125000"/>
              </a:lnSpc>
              <a:defRPr/>
            </a:pPr>
            <a:r>
              <a:rPr lang="en-US" sz="1900" b="1"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核心代码：</a:t>
            </a:r>
            <a:br>
              <a:rPr lang="en-US" sz="1900" b="1"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br>
            <a:r>
              <a:rPr lang="en-US" sz="1900" b="1"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粒子生成与参数设置</a:t>
            </a:r>
            <a:endParaRPr lang="en-US" sz="1100"/>
          </a:p>
        </p:txBody>
      </p:sp>
      <p:pic>
        <p:nvPicPr>
          <p:cNvPr id="12" name="Picture 12"/>
          <p:cNvPicPr>
            <a:picLocks noChangeAspect="1"/>
          </p:cNvPicPr>
          <p:nvPr/>
        </p:nvPicPr>
        <p:blipFill>
          <a:blip r:embed="rId4"/>
          <a:srcRect l="1485" r="1485"/>
          <a:stretch>
            <a:fillRect/>
          </a:stretch>
        </p:blipFill>
        <p:spPr>
          <a:xfrm>
            <a:off x="4318000" y="2794000"/>
            <a:ext cx="3365500" cy="2032000"/>
          </a:xfrm>
          <a:prstGeom prst="rect">
            <a:avLst/>
          </a:prstGeom>
          <a:noFill/>
          <a:ln w="25400" cap="flat" cmpd="sng">
            <a:noFill/>
            <a:prstDash val="solid"/>
            <a:round/>
          </a:ln>
        </p:spPr>
      </p:pic>
      <p:sp>
        <p:nvSpPr>
          <p:cNvPr id="13" name="AutoShape 13"/>
          <p:cNvSpPr/>
          <p:nvPr/>
        </p:nvSpPr>
        <p:spPr>
          <a:xfrm>
            <a:off x="4318000" y="4953000"/>
            <a:ext cx="3365500" cy="1651000"/>
          </a:xfrm>
          <a:prstGeom prst="roundRect">
            <a:avLst>
              <a:gd name="adj" fmla="val 0"/>
            </a:avLst>
          </a:prstGeom>
          <a:noFill/>
          <a:ln w="25400" cap="flat" cmpd="sng">
            <a:noFill/>
            <a:prstDash val="solid"/>
            <a:round/>
          </a:ln>
        </p:spPr>
        <p:txBody>
          <a:bodyPr vert="horz" wrap="square" lIns="0" tIns="0" rIns="0" bIns="0" rtlCol="0" anchor="t" anchorCtr="0"/>
          <a:lstStyle/>
          <a:p>
            <a:pPr marL="0" indent="0" algn="l">
              <a:lnSpc>
                <a:spcPct val="117000"/>
              </a:lnSpc>
              <a:defRPr/>
            </a:pPr>
            <a:r>
              <a:rPr lang="en-US" sz="1200" b="0" i="0" u="none" strike="noStrike">
                <a:solidFill>
                  <a:srgbClr val="3C3C3C"/>
                </a:solidFill>
                <a:latin typeface="微软雅黑" panose="020B0503020204020204" charset="-122"/>
                <a:ea typeface="微软雅黑" panose="020B0503020204020204" charset="-122"/>
                <a:cs typeface="微软雅黑" panose="020B0503020204020204" charset="-122"/>
                <a:sym typeface="微软雅黑" panose="020B0503020204020204" charset="-122"/>
              </a:rPr>
              <a:t>展示仿真系统的粒子初始化核心逻辑，包含基于统计的Monte Carlo权重选择算法、粒子速度场的物理初始化流程及边界溢出的安全检查机制。该模块确保了仿真样本的代表性与计算过程的稳定性，是实验数据有效性的关键基础。</a:t>
            </a:r>
            <a:endParaRPr lang="en-US" sz="1100"/>
          </a:p>
        </p:txBody>
      </p:sp>
      <p:cxnSp>
        <p:nvCxnSpPr>
          <p:cNvPr id="14" name="Connector 14"/>
          <p:cNvCxnSpPr/>
          <p:nvPr/>
        </p:nvCxnSpPr>
        <p:spPr>
          <a:xfrm rot="5390953">
            <a:off x="5524500" y="3930658"/>
            <a:ext cx="4826000" cy="12700"/>
          </a:xfrm>
          <a:prstGeom prst="straightConnector1">
            <a:avLst/>
          </a:prstGeom>
          <a:solidFill>
            <a:srgbClr val="DEE0E3">
              <a:alpha val="100000"/>
            </a:srgbClr>
          </a:solidFill>
          <a:ln w="12700" cap="flat" cmpd="sng">
            <a:solidFill>
              <a:srgbClr val="DCDCDC">
                <a:alpha val="100000"/>
              </a:srgbClr>
            </a:solidFill>
            <a:prstDash val="solid"/>
            <a:round/>
            <a:headEnd type="none" w="med" len="med"/>
            <a:tailEnd type="none" w="med" len="med"/>
          </a:ln>
        </p:spPr>
      </p:cxnSp>
      <p:sp>
        <p:nvSpPr>
          <p:cNvPr id="15" name="AutoShape 15"/>
          <p:cNvSpPr/>
          <p:nvPr/>
        </p:nvSpPr>
        <p:spPr>
          <a:xfrm>
            <a:off x="8064500" y="1524000"/>
            <a:ext cx="50800" cy="1117600"/>
          </a:xfrm>
          <a:prstGeom prst="roundRect">
            <a:avLst>
              <a:gd name="adj" fmla="val 0"/>
            </a:avLst>
          </a:prstGeom>
          <a:solidFill>
            <a:srgbClr val="527AE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6" name="AutoShape 16"/>
          <p:cNvSpPr/>
          <p:nvPr/>
        </p:nvSpPr>
        <p:spPr>
          <a:xfrm>
            <a:off x="8216900" y="1524000"/>
            <a:ext cx="3365500" cy="1143000"/>
          </a:xfrm>
          <a:prstGeom prst="roundRect">
            <a:avLst>
              <a:gd name="adj" fmla="val 0"/>
            </a:avLst>
          </a:prstGeom>
          <a:noFill/>
          <a:ln w="25400" cap="flat" cmpd="sng">
            <a:noFill/>
            <a:prstDash val="solid"/>
            <a:round/>
          </a:ln>
        </p:spPr>
        <p:txBody>
          <a:bodyPr vert="horz" wrap="square" lIns="0" tIns="0" rIns="0" bIns="0" rtlCol="0" anchor="t" anchorCtr="0"/>
          <a:lstStyle/>
          <a:p>
            <a:pPr marL="0" indent="0" algn="l">
              <a:lnSpc>
                <a:spcPct val="125000"/>
              </a:lnSpc>
              <a:defRPr/>
            </a:pPr>
            <a:r>
              <a:rPr lang="en-US" sz="1900" b="1"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核心代码：</a:t>
            </a:r>
            <a:br>
              <a:rPr lang="en-US" sz="1900" b="1"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br>
            <a:r>
              <a:rPr lang="en-US" sz="1900" b="1"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Boris步进器实现</a:t>
            </a:r>
            <a:endParaRPr lang="en-US" sz="1100"/>
          </a:p>
        </p:txBody>
      </p:sp>
      <p:pic>
        <p:nvPicPr>
          <p:cNvPr id="17" name="Picture 17"/>
          <p:cNvPicPr>
            <a:picLocks noChangeAspect="1"/>
          </p:cNvPicPr>
          <p:nvPr/>
        </p:nvPicPr>
        <p:blipFill>
          <a:blip r:embed="rId5"/>
          <a:srcRect t="558" b="558"/>
          <a:stretch>
            <a:fillRect/>
          </a:stretch>
        </p:blipFill>
        <p:spPr>
          <a:xfrm>
            <a:off x="8064500" y="2794000"/>
            <a:ext cx="3365500" cy="2032000"/>
          </a:xfrm>
          <a:prstGeom prst="rect">
            <a:avLst/>
          </a:prstGeom>
          <a:noFill/>
          <a:ln w="25400" cap="flat" cmpd="sng">
            <a:noFill/>
            <a:prstDash val="solid"/>
            <a:round/>
          </a:ln>
        </p:spPr>
      </p:pic>
      <p:sp>
        <p:nvSpPr>
          <p:cNvPr id="18" name="AutoShape 18"/>
          <p:cNvSpPr/>
          <p:nvPr/>
        </p:nvSpPr>
        <p:spPr>
          <a:xfrm>
            <a:off x="8064500" y="4953000"/>
            <a:ext cx="3365500" cy="1651000"/>
          </a:xfrm>
          <a:prstGeom prst="roundRect">
            <a:avLst>
              <a:gd name="adj" fmla="val 0"/>
            </a:avLst>
          </a:prstGeom>
          <a:noFill/>
          <a:ln w="25400" cap="flat" cmpd="sng">
            <a:noFill/>
            <a:prstDash val="solid"/>
            <a:round/>
          </a:ln>
        </p:spPr>
        <p:txBody>
          <a:bodyPr vert="horz" wrap="square" lIns="0" tIns="0" rIns="0" bIns="0" rtlCol="0" anchor="t" anchorCtr="0"/>
          <a:lstStyle/>
          <a:p>
            <a:pPr marL="0" indent="0" algn="l">
              <a:lnSpc>
                <a:spcPct val="117000"/>
              </a:lnSpc>
              <a:defRPr/>
            </a:pPr>
            <a:r>
              <a:rPr lang="en-US" sz="1200" b="0" i="0" u="none" strike="noStrike">
                <a:solidFill>
                  <a:srgbClr val="3C3C3C"/>
                </a:solidFill>
                <a:latin typeface="微软雅黑" panose="020B0503020204020204" charset="-122"/>
                <a:ea typeface="微软雅黑" panose="020B0503020204020204" charset="-122"/>
                <a:cs typeface="微软雅黑" panose="020B0503020204020204" charset="-122"/>
                <a:sym typeface="微软雅黑" panose="020B0503020204020204" charset="-122"/>
              </a:rPr>
              <a:t>呈现相对论修正后的Boris粒子推进算法全量实现，深度融合了重力场、动态电场力与大气阻尼的综合作用。该核心算法解决了强电磁场下粒子轨迹的数值漂移问题，精准复现了粒子在复杂磁层环境中的动力学演化过程。</a:t>
            </a:r>
            <a:endParaRPr lang="en-US" sz="11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228600" y="177800"/>
            <a:ext cx="11747500" cy="6489700"/>
          </a:xfrm>
          <a:prstGeom prst="roundRect">
            <a:avLst>
              <a:gd name="adj" fmla="val 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609600" y="533400"/>
            <a:ext cx="10972800" cy="609600"/>
          </a:xfrm>
          <a:prstGeom prst="rect">
            <a:avLst/>
          </a:prstGeom>
          <a:noFill/>
          <a:ln w="12700" cap="flat" cmpd="sng">
            <a:noFill/>
            <a:prstDash val="solid"/>
            <a:round/>
          </a:ln>
        </p:spPr>
        <p:txBody>
          <a:bodyPr vert="horz" wrap="square" lIns="0" tIns="0" rIns="0" bIns="0" rtlCol="0" anchor="t" anchorCtr="0"/>
          <a:lstStyle/>
          <a:p>
            <a:pPr marL="0" indent="0" algn="l">
              <a:lnSpc>
                <a:spcPct val="108000"/>
              </a:lnSpc>
              <a:defRPr/>
            </a:pPr>
            <a:r>
              <a:rPr lang="en-US" sz="33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核心算法与交互界面</a:t>
            </a:r>
            <a:endParaRPr lang="en-US" sz="1100"/>
          </a:p>
        </p:txBody>
      </p:sp>
      <p:sp>
        <p:nvSpPr>
          <p:cNvPr id="4" name="AutoShape 4"/>
          <p:cNvSpPr/>
          <p:nvPr/>
        </p:nvSpPr>
        <p:spPr>
          <a:xfrm>
            <a:off x="609600" y="1524000"/>
            <a:ext cx="5461000" cy="2413000"/>
          </a:xfrm>
          <a:prstGeom prst="roundRect">
            <a:avLst>
              <a:gd name="adj" fmla="val 0"/>
            </a:avLst>
          </a:prstGeom>
          <a:solidFill>
            <a:srgbClr val="527AEF">
              <a:alpha val="9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762000" y="1651000"/>
            <a:ext cx="5207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003366"/>
                </a:solidFill>
                <a:latin typeface="微软雅黑" panose="020B0503020204020204" charset="-122"/>
                <a:ea typeface="微软雅黑" panose="020B0503020204020204" charset="-122"/>
                <a:cs typeface="微软雅黑" panose="020B0503020204020204" charset="-122"/>
                <a:sym typeface="微软雅黑" panose="020B0503020204020204" charset="-122"/>
              </a:rPr>
              <a:t>核心算法：四阶龙格-库塔法 (RK4)</a:t>
            </a:r>
            <a:endParaRPr lang="en-US" sz="1100"/>
          </a:p>
        </p:txBody>
      </p:sp>
      <p:sp>
        <p:nvSpPr>
          <p:cNvPr id="6" name="AutoShape 6"/>
          <p:cNvSpPr/>
          <p:nvPr/>
        </p:nvSpPr>
        <p:spPr>
          <a:xfrm>
            <a:off x="762000" y="2159000"/>
            <a:ext cx="5207000" cy="1651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1A1A1A"/>
                </a:solidFill>
                <a:latin typeface="微软雅黑" panose="020B0503020204020204" charset="-122"/>
                <a:ea typeface="微软雅黑" panose="020B0503020204020204" charset="-122"/>
                <a:cs typeface="微软雅黑" panose="020B0503020204020204" charset="-122"/>
                <a:sym typeface="微软雅黑" panose="020B0503020204020204" charset="-122"/>
              </a:rPr>
              <a:t>粒子的运动方程通过四阶龙格-库塔法(RK4)完成数值积分求解。相比基础的欧拉法，RK4具有更小的局部截断误差（五阶量级），能有效避免长序列计算中的误差累积，保证了轨迹模拟的长期稳定性。这一特性使得即使在复杂的非均匀磁场环境中，也能精准复现粒子的真实运动轨迹，为后续的物理分析提供了坚实的数据基础。</a:t>
            </a:r>
            <a:endParaRPr lang="en-US" sz="1100"/>
          </a:p>
        </p:txBody>
      </p:sp>
      <p:sp>
        <p:nvSpPr>
          <p:cNvPr id="7" name="AutoShape 7"/>
          <p:cNvSpPr/>
          <p:nvPr/>
        </p:nvSpPr>
        <p:spPr>
          <a:xfrm>
            <a:off x="609600" y="4127500"/>
            <a:ext cx="5461000" cy="2413000"/>
          </a:xfrm>
          <a:prstGeom prst="roundRect">
            <a:avLst>
              <a:gd name="adj" fmla="val 0"/>
            </a:avLst>
          </a:prstGeom>
          <a:solidFill>
            <a:srgbClr val="527AEF">
              <a:alpha val="9000"/>
            </a:srgbClr>
          </a:solidFill>
          <a:ln w="25400" cap="flat" cmpd="sng">
            <a:noFill/>
            <a:prstDash val="solid"/>
            <a:round/>
          </a:ln>
        </p:spPr>
        <p:txBody>
          <a:bodyPr vert="horz" wrap="square" lIns="63500" tIns="63500" rIns="63500" bIns="63500" rtlCol="0" anchor="ctr"/>
          <a:lstStyle/>
          <a:p>
            <a:pPr algn="ctr">
              <a:defRPr/>
            </a:pPr>
            <a:endParaRPr/>
          </a:p>
        </p:txBody>
      </p:sp>
      <p:sp>
        <p:nvSpPr>
          <p:cNvPr id="8" name="AutoShape 8"/>
          <p:cNvSpPr/>
          <p:nvPr/>
        </p:nvSpPr>
        <p:spPr>
          <a:xfrm>
            <a:off x="762000" y="4254500"/>
            <a:ext cx="5207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003366"/>
                </a:solidFill>
                <a:latin typeface="微软雅黑" panose="020B0503020204020204" charset="-122"/>
                <a:ea typeface="微软雅黑" panose="020B0503020204020204" charset="-122"/>
                <a:cs typeface="微软雅黑" panose="020B0503020204020204" charset="-122"/>
                <a:sym typeface="微软雅黑" panose="020B0503020204020204" charset="-122"/>
              </a:rPr>
              <a:t>交互界面：全参数实时调控体系</a:t>
            </a:r>
            <a:endParaRPr lang="en-US" sz="1100"/>
          </a:p>
        </p:txBody>
      </p:sp>
      <p:sp>
        <p:nvSpPr>
          <p:cNvPr id="9" name="AutoShape 9"/>
          <p:cNvSpPr/>
          <p:nvPr/>
        </p:nvSpPr>
        <p:spPr>
          <a:xfrm>
            <a:off x="762000" y="4762500"/>
            <a:ext cx="5207000" cy="1651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1A1A1A"/>
                </a:solidFill>
                <a:latin typeface="微软雅黑" panose="020B0503020204020204" charset="-122"/>
                <a:ea typeface="微软雅黑" panose="020B0503020204020204" charset="-122"/>
                <a:cs typeface="微软雅黑" panose="020B0503020204020204" charset="-122"/>
                <a:sym typeface="微软雅黑" panose="020B0503020204020204" charset="-122"/>
              </a:rPr>
              <a:t>前端界面采用直观的交互设计范式，打破了传统仿真“输入-等待-输出”的割裂感。用户可通过动态滑块实时调整粒子能量、初始投掷角及磁场参数，同时支持2D/3D视图与不同物理图层的即时开关。这种“所见即所得”的交互模式，让抽象的数值计算转化为可视化的动态反馈，极大提升了用户对物理过程的理解效率与探索自由度。</a:t>
            </a:r>
            <a:endParaRPr lang="en-US" sz="1100"/>
          </a:p>
        </p:txBody>
      </p:sp>
      <p:sp>
        <p:nvSpPr>
          <p:cNvPr id="10" name="AutoShape 10"/>
          <p:cNvSpPr/>
          <p:nvPr/>
        </p:nvSpPr>
        <p:spPr>
          <a:xfrm>
            <a:off x="6223000" y="1524000"/>
            <a:ext cx="12700" cy="5080000"/>
          </a:xfrm>
          <a:prstGeom prst="roundRect">
            <a:avLst>
              <a:gd name="adj" fmla="val 0"/>
            </a:avLst>
          </a:prstGeom>
          <a:solidFill>
            <a:srgbClr val="003366">
              <a:alpha val="20000"/>
            </a:srgbClr>
          </a:solidFill>
          <a:ln w="25400" cap="flat" cmpd="sng">
            <a:noFill/>
            <a:prstDash val="solid"/>
            <a:round/>
          </a:ln>
        </p:spPr>
        <p:txBody>
          <a:bodyPr vert="horz" wrap="square" lIns="0" tIns="0" rIns="0" bIns="0" rtlCol="0" anchor="ctr" anchorCtr="0"/>
          <a:lstStyle/>
          <a:p>
            <a:pPr algn="ctr">
              <a:defRPr/>
            </a:pPr>
            <a:endParaRPr/>
          </a:p>
        </p:txBody>
      </p:sp>
      <p:pic>
        <p:nvPicPr>
          <p:cNvPr id="11" name="Picture 11"/>
          <p:cNvPicPr>
            <a:picLocks noChangeAspect="1"/>
          </p:cNvPicPr>
          <p:nvPr/>
        </p:nvPicPr>
        <p:blipFill>
          <a:blip r:embed="rId4"/>
          <a:srcRect t="17245" b="17245"/>
          <a:stretch>
            <a:fillRect/>
          </a:stretch>
        </p:blipFill>
        <p:spPr>
          <a:xfrm>
            <a:off x="6477000" y="1524000"/>
            <a:ext cx="5334000" cy="2921000"/>
          </a:xfrm>
          <a:prstGeom prst="rect">
            <a:avLst/>
          </a:prstGeom>
          <a:noFill/>
          <a:ln w="25400" cap="flat" cmpd="sng">
            <a:noFill/>
            <a:prstDash val="solid"/>
            <a:round/>
          </a:ln>
        </p:spPr>
      </p:pic>
      <p:sp>
        <p:nvSpPr>
          <p:cNvPr id="12" name="AutoShape 12"/>
          <p:cNvSpPr/>
          <p:nvPr/>
        </p:nvSpPr>
        <p:spPr>
          <a:xfrm>
            <a:off x="6477000" y="4635500"/>
            <a:ext cx="5334000" cy="1841500"/>
          </a:xfrm>
          <a:prstGeom prst="roundRect">
            <a:avLst>
              <a:gd name="adj" fmla="val 0"/>
            </a:avLst>
          </a:prstGeom>
          <a:solidFill>
            <a:srgbClr val="EBF1FF">
              <a:alpha val="100000"/>
            </a:srgbClr>
          </a:solidFill>
          <a:ln w="25400" cap="flat" cmpd="sng">
            <a:noFill/>
            <a:prstDash val="solid"/>
            <a:round/>
          </a:ln>
        </p:spPr>
        <p:txBody>
          <a:bodyPr vert="horz" wrap="square" lIns="0" tIns="0" rIns="0" bIns="0" rtlCol="0" anchor="ctr" anchorCtr="0"/>
          <a:lstStyle/>
          <a:p>
            <a:pPr algn="ctr">
              <a:defRPr/>
            </a:pPr>
            <a:endParaRPr/>
          </a:p>
        </p:txBody>
      </p:sp>
      <p:sp>
        <p:nvSpPr>
          <p:cNvPr id="13" name="AutoShape 13"/>
          <p:cNvSpPr/>
          <p:nvPr/>
        </p:nvSpPr>
        <p:spPr>
          <a:xfrm>
            <a:off x="6604000" y="4724400"/>
            <a:ext cx="50800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仿真操作面板与结果可视化预览</a:t>
            </a:r>
            <a:endParaRPr lang="en-US" sz="1100"/>
          </a:p>
        </p:txBody>
      </p:sp>
      <p:sp>
        <p:nvSpPr>
          <p:cNvPr id="14" name="AutoShape 14"/>
          <p:cNvSpPr/>
          <p:nvPr/>
        </p:nvSpPr>
        <p:spPr>
          <a:xfrm>
            <a:off x="6604000" y="5207000"/>
            <a:ext cx="50800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323232"/>
                </a:solidFill>
                <a:latin typeface="微软雅黑" panose="020B0503020204020204" charset="-122"/>
                <a:ea typeface="微软雅黑" panose="020B0503020204020204" charset="-122"/>
                <a:cs typeface="微软雅黑" panose="020B0503020204020204" charset="-122"/>
                <a:sym typeface="微软雅黑" panose="020B0503020204020204" charset="-122"/>
              </a:rPr>
              <a:t>图示为仿真系统的实际运行界面，上方集成了核心参数的动态调节控件，下方同步展示计算生成的2D截面电场线与等势面分布。这种一体化的设计将复杂的底层计算封装为易用的操作接口，既保留了物理模型的严谨性，又让用户能聚焦于参数变化对物理现象的影响，实现了理论教学与实践演示的高效融合。</a:t>
            </a:r>
            <a:endParaRPr lang="en-US" sz="110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0"/>
            </a:srgbClr>
          </a:solidFill>
          <a:ln w="25400" cap="flat" cmpd="sng">
            <a:noFill/>
            <a:prstDash val="solid"/>
            <a:round/>
          </a:ln>
        </p:spPr>
        <p:txBody>
          <a:bodyPr vert="horz" wrap="square" lIns="0" tIns="0" rIns="0" bIns="0" rtlCol="0" anchor="ctr" anchorCtr="0"/>
          <a:lstStyle/>
          <a:p>
            <a:pPr algn="ctr">
              <a:defRPr/>
            </a:pPr>
            <a:endParaRPr/>
          </a:p>
        </p:txBody>
      </p:sp>
      <p:pic>
        <p:nvPicPr>
          <p:cNvPr id="3" name="Picture 3"/>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4" name="AutoShape 4"/>
          <p:cNvSpPr/>
          <p:nvPr/>
        </p:nvSpPr>
        <p:spPr>
          <a:xfrm>
            <a:off x="1016000" y="1905000"/>
            <a:ext cx="1524000" cy="1524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7200" b="1" i="0" u="none" strike="noStrike">
                <a:solidFill>
                  <a:srgbClr val="FFFFFF"/>
                </a:solidFill>
                <a:latin typeface="Arial" panose="020B0604020202020204"/>
                <a:ea typeface="Arial" panose="020B0604020202020204"/>
                <a:cs typeface="Arial" panose="020B0604020202020204"/>
                <a:sym typeface="Arial" panose="020B0604020202020204"/>
              </a:rPr>
              <a:t>04</a:t>
            </a:r>
            <a:endParaRPr lang="en-US" sz="1100"/>
          </a:p>
        </p:txBody>
      </p:sp>
      <p:sp>
        <p:nvSpPr>
          <p:cNvPr id="5" name="AutoShape 5"/>
          <p:cNvSpPr/>
          <p:nvPr/>
        </p:nvSpPr>
        <p:spPr>
          <a:xfrm>
            <a:off x="1016000" y="3530600"/>
            <a:ext cx="8890000" cy="1524000"/>
          </a:xfrm>
          <a:prstGeom prst="rect">
            <a:avLst/>
          </a:prstGeom>
          <a:noFill/>
          <a:ln w="12700" cap="flat" cmpd="sng">
            <a:noFill/>
            <a:prstDash val="solid"/>
            <a:round/>
          </a:ln>
        </p:spPr>
        <p:txBody>
          <a:bodyPr vert="horz" wrap="square" lIns="0" tIns="0" rIns="0" bIns="0" rtlCol="0" anchor="t" anchorCtr="0"/>
          <a:lstStyle/>
          <a:p>
            <a:pPr marL="0" indent="0" algn="l">
              <a:lnSpc>
                <a:spcPct val="100000"/>
              </a:lnSpc>
              <a:defRPr/>
            </a:pPr>
            <a:r>
              <a:rPr lang="en-US" sz="4800" b="0"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结果分析与可视化</a:t>
            </a:r>
            <a:endParaRPr lang="en-US" sz="110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527AE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228600" y="177800"/>
            <a:ext cx="11747500" cy="6489700"/>
          </a:xfrm>
          <a:prstGeom prst="roundRect">
            <a:avLst>
              <a:gd name="adj" fmla="val 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609600" y="660400"/>
            <a:ext cx="10972800" cy="609600"/>
          </a:xfrm>
          <a:prstGeom prst="roundRect">
            <a:avLst>
              <a:gd name="adj" fmla="val 0"/>
            </a:avLst>
          </a:prstGeom>
          <a:noFill/>
          <a:ln w="25400" cap="flat" cmpd="sng">
            <a:noFill/>
            <a:prstDash val="solid"/>
            <a:round/>
          </a:ln>
        </p:spPr>
        <p:txBody>
          <a:bodyPr vert="horz" wrap="square" lIns="0" tIns="0" rIns="0" bIns="0" rtlCol="0" anchor="t" anchorCtr="0"/>
          <a:lstStyle/>
          <a:p>
            <a:pPr marL="0" indent="0" algn="l">
              <a:lnSpc>
                <a:spcPct val="108000"/>
              </a:lnSpc>
              <a:defRPr/>
            </a:pPr>
            <a:r>
              <a:rPr lang="en-US" sz="33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粒子轨迹的宏观图景</a:t>
            </a:r>
            <a:endParaRPr lang="en-US" sz="1100"/>
          </a:p>
        </p:txBody>
      </p:sp>
      <p:sp>
        <p:nvSpPr>
          <p:cNvPr id="5" name="AutoShape 5"/>
          <p:cNvSpPr/>
          <p:nvPr/>
        </p:nvSpPr>
        <p:spPr>
          <a:xfrm>
            <a:off x="647700" y="1841500"/>
            <a:ext cx="3683000" cy="2349500"/>
          </a:xfrm>
          <a:prstGeom prst="roundRect">
            <a:avLst>
              <a:gd name="adj" fmla="val 0"/>
            </a:avLst>
          </a:prstGeom>
          <a:solidFill>
            <a:srgbClr val="EBF0FF">
              <a:alpha val="100000"/>
            </a:srgbClr>
          </a:solidFill>
          <a:ln w="25400" cap="flat" cmpd="sng">
            <a:noFill/>
            <a:prstDash val="solid"/>
            <a:round/>
          </a:ln>
        </p:spPr>
        <p:txBody>
          <a:bodyPr vert="horz" wrap="square" lIns="0" tIns="0" rIns="0" bIns="0" rtlCol="0" anchor="ctr" anchorCtr="0"/>
          <a:lstStyle/>
          <a:p>
            <a:pPr algn="ctr">
              <a:defRPr/>
            </a:pPr>
            <a:endParaRPr/>
          </a:p>
        </p:txBody>
      </p:sp>
      <p:sp>
        <p:nvSpPr>
          <p:cNvPr id="6" name="AutoShape 6"/>
          <p:cNvSpPr/>
          <p:nvPr/>
        </p:nvSpPr>
        <p:spPr>
          <a:xfrm>
            <a:off x="736600" y="1968500"/>
            <a:ext cx="3492500" cy="4445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200" b="1" i="0" u="none" strike="noStrike">
                <a:solidFill>
                  <a:srgbClr val="1E2846"/>
                </a:solidFill>
                <a:latin typeface="微软雅黑" panose="020B0503020204020204" charset="-122"/>
                <a:ea typeface="微软雅黑" panose="020B0503020204020204" charset="-122"/>
                <a:cs typeface="微软雅黑" panose="020B0503020204020204" charset="-122"/>
                <a:sym typeface="微软雅黑" panose="020B0503020204020204" charset="-122"/>
              </a:rPr>
              <a:t>回旋与弹跳</a:t>
            </a:r>
            <a:endParaRPr lang="en-US" sz="1100"/>
          </a:p>
        </p:txBody>
      </p:sp>
      <p:sp>
        <p:nvSpPr>
          <p:cNvPr id="7" name="AutoShape 7"/>
          <p:cNvSpPr/>
          <p:nvPr/>
        </p:nvSpPr>
        <p:spPr>
          <a:xfrm>
            <a:off x="736600" y="2540000"/>
            <a:ext cx="3492500" cy="1460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1E2846"/>
                </a:solidFill>
                <a:latin typeface="微软雅黑" panose="020B0503020204020204" charset="-122"/>
                <a:ea typeface="微软雅黑" panose="020B0503020204020204" charset="-122"/>
                <a:cs typeface="微软雅黑" panose="020B0503020204020204" charset="-122"/>
                <a:sym typeface="微软雅黑" panose="020B0503020204020204" charset="-122"/>
              </a:rPr>
              <a:t>在局部放大视角下，带电粒子的轨迹呈现出紧密的螺旋状回旋运动。受地球磁场磁镜效应的影响，粒子在两极磁场较强的区域被反射，无法穿越磁力线，从而在南北半球之间形成持续的来回“弹跳”运动，构成了粒子微观运动的核心特征。</a:t>
            </a:r>
            <a:endParaRPr lang="en-US" sz="1100"/>
          </a:p>
        </p:txBody>
      </p:sp>
      <p:sp>
        <p:nvSpPr>
          <p:cNvPr id="8" name="AutoShape 8"/>
          <p:cNvSpPr/>
          <p:nvPr/>
        </p:nvSpPr>
        <p:spPr>
          <a:xfrm>
            <a:off x="647700" y="4318000"/>
            <a:ext cx="3683000" cy="2349500"/>
          </a:xfrm>
          <a:prstGeom prst="roundRect">
            <a:avLst>
              <a:gd name="adj" fmla="val 0"/>
            </a:avLst>
          </a:prstGeom>
          <a:solidFill>
            <a:srgbClr val="EBF0FF">
              <a:alpha val="100000"/>
            </a:srgbClr>
          </a:solidFill>
          <a:ln w="25400" cap="flat" cmpd="sng">
            <a:noFill/>
            <a:prstDash val="solid"/>
            <a:round/>
          </a:ln>
        </p:spPr>
        <p:txBody>
          <a:bodyPr vert="horz" wrap="square" lIns="0" tIns="0" rIns="0" bIns="0" rtlCol="0" anchor="ctr" anchorCtr="0"/>
          <a:lstStyle/>
          <a:p>
            <a:pPr algn="ctr">
              <a:defRPr/>
            </a:pPr>
            <a:endParaRPr/>
          </a:p>
        </p:txBody>
      </p:sp>
      <p:sp>
        <p:nvSpPr>
          <p:cNvPr id="9" name="AutoShape 9"/>
          <p:cNvSpPr/>
          <p:nvPr/>
        </p:nvSpPr>
        <p:spPr>
          <a:xfrm>
            <a:off x="736600" y="4419600"/>
            <a:ext cx="3492500" cy="4445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200" b="1" i="0" u="none" strike="noStrike">
                <a:solidFill>
                  <a:srgbClr val="1E2846"/>
                </a:solidFill>
                <a:latin typeface="微软雅黑" panose="020B0503020204020204" charset="-122"/>
                <a:ea typeface="微软雅黑" panose="020B0503020204020204" charset="-122"/>
                <a:cs typeface="微软雅黑" panose="020B0503020204020204" charset="-122"/>
                <a:sym typeface="微软雅黑" panose="020B0503020204020204" charset="-122"/>
              </a:rPr>
              <a:t>漂移与环带</a:t>
            </a:r>
            <a:endParaRPr lang="en-US" sz="1100"/>
          </a:p>
        </p:txBody>
      </p:sp>
      <p:sp>
        <p:nvSpPr>
          <p:cNvPr id="10" name="AutoShape 10"/>
          <p:cNvSpPr/>
          <p:nvPr/>
        </p:nvSpPr>
        <p:spPr>
          <a:xfrm>
            <a:off x="736600" y="4953000"/>
            <a:ext cx="3492500" cy="1460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1E2846"/>
                </a:solidFill>
                <a:latin typeface="微软雅黑" panose="020B0503020204020204" charset="-122"/>
                <a:ea typeface="微软雅黑" panose="020B0503020204020204" charset="-122"/>
                <a:cs typeface="微软雅黑" panose="020B0503020204020204" charset="-122"/>
                <a:sym typeface="微软雅黑" panose="020B0503020204020204" charset="-122"/>
              </a:rPr>
              <a:t>从宏观全局视角观察，大量粒子的运动轨迹集合呈现出环绕地球的整体漂移趋势。粒子在梯度漂移与曲率漂移的共同作用下，逐渐在地球磁层的特定区域聚集，最终形成了类似范艾伦辐射带的粒子密集环带，直观展现了磁约束的空间物理现象。</a:t>
            </a:r>
            <a:endParaRPr lang="en-US" sz="1100"/>
          </a:p>
        </p:txBody>
      </p:sp>
      <p:cxnSp>
        <p:nvCxnSpPr>
          <p:cNvPr id="11" name="Connector 11"/>
          <p:cNvCxnSpPr/>
          <p:nvPr/>
        </p:nvCxnSpPr>
        <p:spPr>
          <a:xfrm rot="5390316">
            <a:off x="2381250" y="4089409"/>
            <a:ext cx="4508500" cy="12700"/>
          </a:xfrm>
          <a:prstGeom prst="straightConnector1">
            <a:avLst/>
          </a:prstGeom>
          <a:solidFill>
            <a:srgbClr val="DEE0E3">
              <a:alpha val="100000"/>
            </a:srgbClr>
          </a:solidFill>
          <a:ln w="25400" cap="flat" cmpd="sng">
            <a:solidFill>
              <a:srgbClr val="DCE1EB">
                <a:alpha val="100000"/>
              </a:srgbClr>
            </a:solidFill>
            <a:prstDash val="solid"/>
            <a:round/>
            <a:headEnd type="none" w="lg" len="lg"/>
            <a:tailEnd type="none" w="lg" len="lg"/>
          </a:ln>
        </p:spPr>
      </p:cxnSp>
      <p:pic>
        <p:nvPicPr>
          <p:cNvPr id="12" name="Picture 12"/>
          <p:cNvPicPr>
            <a:picLocks noChangeAspect="1"/>
          </p:cNvPicPr>
          <p:nvPr/>
        </p:nvPicPr>
        <p:blipFill>
          <a:blip r:embed="rId4"/>
          <a:srcRect t="11012" b="11012"/>
          <a:stretch>
            <a:fillRect/>
          </a:stretch>
        </p:blipFill>
        <p:spPr>
          <a:xfrm>
            <a:off x="4826000" y="1841500"/>
            <a:ext cx="6731000" cy="3048000"/>
          </a:xfrm>
          <a:prstGeom prst="rect">
            <a:avLst/>
          </a:prstGeom>
          <a:noFill/>
          <a:ln w="25400" cap="flat" cmpd="sng">
            <a:noFill/>
            <a:prstDash val="solid"/>
            <a:round/>
          </a:ln>
        </p:spPr>
      </p:pic>
      <p:sp>
        <p:nvSpPr>
          <p:cNvPr id="13" name="AutoShape 13"/>
          <p:cNvSpPr/>
          <p:nvPr/>
        </p:nvSpPr>
        <p:spPr>
          <a:xfrm>
            <a:off x="4826000" y="5080000"/>
            <a:ext cx="6731000" cy="1714500"/>
          </a:xfrm>
          <a:prstGeom prst="roundRect">
            <a:avLst>
              <a:gd name="adj" fmla="val 0"/>
            </a:avLst>
          </a:prstGeom>
          <a:solidFill>
            <a:srgbClr val="EBF0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4" name="AutoShape 14"/>
          <p:cNvSpPr/>
          <p:nvPr/>
        </p:nvSpPr>
        <p:spPr>
          <a:xfrm>
            <a:off x="4927600" y="5156200"/>
            <a:ext cx="6540500" cy="1524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1E2846"/>
                </a:solidFill>
                <a:latin typeface="微软雅黑" panose="020B0503020204020204" charset="-122"/>
                <a:ea typeface="微软雅黑" panose="020B0503020204020204" charset="-122"/>
                <a:cs typeface="微软雅黑" panose="020B0503020204020204" charset="-122"/>
                <a:sym typeface="微软雅黑" panose="020B0503020204020204" charset="-122"/>
              </a:rPr>
              <a:t>本次仿真直观复现了带电粒子在地球偶极磁场中的复杂动力学行为。图中彩色的轨迹线清晰展示了粒子微观尺度的回旋弹跳与宏观尺度的漂移聚集过程。这一结果不仅完美验证了理论模型的正确性，也为理解范艾伦辐射带的形成机制、粒子输运规律以及空间天气对航天器的潜在影响提供了可视化的科学依据。</a:t>
            </a:r>
            <a:endParaRPr lang="en-US" sz="110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1016000" y="1905000"/>
            <a:ext cx="1524000" cy="1524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7200" b="1" i="0" u="none" strike="noStrike">
                <a:solidFill>
                  <a:srgbClr val="FFFFFF"/>
                </a:solidFill>
                <a:latin typeface="Arial" panose="020B0604020202020204"/>
                <a:ea typeface="Arial" panose="020B0604020202020204"/>
                <a:cs typeface="Arial" panose="020B0604020202020204"/>
                <a:sym typeface="Arial" panose="020B0604020202020204"/>
              </a:rPr>
              <a:t>05</a:t>
            </a:r>
            <a:endParaRPr lang="en-US" sz="1100"/>
          </a:p>
        </p:txBody>
      </p:sp>
      <p:sp>
        <p:nvSpPr>
          <p:cNvPr id="4" name="AutoShape 4"/>
          <p:cNvSpPr/>
          <p:nvPr/>
        </p:nvSpPr>
        <p:spPr>
          <a:xfrm>
            <a:off x="1016000" y="3530600"/>
            <a:ext cx="6350000" cy="1524000"/>
          </a:xfrm>
          <a:prstGeom prst="rect">
            <a:avLst/>
          </a:prstGeom>
          <a:noFill/>
          <a:ln w="12700" cap="flat" cmpd="sng">
            <a:noFill/>
            <a:prstDash val="solid"/>
            <a:round/>
          </a:ln>
        </p:spPr>
        <p:txBody>
          <a:bodyPr vert="horz" wrap="square" lIns="0" tIns="0" rIns="0" bIns="0" rtlCol="0" anchor="t" anchorCtr="0"/>
          <a:lstStyle/>
          <a:p>
            <a:pPr marL="0" indent="0" algn="l">
              <a:lnSpc>
                <a:spcPct val="100000"/>
              </a:lnSpc>
              <a:defRPr/>
            </a:pPr>
            <a:r>
              <a:rPr lang="en-US" sz="4800" b="0"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动态交互演示</a:t>
            </a:r>
            <a:endParaRPr lang="en-US" sz="110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5F7FA">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t="894" b="894"/>
          <a:stretch>
            <a:fillRect/>
          </a:stretch>
        </p:blipFill>
        <p:spPr>
          <a:xfrm>
            <a:off x="228600" y="177800"/>
            <a:ext cx="11747500" cy="6489700"/>
          </a:xfrm>
          <a:prstGeom prst="rect">
            <a:avLst/>
          </a:prstGeom>
          <a:noFill/>
          <a:ln w="25400" cap="flat" cmpd="sng">
            <a:noFill/>
            <a:prstDash val="solid"/>
            <a:round/>
          </a:ln>
        </p:spPr>
      </p:pic>
      <p:sp>
        <p:nvSpPr>
          <p:cNvPr id="3" name="AutoShape 3"/>
          <p:cNvSpPr/>
          <p:nvPr/>
        </p:nvSpPr>
        <p:spPr>
          <a:xfrm>
            <a:off x="609600" y="685800"/>
            <a:ext cx="10972800" cy="609600"/>
          </a:xfrm>
          <a:prstGeom prst="roundRect">
            <a:avLst>
              <a:gd name="adj" fmla="val 0"/>
            </a:avLst>
          </a:prstGeom>
          <a:noFill/>
          <a:ln w="25400" cap="flat" cmpd="sng">
            <a:noFill/>
            <a:prstDash val="solid"/>
            <a:round/>
          </a:ln>
        </p:spPr>
        <p:txBody>
          <a:bodyPr vert="horz" wrap="square" lIns="0" tIns="0" rIns="0" bIns="0" rtlCol="0" anchor="t" anchorCtr="0"/>
          <a:lstStyle/>
          <a:p>
            <a:pPr marL="0" indent="0" algn="l">
              <a:lnSpc>
                <a:spcPct val="108000"/>
              </a:lnSpc>
              <a:defRPr/>
            </a:pPr>
            <a:r>
              <a:rPr lang="en-US" sz="3300" b="1"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交互学习场景示例</a:t>
            </a:r>
            <a:endParaRPr lang="en-US" sz="1100"/>
          </a:p>
        </p:txBody>
      </p:sp>
      <p:sp>
        <p:nvSpPr>
          <p:cNvPr id="4" name="AutoShape 4"/>
          <p:cNvSpPr/>
          <p:nvPr/>
        </p:nvSpPr>
        <p:spPr>
          <a:xfrm>
            <a:off x="609600" y="1524000"/>
            <a:ext cx="50800" cy="1117600"/>
          </a:xfrm>
          <a:prstGeom prst="roundRect">
            <a:avLst>
              <a:gd name="adj" fmla="val 0"/>
            </a:avLst>
          </a:prstGeom>
          <a:solidFill>
            <a:srgbClr val="1C4F9F">
              <a:alpha val="100000"/>
            </a:srgbClr>
          </a:solidFill>
          <a:ln w="25400" cap="flat" cmpd="sng">
            <a:noFill/>
            <a:prstDash val="solid"/>
            <a:round/>
          </a:ln>
        </p:spPr>
        <p:txBody>
          <a:bodyPr vert="horz" wrap="square" lIns="0" tIns="0" rIns="0" bIns="0" rtlCol="0" anchor="ctr" anchorCtr="0"/>
          <a:lstStyle/>
          <a:p>
            <a:pPr algn="ctr">
              <a:defRPr/>
            </a:pPr>
            <a:endParaRPr/>
          </a:p>
        </p:txBody>
      </p:sp>
      <p:sp>
        <p:nvSpPr>
          <p:cNvPr id="5" name="AutoShape 5"/>
          <p:cNvSpPr/>
          <p:nvPr/>
        </p:nvSpPr>
        <p:spPr>
          <a:xfrm>
            <a:off x="762000" y="1524000"/>
            <a:ext cx="3429000" cy="1117600"/>
          </a:xfrm>
          <a:prstGeom prst="roundRect">
            <a:avLst>
              <a:gd name="adj" fmla="val 0"/>
            </a:avLst>
          </a:prstGeom>
          <a:noFill/>
          <a:ln w="25400" cap="flat" cmpd="sng">
            <a:noFill/>
            <a:prstDash val="solid"/>
            <a:round/>
          </a:ln>
        </p:spPr>
        <p:txBody>
          <a:bodyPr vert="horz" wrap="square" lIns="0" tIns="0" rIns="0" bIns="0" rtlCol="0" anchor="t" anchorCtr="0"/>
          <a:lstStyle/>
          <a:p>
            <a:pPr marL="0" indent="0" algn="l">
              <a:lnSpc>
                <a:spcPct val="108000"/>
              </a:lnSpc>
              <a:defRPr/>
            </a:pPr>
            <a:r>
              <a:rPr lang="en-US" sz="2000" b="1" i="0" u="none" strike="noStrike">
                <a:solidFill>
                  <a:srgbClr val="1C4F9F"/>
                </a:solidFill>
                <a:latin typeface="微软雅黑" panose="020B0503020204020204" charset="-122"/>
                <a:ea typeface="微软雅黑" panose="020B0503020204020204" charset="-122"/>
                <a:cs typeface="微软雅黑" panose="020B0503020204020204" charset="-122"/>
                <a:sym typeface="微软雅黑" panose="020B0503020204020204" charset="-122"/>
              </a:rPr>
              <a:t>探究磁镜效应</a:t>
            </a:r>
            <a:endParaRPr lang="en-US" sz="1100"/>
          </a:p>
          <a:p>
            <a:pPr marL="0" indent="0" algn="l">
              <a:lnSpc>
                <a:spcPct val="108000"/>
              </a:lnSpc>
            </a:pPr>
            <a:r>
              <a:rPr lang="en-US" sz="1300" b="0" i="0" u="none" strike="noStrike">
                <a:solidFill>
                  <a:srgbClr val="333333"/>
                </a:solidFill>
                <a:latin typeface="微软雅黑" panose="020B0503020204020204" charset="-122"/>
                <a:ea typeface="微软雅黑" panose="020B0503020204020204" charset="-122"/>
                <a:cs typeface="微软雅黑" panose="020B0503020204020204" charset="-122"/>
                <a:sym typeface="微软雅黑" panose="020B0503020204020204" charset="-122"/>
              </a:rPr>
              <a:t>调整粒子投掷角，探索磁场对粒子运动的约束机制，理解磁镜点的空间变化规律。</a:t>
            </a:r>
          </a:p>
        </p:txBody>
      </p:sp>
      <p:sp>
        <p:nvSpPr>
          <p:cNvPr id="6" name="AutoShape 6"/>
          <p:cNvSpPr/>
          <p:nvPr/>
        </p:nvSpPr>
        <p:spPr>
          <a:xfrm>
            <a:off x="609600" y="2921000"/>
            <a:ext cx="3556000" cy="3429000"/>
          </a:xfrm>
          <a:prstGeom prst="roundRect">
            <a:avLst>
              <a:gd name="adj" fmla="val 0"/>
            </a:avLst>
          </a:prstGeom>
          <a:solidFill>
            <a:srgbClr val="EBF1FC">
              <a:alpha val="100000"/>
            </a:srgbClr>
          </a:solidFill>
          <a:ln w="25400" cap="flat" cmpd="sng">
            <a:noFill/>
            <a:prstDash val="solid"/>
            <a:round/>
          </a:ln>
        </p:spPr>
        <p:txBody>
          <a:bodyPr vert="horz" wrap="square" lIns="0" tIns="0" rIns="0" bIns="0" rtlCol="0" anchor="ctr" anchorCtr="0"/>
          <a:lstStyle/>
          <a:p>
            <a:pPr algn="ctr">
              <a:defRPr/>
            </a:pPr>
            <a:endParaRPr/>
          </a:p>
        </p:txBody>
      </p:sp>
      <p:sp>
        <p:nvSpPr>
          <p:cNvPr id="7" name="AutoShape 7"/>
          <p:cNvSpPr/>
          <p:nvPr/>
        </p:nvSpPr>
        <p:spPr>
          <a:xfrm>
            <a:off x="698500" y="3048000"/>
            <a:ext cx="3365500" cy="1079500"/>
          </a:xfrm>
          <a:prstGeom prst="roundRect">
            <a:avLst>
              <a:gd name="adj" fmla="val 0"/>
            </a:avLst>
          </a:prstGeom>
          <a:solidFill>
            <a:srgbClr val="D9E5FA">
              <a:alpha val="100000"/>
            </a:srgbClr>
          </a:solidFill>
          <a:ln w="25400" cap="flat" cmpd="sng">
            <a:noFill/>
            <a:prstDash val="solid"/>
            <a:round/>
          </a:ln>
        </p:spPr>
        <p:txBody>
          <a:bodyPr vert="horz" wrap="square" lIns="0" tIns="0" rIns="0" bIns="0" rtlCol="0" anchor="ctr" anchorCtr="0"/>
          <a:lstStyle/>
          <a:p>
            <a:pPr algn="ctr">
              <a:defRPr/>
            </a:pPr>
            <a:endParaRPr/>
          </a:p>
        </p:txBody>
      </p:sp>
      <p:sp>
        <p:nvSpPr>
          <p:cNvPr id="8" name="AutoShape 8"/>
          <p:cNvSpPr/>
          <p:nvPr/>
        </p:nvSpPr>
        <p:spPr>
          <a:xfrm>
            <a:off x="762000" y="3111500"/>
            <a:ext cx="3238500" cy="952500"/>
          </a:xfrm>
          <a:prstGeom prst="roundRect">
            <a:avLst>
              <a:gd name="adj" fmla="val 0"/>
            </a:avLst>
          </a:prstGeom>
          <a:noFill/>
          <a:ln w="25400" cap="flat" cmpd="sng">
            <a:noFill/>
            <a:prstDash val="solid"/>
            <a:round/>
          </a:ln>
        </p:spPr>
        <p:txBody>
          <a:bodyPr vert="horz" wrap="square" lIns="0" tIns="0" rIns="0" bIns="0" rtlCol="0" anchor="t" anchorCtr="0"/>
          <a:lstStyle/>
          <a:p>
            <a:pPr marL="0" indent="0" algn="ctr">
              <a:lnSpc>
                <a:spcPct val="108000"/>
              </a:lnSpc>
              <a:defRPr/>
            </a:pPr>
            <a:r>
              <a:rPr lang="en-US" sz="1400" b="1" i="0" u="none" strike="noStrike">
                <a:solidFill>
                  <a:srgbClr val="1C4F9F"/>
                </a:solidFill>
                <a:latin typeface="Noto Sans SC" panose="020B0200000000000000" charset="-122"/>
                <a:ea typeface="Noto Sans SC" panose="020B0200000000000000" charset="-122"/>
                <a:cs typeface="Noto Sans SC" panose="020B0200000000000000" charset="-122"/>
                <a:sym typeface="Noto Sans SC" panose="020B0200000000000000" charset="-122"/>
              </a:rPr>
              <a:t>关键操作：</a:t>
            </a:r>
            <a:endParaRPr lang="en-US" sz="1100"/>
          </a:p>
          <a:p>
            <a:pPr marL="0" indent="0" algn="ctr">
              <a:lnSpc>
                <a:spcPct val="108000"/>
              </a:lnSpc>
            </a:pPr>
            <a:r>
              <a:rPr lang="en-US" sz="12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在交互界面中固定粒子初始能量参数，逐步减小粒子的投掷角，观察系统的实时响应。</a:t>
            </a:r>
          </a:p>
        </p:txBody>
      </p:sp>
      <p:sp>
        <p:nvSpPr>
          <p:cNvPr id="9" name="AutoShape 9"/>
          <p:cNvSpPr/>
          <p:nvPr/>
        </p:nvSpPr>
        <p:spPr>
          <a:xfrm>
            <a:off x="698500" y="4318000"/>
            <a:ext cx="3365500" cy="1714500"/>
          </a:xfrm>
          <a:prstGeom prst="roundRect">
            <a:avLst>
              <a:gd name="adj" fmla="val 0"/>
            </a:avLst>
          </a:prstGeom>
          <a:solidFill>
            <a:srgbClr val="FFFFFF">
              <a:alpha val="100000"/>
            </a:srgbClr>
          </a:solidFill>
          <a:ln w="25400" cap="flat" cmpd="sng">
            <a:noFill/>
            <a:prstDash val="solid"/>
            <a:round/>
          </a:ln>
        </p:spPr>
        <p:txBody>
          <a:bodyPr vert="horz" wrap="square" lIns="0" tIns="0" rIns="0" bIns="0" rtlCol="0" anchor="ctr" anchorCtr="0"/>
          <a:lstStyle/>
          <a:p>
            <a:pPr algn="ctr">
              <a:defRPr/>
            </a:pPr>
            <a:endParaRPr/>
          </a:p>
        </p:txBody>
      </p:sp>
      <p:sp>
        <p:nvSpPr>
          <p:cNvPr id="10" name="AutoShape 10"/>
          <p:cNvSpPr/>
          <p:nvPr/>
        </p:nvSpPr>
        <p:spPr>
          <a:xfrm>
            <a:off x="762000" y="4381500"/>
            <a:ext cx="3238500" cy="1587500"/>
          </a:xfrm>
          <a:prstGeom prst="roundRect">
            <a:avLst>
              <a:gd name="adj" fmla="val 0"/>
            </a:avLst>
          </a:prstGeom>
          <a:noFill/>
          <a:ln w="25400" cap="flat" cmpd="sng">
            <a:noFill/>
            <a:prstDash val="solid"/>
            <a:round/>
          </a:ln>
        </p:spPr>
        <p:txBody>
          <a:bodyPr vert="horz" wrap="square" lIns="0" tIns="0" rIns="0" bIns="0" rtlCol="0" anchor="t" anchorCtr="0"/>
          <a:lstStyle/>
          <a:p>
            <a:pPr marL="0" indent="0" algn="ctr">
              <a:lnSpc>
                <a:spcPct val="108000"/>
              </a:lnSpc>
              <a:defRPr/>
            </a:pPr>
            <a:r>
              <a:rPr lang="en-US" sz="1400" b="1" i="0" u="none" strike="noStrike">
                <a:solidFill>
                  <a:srgbClr val="1C4F9F"/>
                </a:solidFill>
                <a:latin typeface="Noto Sans SC" panose="020B0200000000000000" charset="-122"/>
                <a:ea typeface="Noto Sans SC" panose="020B0200000000000000" charset="-122"/>
                <a:cs typeface="Noto Sans SC" panose="020B0200000000000000" charset="-122"/>
                <a:sym typeface="Noto Sans SC" panose="020B0200000000000000" charset="-122"/>
              </a:rPr>
              <a:t>实验现象：</a:t>
            </a:r>
            <a:endParaRPr lang="en-US" sz="1100"/>
          </a:p>
          <a:p>
            <a:pPr marL="0" indent="0" algn="ctr">
              <a:lnSpc>
                <a:spcPct val="108000"/>
              </a:lnSpc>
            </a:pPr>
            <a:r>
              <a:rPr lang="en-US" sz="12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粒子的磁镜点会明显向地球两极方向移动，原本被“阻挡”的粒子能够穿透到更高的纬度区域。这直观地展示了磁镜效应中，投掷角越小，粒子突破磁场约束能力越强的物理特性。</a:t>
            </a:r>
          </a:p>
        </p:txBody>
      </p:sp>
      <p:sp>
        <p:nvSpPr>
          <p:cNvPr id="11" name="AutoShape 11"/>
          <p:cNvSpPr/>
          <p:nvPr/>
        </p:nvSpPr>
        <p:spPr>
          <a:xfrm>
            <a:off x="4470400" y="1524000"/>
            <a:ext cx="50800" cy="1117600"/>
          </a:xfrm>
          <a:prstGeom prst="roundRect">
            <a:avLst>
              <a:gd name="adj" fmla="val 0"/>
            </a:avLst>
          </a:prstGeom>
          <a:solidFill>
            <a:srgbClr val="1C4F9F">
              <a:alpha val="100000"/>
            </a:srgbClr>
          </a:solidFill>
          <a:ln w="25400" cap="flat" cmpd="sng">
            <a:noFill/>
            <a:prstDash val="solid"/>
            <a:round/>
          </a:ln>
        </p:spPr>
        <p:txBody>
          <a:bodyPr vert="horz" wrap="square" lIns="0" tIns="0" rIns="0" bIns="0" rtlCol="0" anchor="ctr" anchorCtr="0"/>
          <a:lstStyle/>
          <a:p>
            <a:pPr algn="ctr">
              <a:defRPr/>
            </a:pPr>
            <a:endParaRPr/>
          </a:p>
        </p:txBody>
      </p:sp>
      <p:sp>
        <p:nvSpPr>
          <p:cNvPr id="12" name="AutoShape 12"/>
          <p:cNvSpPr/>
          <p:nvPr/>
        </p:nvSpPr>
        <p:spPr>
          <a:xfrm>
            <a:off x="4635500" y="1524000"/>
            <a:ext cx="3429000" cy="1117600"/>
          </a:xfrm>
          <a:prstGeom prst="roundRect">
            <a:avLst>
              <a:gd name="adj" fmla="val 0"/>
            </a:avLst>
          </a:prstGeom>
          <a:noFill/>
          <a:ln w="25400" cap="flat" cmpd="sng">
            <a:noFill/>
            <a:prstDash val="solid"/>
            <a:round/>
          </a:ln>
        </p:spPr>
        <p:txBody>
          <a:bodyPr vert="horz" wrap="square" lIns="0" tIns="0" rIns="0" bIns="0" rtlCol="0" anchor="t" anchorCtr="0"/>
          <a:lstStyle/>
          <a:p>
            <a:pPr marL="0" indent="0" algn="l">
              <a:lnSpc>
                <a:spcPct val="108000"/>
              </a:lnSpc>
              <a:defRPr/>
            </a:pPr>
            <a:r>
              <a:rPr lang="en-US" sz="2000" b="1" i="0" u="none" strike="noStrike">
                <a:solidFill>
                  <a:srgbClr val="1C4F9F"/>
                </a:solidFill>
                <a:latin typeface="微软雅黑" panose="020B0503020204020204" charset="-122"/>
                <a:ea typeface="微软雅黑" panose="020B0503020204020204" charset="-122"/>
                <a:cs typeface="微软雅黑" panose="020B0503020204020204" charset="-122"/>
                <a:sym typeface="微软雅黑" panose="020B0503020204020204" charset="-122"/>
              </a:rPr>
              <a:t>观察漂移方向</a:t>
            </a:r>
            <a:endParaRPr lang="en-US" sz="1100"/>
          </a:p>
          <a:p>
            <a:pPr marL="0" indent="0" algn="l">
              <a:lnSpc>
                <a:spcPct val="108000"/>
              </a:lnSpc>
            </a:pPr>
            <a:r>
              <a:rPr lang="en-US" sz="1300" b="0" i="0" u="none" strike="noStrike">
                <a:solidFill>
                  <a:srgbClr val="333333"/>
                </a:solidFill>
                <a:latin typeface="微软雅黑" panose="020B0503020204020204" charset="-122"/>
                <a:ea typeface="微软雅黑" panose="020B0503020204020204" charset="-122"/>
                <a:cs typeface="微软雅黑" panose="020B0503020204020204" charset="-122"/>
                <a:sym typeface="微软雅黑" panose="020B0503020204020204" charset="-122"/>
              </a:rPr>
              <a:t>对比异种电荷粒子的运动轨迹，验证电荷符号对磁场中漂移行为的决定性影响。</a:t>
            </a:r>
          </a:p>
        </p:txBody>
      </p:sp>
      <p:sp>
        <p:nvSpPr>
          <p:cNvPr id="13" name="AutoShape 13"/>
          <p:cNvSpPr/>
          <p:nvPr/>
        </p:nvSpPr>
        <p:spPr>
          <a:xfrm>
            <a:off x="4470400" y="2921000"/>
            <a:ext cx="3556000" cy="3429000"/>
          </a:xfrm>
          <a:prstGeom prst="roundRect">
            <a:avLst>
              <a:gd name="adj" fmla="val 0"/>
            </a:avLst>
          </a:prstGeom>
          <a:solidFill>
            <a:srgbClr val="EBF1FC">
              <a:alpha val="100000"/>
            </a:srgbClr>
          </a:solidFill>
          <a:ln w="25400" cap="flat" cmpd="sng">
            <a:noFill/>
            <a:prstDash val="solid"/>
            <a:round/>
          </a:ln>
        </p:spPr>
        <p:txBody>
          <a:bodyPr vert="horz" wrap="square" lIns="0" tIns="0" rIns="0" bIns="0" rtlCol="0" anchor="ctr" anchorCtr="0"/>
          <a:lstStyle/>
          <a:p>
            <a:pPr algn="ctr">
              <a:defRPr/>
            </a:pPr>
            <a:endParaRPr/>
          </a:p>
        </p:txBody>
      </p:sp>
      <p:sp>
        <p:nvSpPr>
          <p:cNvPr id="14" name="AutoShape 14"/>
          <p:cNvSpPr/>
          <p:nvPr/>
        </p:nvSpPr>
        <p:spPr>
          <a:xfrm>
            <a:off x="4572000" y="3048000"/>
            <a:ext cx="3365500" cy="1079500"/>
          </a:xfrm>
          <a:prstGeom prst="roundRect">
            <a:avLst>
              <a:gd name="adj" fmla="val 0"/>
            </a:avLst>
          </a:prstGeom>
          <a:solidFill>
            <a:srgbClr val="D9E5FA">
              <a:alpha val="100000"/>
            </a:srgbClr>
          </a:solidFill>
          <a:ln w="25400" cap="flat" cmpd="sng">
            <a:noFill/>
            <a:prstDash val="solid"/>
            <a:round/>
          </a:ln>
        </p:spPr>
        <p:txBody>
          <a:bodyPr vert="horz" wrap="square" lIns="0" tIns="0" rIns="0" bIns="0" rtlCol="0" anchor="ctr" anchorCtr="0"/>
          <a:lstStyle/>
          <a:p>
            <a:pPr algn="ctr">
              <a:defRPr/>
            </a:pPr>
            <a:endParaRPr/>
          </a:p>
        </p:txBody>
      </p:sp>
      <p:sp>
        <p:nvSpPr>
          <p:cNvPr id="15" name="AutoShape 15"/>
          <p:cNvSpPr/>
          <p:nvPr/>
        </p:nvSpPr>
        <p:spPr>
          <a:xfrm>
            <a:off x="4635500" y="3111500"/>
            <a:ext cx="3238500" cy="952500"/>
          </a:xfrm>
          <a:prstGeom prst="roundRect">
            <a:avLst>
              <a:gd name="adj" fmla="val 0"/>
            </a:avLst>
          </a:prstGeom>
          <a:noFill/>
          <a:ln w="25400" cap="flat" cmpd="sng">
            <a:noFill/>
            <a:prstDash val="solid"/>
            <a:round/>
          </a:ln>
        </p:spPr>
        <p:txBody>
          <a:bodyPr vert="horz" wrap="square" lIns="0" tIns="0" rIns="0" bIns="0" rtlCol="0" anchor="t" anchorCtr="0"/>
          <a:lstStyle/>
          <a:p>
            <a:pPr marL="0" indent="0" algn="ctr">
              <a:lnSpc>
                <a:spcPct val="108000"/>
              </a:lnSpc>
              <a:defRPr/>
            </a:pPr>
            <a:r>
              <a:rPr lang="en-US" sz="1400" b="1" i="0" u="none" strike="noStrike">
                <a:solidFill>
                  <a:srgbClr val="1C4F9F"/>
                </a:solidFill>
                <a:latin typeface="Noto Sans SC" panose="020B0200000000000000" charset="-122"/>
                <a:ea typeface="Noto Sans SC" panose="020B0200000000000000" charset="-122"/>
                <a:cs typeface="Noto Sans SC" panose="020B0200000000000000" charset="-122"/>
                <a:sym typeface="Noto Sans SC" panose="020B0200000000000000" charset="-122"/>
              </a:rPr>
              <a:t>关键操作：</a:t>
            </a:r>
            <a:endParaRPr lang="en-US" sz="1100"/>
          </a:p>
          <a:p>
            <a:pPr marL="0" indent="0" algn="ctr">
              <a:lnSpc>
                <a:spcPct val="108000"/>
              </a:lnSpc>
            </a:pPr>
            <a:r>
              <a:rPr lang="en-US" sz="12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分别选取质子（正电荷）和电子（负电荷），赋予两者完全相同的初始能量，在同一地磁环境中释放并运行。</a:t>
            </a:r>
          </a:p>
        </p:txBody>
      </p:sp>
      <p:sp>
        <p:nvSpPr>
          <p:cNvPr id="16" name="AutoShape 16"/>
          <p:cNvSpPr/>
          <p:nvPr/>
        </p:nvSpPr>
        <p:spPr>
          <a:xfrm>
            <a:off x="4572000" y="4318000"/>
            <a:ext cx="3365500" cy="1714500"/>
          </a:xfrm>
          <a:prstGeom prst="roundRect">
            <a:avLst>
              <a:gd name="adj" fmla="val 0"/>
            </a:avLst>
          </a:prstGeom>
          <a:solidFill>
            <a:srgbClr val="FFFFFF">
              <a:alpha val="100000"/>
            </a:srgbClr>
          </a:solidFill>
          <a:ln w="25400" cap="flat" cmpd="sng">
            <a:noFill/>
            <a:prstDash val="solid"/>
            <a:round/>
          </a:ln>
        </p:spPr>
        <p:txBody>
          <a:bodyPr vert="horz" wrap="square" lIns="0" tIns="0" rIns="0" bIns="0" rtlCol="0" anchor="ctr" anchorCtr="0"/>
          <a:lstStyle/>
          <a:p>
            <a:pPr algn="ctr">
              <a:defRPr/>
            </a:pPr>
            <a:endParaRPr/>
          </a:p>
        </p:txBody>
      </p:sp>
      <p:sp>
        <p:nvSpPr>
          <p:cNvPr id="17" name="AutoShape 17"/>
          <p:cNvSpPr/>
          <p:nvPr/>
        </p:nvSpPr>
        <p:spPr>
          <a:xfrm>
            <a:off x="4635500" y="4381500"/>
            <a:ext cx="3238500" cy="1587500"/>
          </a:xfrm>
          <a:prstGeom prst="roundRect">
            <a:avLst>
              <a:gd name="adj" fmla="val 0"/>
            </a:avLst>
          </a:prstGeom>
          <a:noFill/>
          <a:ln w="25400" cap="flat" cmpd="sng">
            <a:noFill/>
            <a:prstDash val="solid"/>
            <a:round/>
          </a:ln>
        </p:spPr>
        <p:txBody>
          <a:bodyPr vert="horz" wrap="square" lIns="0" tIns="0" rIns="0" bIns="0" rtlCol="0" anchor="t" anchorCtr="0"/>
          <a:lstStyle/>
          <a:p>
            <a:pPr marL="0" indent="0" algn="ctr">
              <a:lnSpc>
                <a:spcPct val="108000"/>
              </a:lnSpc>
              <a:defRPr/>
            </a:pPr>
            <a:r>
              <a:rPr lang="en-US" sz="1400" b="1" i="0" u="none" strike="noStrike">
                <a:solidFill>
                  <a:srgbClr val="1C4F9F"/>
                </a:solidFill>
                <a:latin typeface="Noto Sans SC" panose="020B0200000000000000" charset="-122"/>
                <a:ea typeface="Noto Sans SC" panose="020B0200000000000000" charset="-122"/>
                <a:cs typeface="Noto Sans SC" panose="020B0200000000000000" charset="-122"/>
                <a:sym typeface="Noto Sans SC" panose="020B0200000000000000" charset="-122"/>
              </a:rPr>
              <a:t>实验现象：</a:t>
            </a:r>
            <a:endParaRPr lang="en-US" sz="1100"/>
          </a:p>
          <a:p>
            <a:pPr marL="0" indent="0" algn="ctr">
              <a:lnSpc>
                <a:spcPct val="108000"/>
              </a:lnSpc>
            </a:pPr>
            <a:r>
              <a:rPr lang="en-US" sz="12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两种粒子的引导中心呈现出完全相反的绕地漂移方向。这一现象清晰地揭示了带电粒子在非均匀磁场中，漂移方向由电荷符号决定的物理规律，帮助学生理解电荷属性对运动的本质影响。</a:t>
            </a:r>
          </a:p>
        </p:txBody>
      </p:sp>
      <p:sp>
        <p:nvSpPr>
          <p:cNvPr id="18" name="AutoShape 18"/>
          <p:cNvSpPr/>
          <p:nvPr/>
        </p:nvSpPr>
        <p:spPr>
          <a:xfrm>
            <a:off x="8331200" y="1524000"/>
            <a:ext cx="50800" cy="1117600"/>
          </a:xfrm>
          <a:prstGeom prst="roundRect">
            <a:avLst>
              <a:gd name="adj" fmla="val 0"/>
            </a:avLst>
          </a:prstGeom>
          <a:solidFill>
            <a:srgbClr val="1C4F9F">
              <a:alpha val="100000"/>
            </a:srgbClr>
          </a:solidFill>
          <a:ln w="25400" cap="flat" cmpd="sng">
            <a:noFill/>
            <a:prstDash val="solid"/>
            <a:round/>
          </a:ln>
        </p:spPr>
        <p:txBody>
          <a:bodyPr vert="horz" wrap="square" lIns="0" tIns="0" rIns="0" bIns="0" rtlCol="0" anchor="ctr" anchorCtr="0"/>
          <a:lstStyle/>
          <a:p>
            <a:pPr algn="ctr">
              <a:defRPr/>
            </a:pPr>
            <a:endParaRPr/>
          </a:p>
        </p:txBody>
      </p:sp>
      <p:sp>
        <p:nvSpPr>
          <p:cNvPr id="19" name="AutoShape 19"/>
          <p:cNvSpPr/>
          <p:nvPr/>
        </p:nvSpPr>
        <p:spPr>
          <a:xfrm>
            <a:off x="8509000" y="1524000"/>
            <a:ext cx="3429000" cy="1117600"/>
          </a:xfrm>
          <a:prstGeom prst="roundRect">
            <a:avLst>
              <a:gd name="adj" fmla="val 0"/>
            </a:avLst>
          </a:prstGeom>
          <a:noFill/>
          <a:ln w="25400" cap="flat" cmpd="sng">
            <a:noFill/>
            <a:prstDash val="solid"/>
            <a:round/>
          </a:ln>
        </p:spPr>
        <p:txBody>
          <a:bodyPr vert="horz" wrap="square" lIns="0" tIns="0" rIns="0" bIns="0" rtlCol="0" anchor="t" anchorCtr="0"/>
          <a:lstStyle/>
          <a:p>
            <a:pPr marL="0" indent="0" algn="l">
              <a:lnSpc>
                <a:spcPct val="108000"/>
              </a:lnSpc>
              <a:defRPr/>
            </a:pPr>
            <a:r>
              <a:rPr lang="en-US" sz="2000" b="1" i="0" u="none" strike="noStrike">
                <a:solidFill>
                  <a:srgbClr val="1C4F9F"/>
                </a:solidFill>
                <a:latin typeface="微软雅黑" panose="020B0503020204020204" charset="-122"/>
                <a:ea typeface="微软雅黑" panose="020B0503020204020204" charset="-122"/>
                <a:cs typeface="微软雅黑" panose="020B0503020204020204" charset="-122"/>
                <a:sym typeface="微软雅黑" panose="020B0503020204020204" charset="-122"/>
              </a:rPr>
              <a:t>分析能量影响</a:t>
            </a:r>
            <a:endParaRPr lang="en-US" sz="1100"/>
          </a:p>
          <a:p>
            <a:pPr marL="0" indent="0" algn="l">
              <a:lnSpc>
                <a:spcPct val="108000"/>
              </a:lnSpc>
            </a:pPr>
            <a:r>
              <a:rPr lang="en-US" sz="1300" b="0" i="0" u="none" strike="noStrike">
                <a:solidFill>
                  <a:srgbClr val="333333"/>
                </a:solidFill>
                <a:latin typeface="微软雅黑" panose="020B0503020204020204" charset="-122"/>
                <a:ea typeface="微软雅黑" panose="020B0503020204020204" charset="-122"/>
                <a:cs typeface="微软雅黑" panose="020B0503020204020204" charset="-122"/>
                <a:sym typeface="微软雅黑" panose="020B0503020204020204" charset="-122"/>
              </a:rPr>
              <a:t>改变粒子能量尺度，量化分析能量与回旋半径及空间分布的动态关联。</a:t>
            </a:r>
          </a:p>
        </p:txBody>
      </p:sp>
      <p:sp>
        <p:nvSpPr>
          <p:cNvPr id="20" name="AutoShape 20"/>
          <p:cNvSpPr/>
          <p:nvPr/>
        </p:nvSpPr>
        <p:spPr>
          <a:xfrm>
            <a:off x="8331200" y="2921000"/>
            <a:ext cx="3556000" cy="3429000"/>
          </a:xfrm>
          <a:prstGeom prst="roundRect">
            <a:avLst>
              <a:gd name="adj" fmla="val 0"/>
            </a:avLst>
          </a:prstGeom>
          <a:solidFill>
            <a:srgbClr val="EBF1FC">
              <a:alpha val="100000"/>
            </a:srgbClr>
          </a:solidFill>
          <a:ln w="25400" cap="flat" cmpd="sng">
            <a:noFill/>
            <a:prstDash val="solid"/>
            <a:round/>
          </a:ln>
        </p:spPr>
        <p:txBody>
          <a:bodyPr vert="horz" wrap="square" lIns="0" tIns="0" rIns="0" bIns="0" rtlCol="0" anchor="ctr" anchorCtr="0"/>
          <a:lstStyle/>
          <a:p>
            <a:pPr algn="ctr">
              <a:defRPr/>
            </a:pPr>
            <a:endParaRPr/>
          </a:p>
        </p:txBody>
      </p:sp>
      <p:sp>
        <p:nvSpPr>
          <p:cNvPr id="21" name="AutoShape 21"/>
          <p:cNvSpPr/>
          <p:nvPr/>
        </p:nvSpPr>
        <p:spPr>
          <a:xfrm>
            <a:off x="8420100" y="3048000"/>
            <a:ext cx="3365500" cy="1079500"/>
          </a:xfrm>
          <a:prstGeom prst="roundRect">
            <a:avLst>
              <a:gd name="adj" fmla="val 0"/>
            </a:avLst>
          </a:prstGeom>
          <a:solidFill>
            <a:srgbClr val="D9E5FA">
              <a:alpha val="100000"/>
            </a:srgbClr>
          </a:solidFill>
          <a:ln w="25400" cap="flat" cmpd="sng">
            <a:noFill/>
            <a:prstDash val="solid"/>
            <a:round/>
          </a:ln>
        </p:spPr>
        <p:txBody>
          <a:bodyPr vert="horz" wrap="square" lIns="0" tIns="0" rIns="0" bIns="0" rtlCol="0" anchor="ctr" anchorCtr="0"/>
          <a:lstStyle/>
          <a:p>
            <a:pPr algn="ctr">
              <a:defRPr/>
            </a:pPr>
            <a:endParaRPr/>
          </a:p>
        </p:txBody>
      </p:sp>
      <p:sp>
        <p:nvSpPr>
          <p:cNvPr id="22" name="AutoShape 22"/>
          <p:cNvSpPr/>
          <p:nvPr/>
        </p:nvSpPr>
        <p:spPr>
          <a:xfrm>
            <a:off x="8483600" y="3111500"/>
            <a:ext cx="3238500" cy="952500"/>
          </a:xfrm>
          <a:prstGeom prst="roundRect">
            <a:avLst>
              <a:gd name="adj" fmla="val 0"/>
            </a:avLst>
          </a:prstGeom>
          <a:noFill/>
          <a:ln w="25400" cap="flat" cmpd="sng">
            <a:noFill/>
            <a:prstDash val="solid"/>
            <a:round/>
          </a:ln>
        </p:spPr>
        <p:txBody>
          <a:bodyPr vert="horz" wrap="square" lIns="0" tIns="0" rIns="0" bIns="0" rtlCol="0" anchor="t" anchorCtr="0"/>
          <a:lstStyle/>
          <a:p>
            <a:pPr marL="0" indent="0" algn="ctr">
              <a:lnSpc>
                <a:spcPct val="108000"/>
              </a:lnSpc>
              <a:defRPr/>
            </a:pPr>
            <a:r>
              <a:rPr lang="en-US" sz="1400" b="1" i="0" u="none" strike="noStrike">
                <a:solidFill>
                  <a:srgbClr val="1C4F9F"/>
                </a:solidFill>
                <a:latin typeface="Noto Sans SC" panose="020B0200000000000000" charset="-122"/>
                <a:ea typeface="Noto Sans SC" panose="020B0200000000000000" charset="-122"/>
                <a:cs typeface="Noto Sans SC" panose="020B0200000000000000" charset="-122"/>
                <a:sym typeface="Noto Sans SC" panose="020B0200000000000000" charset="-122"/>
              </a:rPr>
              <a:t>关键操作：</a:t>
            </a:r>
            <a:endParaRPr lang="en-US" sz="1100"/>
          </a:p>
          <a:p>
            <a:pPr marL="0" indent="0" algn="ctr">
              <a:lnSpc>
                <a:spcPct val="108000"/>
              </a:lnSpc>
            </a:pPr>
            <a:r>
              <a:rPr lang="en-US" sz="12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保持粒子投掷角等其他条件恒定，逐步增加粒子的初始动能，观察系统状态的演变。</a:t>
            </a:r>
          </a:p>
        </p:txBody>
      </p:sp>
      <p:sp>
        <p:nvSpPr>
          <p:cNvPr id="23" name="AutoShape 23"/>
          <p:cNvSpPr/>
          <p:nvPr/>
        </p:nvSpPr>
        <p:spPr>
          <a:xfrm>
            <a:off x="8420100" y="4318000"/>
            <a:ext cx="3365500" cy="1714500"/>
          </a:xfrm>
          <a:prstGeom prst="roundRect">
            <a:avLst>
              <a:gd name="adj" fmla="val 0"/>
            </a:avLst>
          </a:prstGeom>
          <a:solidFill>
            <a:srgbClr val="FFFFFF">
              <a:alpha val="100000"/>
            </a:srgbClr>
          </a:solidFill>
          <a:ln w="25400" cap="flat" cmpd="sng">
            <a:noFill/>
            <a:prstDash val="solid"/>
            <a:round/>
          </a:ln>
        </p:spPr>
        <p:txBody>
          <a:bodyPr vert="horz" wrap="square" lIns="0" tIns="0" rIns="0" bIns="0" rtlCol="0" anchor="ctr" anchorCtr="0"/>
          <a:lstStyle/>
          <a:p>
            <a:pPr algn="ctr">
              <a:defRPr/>
            </a:pPr>
            <a:endParaRPr/>
          </a:p>
        </p:txBody>
      </p:sp>
      <p:sp>
        <p:nvSpPr>
          <p:cNvPr id="24" name="AutoShape 24"/>
          <p:cNvSpPr/>
          <p:nvPr/>
        </p:nvSpPr>
        <p:spPr>
          <a:xfrm>
            <a:off x="8483600" y="4381500"/>
            <a:ext cx="3238500" cy="1587500"/>
          </a:xfrm>
          <a:prstGeom prst="roundRect">
            <a:avLst>
              <a:gd name="adj" fmla="val 0"/>
            </a:avLst>
          </a:prstGeom>
          <a:noFill/>
          <a:ln w="25400" cap="flat" cmpd="sng">
            <a:noFill/>
            <a:prstDash val="solid"/>
            <a:round/>
          </a:ln>
        </p:spPr>
        <p:txBody>
          <a:bodyPr vert="horz" wrap="square" lIns="0" tIns="0" rIns="0" bIns="0" rtlCol="0" anchor="t" anchorCtr="0"/>
          <a:lstStyle/>
          <a:p>
            <a:pPr marL="0" indent="0" algn="ctr">
              <a:lnSpc>
                <a:spcPct val="108000"/>
              </a:lnSpc>
              <a:defRPr/>
            </a:pPr>
            <a:r>
              <a:rPr lang="en-US" sz="1400" b="1" i="0" u="none" strike="noStrike">
                <a:solidFill>
                  <a:srgbClr val="1C4F9F"/>
                </a:solidFill>
                <a:latin typeface="Noto Sans SC" panose="020B0200000000000000" charset="-122"/>
                <a:ea typeface="Noto Sans SC" panose="020B0200000000000000" charset="-122"/>
                <a:cs typeface="Noto Sans SC" panose="020B0200000000000000" charset="-122"/>
                <a:sym typeface="Noto Sans SC" panose="020B0200000000000000" charset="-122"/>
              </a:rPr>
              <a:t>实验现象：</a:t>
            </a:r>
            <a:endParaRPr lang="en-US" sz="1100"/>
          </a:p>
          <a:p>
            <a:pPr marL="0" indent="0" algn="ctr">
              <a:lnSpc>
                <a:spcPct val="108000"/>
              </a:lnSpc>
            </a:pPr>
            <a:r>
              <a:rPr lang="en-US" sz="12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随着能量提升，粒子的回旋半径显著增大，在磁场中的弹跳覆盖范围也随之变广。学生可以直观地看到能量作为驱动力，如何突破磁场的局部约束，从而深刻理解回旋半径公式中能量与半径的正比关系。</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blipFill>
            <a:blip r:embed="rId3"/>
            <a:stretch>
              <a:fillRect/>
            </a:stretch>
          </a:blipFill>
          <a:ln w="25400" cap="flat" cmpd="sng">
            <a:noFill/>
            <a:prstDash val="solid"/>
            <a:round/>
          </a:ln>
        </p:spPr>
        <p:txBody>
          <a:bodyPr vert="horz" wrap="square" lIns="0" tIns="0" rIns="0" bIns="0" rtlCol="0" anchor="ctr" anchorCtr="0"/>
          <a:lstStyle/>
          <a:p>
            <a:pPr algn="ctr">
              <a:defRPr/>
            </a:pPr>
            <a:endParaRPr/>
          </a:p>
        </p:txBody>
      </p:sp>
      <p:sp>
        <p:nvSpPr>
          <p:cNvPr id="3" name="AutoShape 3"/>
          <p:cNvSpPr/>
          <p:nvPr/>
        </p:nvSpPr>
        <p:spPr>
          <a:xfrm>
            <a:off x="609600" y="533400"/>
            <a:ext cx="10972800" cy="609600"/>
          </a:xfrm>
          <a:prstGeom prst="rect">
            <a:avLst/>
          </a:prstGeom>
          <a:noFill/>
          <a:ln w="12700" cap="flat" cmpd="sng">
            <a:noFill/>
            <a:prstDash val="solid"/>
            <a:round/>
          </a:ln>
        </p:spPr>
        <p:txBody>
          <a:bodyPr vert="horz" wrap="square" lIns="0" tIns="0" rIns="0" bIns="0" rtlCol="0" anchor="t" anchorCtr="0"/>
          <a:lstStyle/>
          <a:p>
            <a:pPr marL="0" indent="0" algn="l">
              <a:lnSpc>
                <a:spcPct val="108000"/>
              </a:lnSpc>
              <a:defRPr/>
            </a:pPr>
            <a:r>
              <a:rPr lang="en-US" sz="3300" b="1" i="0" u="none" strike="noStrike">
                <a:solidFill>
                  <a:srgbClr val="0A2540"/>
                </a:solidFill>
                <a:latin typeface="微软雅黑" panose="020B0503020204020204" charset="-122"/>
                <a:ea typeface="微软雅黑" panose="020B0503020204020204" charset="-122"/>
                <a:cs typeface="微软雅黑" panose="020B0503020204020204" charset="-122"/>
                <a:sym typeface="微软雅黑" panose="020B0503020204020204" charset="-122"/>
              </a:rPr>
              <a:t>结论与展望</a:t>
            </a:r>
            <a:endParaRPr lang="en-US" sz="1100"/>
          </a:p>
        </p:txBody>
      </p:sp>
      <p:sp>
        <p:nvSpPr>
          <p:cNvPr id="4" name="AutoShape 4"/>
          <p:cNvSpPr/>
          <p:nvPr/>
        </p:nvSpPr>
        <p:spPr>
          <a:xfrm>
            <a:off x="685800" y="1651000"/>
            <a:ext cx="3302000" cy="2032000"/>
          </a:xfrm>
          <a:prstGeom prst="roundRect">
            <a:avLst>
              <a:gd name="adj" fmla="val 0"/>
            </a:avLst>
          </a:prstGeom>
          <a:solidFill>
            <a:srgbClr val="DEE0E3">
              <a:alpha val="100000"/>
            </a:srgbClr>
          </a:solidFill>
          <a:ln w="25400" cap="flat" cmpd="sng">
            <a:noFill/>
            <a:prstDash val="solid"/>
            <a:round/>
          </a:ln>
        </p:spPr>
        <p:txBody>
          <a:bodyPr vert="horz" wrap="square" lIns="0" tIns="0" rIns="0" bIns="0" rtlCol="0" anchor="ctr" anchorCtr="0"/>
          <a:lstStyle/>
          <a:p>
            <a:pPr algn="ctr">
              <a:defRPr/>
            </a:pPr>
            <a:endParaRPr/>
          </a:p>
        </p:txBody>
      </p:sp>
      <p:sp>
        <p:nvSpPr>
          <p:cNvPr id="5" name="AutoShape 5"/>
          <p:cNvSpPr/>
          <p:nvPr/>
        </p:nvSpPr>
        <p:spPr>
          <a:xfrm>
            <a:off x="685800" y="4064000"/>
            <a:ext cx="33020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00000"/>
              </a:lnSpc>
              <a:defRPr/>
            </a:pPr>
            <a:r>
              <a:rPr lang="en-US" sz="2000" b="1" i="0" u="none" strike="noStrike">
                <a:solidFill>
                  <a:srgbClr val="0A2540"/>
                </a:solidFill>
                <a:latin typeface="微软雅黑" panose="020B0503020204020204" charset="-122"/>
                <a:ea typeface="微软雅黑" panose="020B0503020204020204" charset="-122"/>
                <a:cs typeface="微软雅黑" panose="020B0503020204020204" charset="-122"/>
                <a:sym typeface="微软雅黑" panose="020B0503020204020204" charset="-122"/>
              </a:rPr>
              <a:t>核心结论</a:t>
            </a:r>
            <a:endParaRPr lang="en-US" sz="1100"/>
          </a:p>
        </p:txBody>
      </p:sp>
      <p:sp>
        <p:nvSpPr>
          <p:cNvPr id="6" name="AutoShape 6"/>
          <p:cNvSpPr/>
          <p:nvPr/>
        </p:nvSpPr>
        <p:spPr>
          <a:xfrm>
            <a:off x="685800" y="4699000"/>
            <a:ext cx="3302000" cy="1778000"/>
          </a:xfrm>
          <a:prstGeom prst="rect">
            <a:avLst/>
          </a:prstGeom>
          <a:noFill/>
          <a:ln w="12700" cap="flat" cmpd="sng">
            <a:noFill/>
            <a:prstDash val="solid"/>
            <a:round/>
          </a:ln>
        </p:spPr>
        <p:txBody>
          <a:bodyPr vert="horz" wrap="square" lIns="0" tIns="0" rIns="0" bIns="0" rtlCol="0" anchor="t" anchorCtr="0"/>
          <a:lstStyle/>
          <a:p>
            <a:pPr marL="0" indent="0" algn="l">
              <a:lnSpc>
                <a:spcPct val="117000"/>
              </a:lnSpc>
              <a:defRPr/>
            </a:pPr>
            <a:r>
              <a:rPr lang="en-US" sz="1300" b="0" i="0" u="none" strike="noStrike">
                <a:solidFill>
                  <a:srgbClr val="1A1A1A"/>
                </a:solidFill>
                <a:latin typeface="微软雅黑" panose="020B0503020204020204" charset="-122"/>
                <a:ea typeface="微软雅黑" panose="020B0503020204020204" charset="-122"/>
                <a:cs typeface="微软雅黑" panose="020B0503020204020204" charset="-122"/>
                <a:sym typeface="微软雅黑" panose="020B0503020204020204" charset="-122"/>
              </a:rPr>
              <a:t>带电粒子的运动可分解为回旋、弹跳和漂移三种基本形式，磁镜效应是范艾伦辐射带形成的核心物理机制。现代数值仿真技术的应用，为我们理解复杂空间物理现象、还原粒子动力学过程提供了强有力的研究支撑。</a:t>
            </a:r>
            <a:endParaRPr lang="en-US" sz="1100"/>
          </a:p>
        </p:txBody>
      </p:sp>
      <p:sp>
        <p:nvSpPr>
          <p:cNvPr id="7" name="AutoShape 7"/>
          <p:cNvSpPr/>
          <p:nvPr/>
        </p:nvSpPr>
        <p:spPr>
          <a:xfrm>
            <a:off x="4445000" y="1651000"/>
            <a:ext cx="3302000" cy="2032000"/>
          </a:xfrm>
          <a:prstGeom prst="roundRect">
            <a:avLst>
              <a:gd name="adj" fmla="val 0"/>
            </a:avLst>
          </a:prstGeom>
          <a:solidFill>
            <a:srgbClr val="DEE0E3">
              <a:alpha val="100000"/>
            </a:srgbClr>
          </a:solidFill>
          <a:ln w="25400" cap="flat" cmpd="sng">
            <a:noFill/>
            <a:prstDash val="solid"/>
            <a:round/>
          </a:ln>
        </p:spPr>
        <p:txBody>
          <a:bodyPr vert="horz" wrap="square" lIns="0" tIns="0" rIns="0" bIns="0" rtlCol="0" anchor="ctr" anchorCtr="0"/>
          <a:lstStyle/>
          <a:p>
            <a:pPr algn="ctr">
              <a:defRPr/>
            </a:pPr>
            <a:endParaRPr/>
          </a:p>
        </p:txBody>
      </p:sp>
      <p:sp>
        <p:nvSpPr>
          <p:cNvPr id="8" name="AutoShape 8"/>
          <p:cNvSpPr/>
          <p:nvPr/>
        </p:nvSpPr>
        <p:spPr>
          <a:xfrm>
            <a:off x="4445000" y="4064000"/>
            <a:ext cx="33020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00000"/>
              </a:lnSpc>
              <a:defRPr/>
            </a:pPr>
            <a:r>
              <a:rPr lang="en-US" sz="2000" b="1" i="0" u="none" strike="noStrike">
                <a:solidFill>
                  <a:srgbClr val="0A2540"/>
                </a:solidFill>
                <a:latin typeface="微软雅黑" panose="020B0503020204020204" charset="-122"/>
                <a:ea typeface="微软雅黑" panose="020B0503020204020204" charset="-122"/>
                <a:cs typeface="微软雅黑" panose="020B0503020204020204" charset="-122"/>
                <a:sym typeface="微软雅黑" panose="020B0503020204020204" charset="-122"/>
              </a:rPr>
              <a:t>研究局限</a:t>
            </a:r>
            <a:endParaRPr lang="en-US" sz="1100"/>
          </a:p>
        </p:txBody>
      </p:sp>
      <p:sp>
        <p:nvSpPr>
          <p:cNvPr id="9" name="AutoShape 9"/>
          <p:cNvSpPr/>
          <p:nvPr/>
        </p:nvSpPr>
        <p:spPr>
          <a:xfrm>
            <a:off x="4445000" y="4699000"/>
            <a:ext cx="3302000" cy="1778000"/>
          </a:xfrm>
          <a:prstGeom prst="rect">
            <a:avLst/>
          </a:prstGeom>
          <a:noFill/>
          <a:ln w="12700" cap="flat" cmpd="sng">
            <a:noFill/>
            <a:prstDash val="solid"/>
            <a:round/>
          </a:ln>
        </p:spPr>
        <p:txBody>
          <a:bodyPr vert="horz" wrap="square" lIns="0" tIns="0" rIns="0" bIns="0" rtlCol="0" anchor="t" anchorCtr="0"/>
          <a:lstStyle/>
          <a:p>
            <a:pPr marL="0" indent="0" algn="l">
              <a:lnSpc>
                <a:spcPct val="117000"/>
              </a:lnSpc>
              <a:defRPr/>
            </a:pPr>
            <a:r>
              <a:rPr lang="en-US" sz="1300" b="0" i="0" u="none" strike="noStrike">
                <a:solidFill>
                  <a:srgbClr val="1A1A1A"/>
                </a:solidFill>
                <a:latin typeface="微软雅黑" panose="020B0503020204020204" charset="-122"/>
                <a:ea typeface="微软雅黑" panose="020B0503020204020204" charset="-122"/>
                <a:cs typeface="微软雅黑" panose="020B0503020204020204" charset="-122"/>
                <a:sym typeface="微软雅黑" panose="020B0503020204020204" charset="-122"/>
              </a:rPr>
              <a:t>本研究为简化分析采用了理想偶极磁场模型，未充分纳入地磁异常、环电流的时变扰动以及太阳风动态变化等实际空间环境要素。这些简化处理使得模型结果与真实的近地空间物理场景存在一定程度的偏差。</a:t>
            </a:r>
            <a:endParaRPr lang="en-US" sz="1100"/>
          </a:p>
        </p:txBody>
      </p:sp>
      <p:sp>
        <p:nvSpPr>
          <p:cNvPr id="10" name="AutoShape 10"/>
          <p:cNvSpPr/>
          <p:nvPr/>
        </p:nvSpPr>
        <p:spPr>
          <a:xfrm>
            <a:off x="8204200" y="1651000"/>
            <a:ext cx="3302000" cy="2032000"/>
          </a:xfrm>
          <a:prstGeom prst="roundRect">
            <a:avLst>
              <a:gd name="adj" fmla="val 0"/>
            </a:avLst>
          </a:prstGeom>
          <a:solidFill>
            <a:srgbClr val="DEE0E3">
              <a:alpha val="100000"/>
            </a:srgbClr>
          </a:solidFill>
          <a:ln w="25400" cap="flat" cmpd="sng">
            <a:noFill/>
            <a:prstDash val="solid"/>
            <a:round/>
          </a:ln>
        </p:spPr>
        <p:txBody>
          <a:bodyPr vert="horz" wrap="square" lIns="0" tIns="0" rIns="0" bIns="0" rtlCol="0" anchor="ctr" anchorCtr="0"/>
          <a:lstStyle/>
          <a:p>
            <a:pPr algn="ctr">
              <a:defRPr/>
            </a:pPr>
            <a:endParaRPr/>
          </a:p>
        </p:txBody>
      </p:sp>
      <p:sp>
        <p:nvSpPr>
          <p:cNvPr id="11" name="AutoShape 11"/>
          <p:cNvSpPr/>
          <p:nvPr/>
        </p:nvSpPr>
        <p:spPr>
          <a:xfrm>
            <a:off x="8204200" y="4064000"/>
            <a:ext cx="33020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00000"/>
              </a:lnSpc>
              <a:defRPr/>
            </a:pPr>
            <a:r>
              <a:rPr lang="en-US" sz="2000" b="1" i="0" u="none" strike="noStrike">
                <a:solidFill>
                  <a:srgbClr val="0A2540"/>
                </a:solidFill>
                <a:latin typeface="微软雅黑" panose="020B0503020204020204" charset="-122"/>
                <a:ea typeface="微软雅黑" panose="020B0503020204020204" charset="-122"/>
                <a:cs typeface="微软雅黑" panose="020B0503020204020204" charset="-122"/>
                <a:sym typeface="微软雅黑" panose="020B0503020204020204" charset="-122"/>
              </a:rPr>
              <a:t>未来展望</a:t>
            </a:r>
            <a:endParaRPr lang="en-US" sz="1100"/>
          </a:p>
        </p:txBody>
      </p:sp>
      <p:sp>
        <p:nvSpPr>
          <p:cNvPr id="12" name="AutoShape 12"/>
          <p:cNvSpPr/>
          <p:nvPr/>
        </p:nvSpPr>
        <p:spPr>
          <a:xfrm>
            <a:off x="8204200" y="4699000"/>
            <a:ext cx="3302000" cy="1778000"/>
          </a:xfrm>
          <a:prstGeom prst="rect">
            <a:avLst/>
          </a:prstGeom>
          <a:noFill/>
          <a:ln w="12700" cap="flat" cmpd="sng">
            <a:noFill/>
            <a:prstDash val="solid"/>
            <a:round/>
          </a:ln>
        </p:spPr>
        <p:txBody>
          <a:bodyPr vert="horz" wrap="square" lIns="0" tIns="0" rIns="0" bIns="0" rtlCol="0" anchor="t" anchorCtr="0"/>
          <a:lstStyle/>
          <a:p>
            <a:pPr marL="0" indent="0" algn="l">
              <a:lnSpc>
                <a:spcPct val="117000"/>
              </a:lnSpc>
              <a:defRPr/>
            </a:pPr>
            <a:r>
              <a:rPr lang="en-US" sz="1300" b="0" i="0" u="none" strike="noStrike">
                <a:solidFill>
                  <a:srgbClr val="1A1A1A"/>
                </a:solidFill>
                <a:latin typeface="微软雅黑" panose="020B0503020204020204" charset="-122"/>
                <a:ea typeface="微软雅黑" panose="020B0503020204020204" charset="-122"/>
                <a:cs typeface="微软雅黑" panose="020B0503020204020204" charset="-122"/>
                <a:sym typeface="微软雅黑" panose="020B0503020204020204" charset="-122"/>
              </a:rPr>
              <a:t>后续研究将引入高精度地磁与空间环境模型，深度耦合电场、波动与粒子的非线性相互作用。同时，探索机器学习算法在空间天气预报、辐射带动态演化预测中的应用，以提升模型对真实空间环境的刻画与预测能力。</a:t>
            </a:r>
            <a:endParaRPr lang="en-US" sz="110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1016000" y="2667000"/>
            <a:ext cx="5448300" cy="457200"/>
          </a:xfrm>
          <a:prstGeom prst="rect">
            <a:avLst/>
          </a:prstGeom>
          <a:noFill/>
          <a:ln w="12700" cap="flat" cmpd="sng">
            <a:noFill/>
            <a:prstDash val="solid"/>
            <a:round/>
          </a:ln>
        </p:spPr>
        <p:txBody>
          <a:bodyPr vert="horz" wrap="square" lIns="0" tIns="0" rIns="0" bIns="0" rtlCol="0" anchor="t" anchorCtr="0"/>
          <a:lstStyle/>
          <a:p>
            <a:pPr marL="0" indent="0" algn="l">
              <a:lnSpc>
                <a:spcPct val="125000"/>
              </a:lnSpc>
              <a:defRPr/>
            </a:pPr>
            <a:r>
              <a:rPr lang="en-US" sz="2400" b="0" i="0" u="none" strike="noStrike">
                <a:solidFill>
                  <a:srgbClr val="FFFFFF"/>
                </a:solidFill>
                <a:latin typeface="Arial" panose="020B0604020202020204"/>
                <a:ea typeface="Arial" panose="020B0604020202020204"/>
                <a:cs typeface="Arial" panose="020B0604020202020204"/>
                <a:sym typeface="Arial" panose="020B0604020202020204"/>
              </a:rPr>
              <a:t>THE END</a:t>
            </a:r>
            <a:endParaRPr lang="en-US" sz="1100"/>
          </a:p>
        </p:txBody>
      </p:sp>
      <p:sp>
        <p:nvSpPr>
          <p:cNvPr id="4" name="AutoShape 4"/>
          <p:cNvSpPr/>
          <p:nvPr/>
        </p:nvSpPr>
        <p:spPr>
          <a:xfrm>
            <a:off x="1016000" y="3175000"/>
            <a:ext cx="5448300" cy="1016000"/>
          </a:xfrm>
          <a:prstGeom prst="rect">
            <a:avLst/>
          </a:prstGeom>
          <a:noFill/>
          <a:ln w="12700" cap="flat" cmpd="sng">
            <a:noFill/>
            <a:prstDash val="solid"/>
            <a:round/>
          </a:ln>
        </p:spPr>
        <p:txBody>
          <a:bodyPr vert="horz" wrap="square" lIns="0" tIns="0" rIns="0" bIns="0" rtlCol="0" anchor="t" anchorCtr="0"/>
          <a:lstStyle/>
          <a:p>
            <a:pPr marL="0" indent="0" algn="l">
              <a:lnSpc>
                <a:spcPct val="100000"/>
              </a:lnSpc>
              <a:defRPr/>
            </a:pPr>
            <a:r>
              <a:rPr lang="en-US" sz="55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谢谢</a:t>
            </a:r>
            <a:endParaRPr lang="en-US" sz="1100"/>
          </a:p>
        </p:txBody>
      </p:sp>
    </p:spTree>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1647</Words>
  <Application>Microsoft Office PowerPoint</Application>
  <PresentationFormat>宽屏</PresentationFormat>
  <Paragraphs>246</Paragraphs>
  <Slides>25</Slides>
  <Notes>25</Notes>
  <HiddenSlides>0</HiddenSlides>
  <MMClips>0</MMClips>
  <ScaleCrop>false</ScaleCrop>
  <HeadingPairs>
    <vt:vector size="6" baseType="variant">
      <vt:variant>
        <vt:lpstr>已用的字体</vt:lpstr>
      </vt:variant>
      <vt:variant>
        <vt:i4>5</vt:i4>
      </vt:variant>
      <vt:variant>
        <vt:lpstr>主题</vt:lpstr>
      </vt:variant>
      <vt:variant>
        <vt:i4>2</vt:i4>
      </vt:variant>
      <vt:variant>
        <vt:lpstr>幻灯片标题</vt:lpstr>
      </vt:variant>
      <vt:variant>
        <vt:i4>25</vt:i4>
      </vt:variant>
    </vt:vector>
  </HeadingPairs>
  <TitlesOfParts>
    <vt:vector size="32" baseType="lpstr">
      <vt:lpstr>Noto Sans SC</vt:lpstr>
      <vt:lpstr>华文楷体</vt:lpstr>
      <vt:lpstr>华文隶书</vt:lpstr>
      <vt:lpstr>微软雅黑</vt:lpstr>
      <vt:lpstr>Arial</vt:lpstr>
      <vt:lpstr>Office 主题​​</vt:lpstr>
      <vt:lpstr>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Admin</dc:creator>
  <cp:lastModifiedBy>Wakamo Kosaka</cp:lastModifiedBy>
  <cp:revision>4</cp:revision>
  <dcterms:created xsi:type="dcterms:W3CDTF">2026-05-31T06:09:00Z</dcterms:created>
  <dcterms:modified xsi:type="dcterms:W3CDTF">2026-06-08T08:47:41Z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{"Label":"1","ContentProducer":"001191110102MACQD9K64010000","ProduceID":"7645929957591976898","ReservedCode1":"","ContentPropagator":"","PropagateID":"","ReservedCode2":""}</vt:lpwstr>
  </property>
  <property fmtid="{D5CDD505-2E9C-101B-9397-08002B2CF9AE}" pid="3" name="KSOProductBuildVer">
    <vt:lpwstr>2052-12.1.0.26375</vt:lpwstr>
  </property>
  <property fmtid="{D5CDD505-2E9C-101B-9397-08002B2CF9AE}" pid="4" name="ICV">
    <vt:lpwstr>8D13607397A0487EA5553A1C90598A58_12</vt:lpwstr>
  </property>
</Properties>
</file>